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슬라이드를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이동하려면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클릭하십시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메모 서식을 편집하려면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클릭하십시오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956370F8-654A-4A76-AC57-B52E2CDBBE66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프로젝트는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상태를 관찰하는 기능과 사용자가 직접 통신을 실행하는 기능을 한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코드 파일을 따라가기보다 실제 화면에서 무엇을 확인하고 무엇을 실행할 수 있는지 중심으로 설명하겠습니다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자동 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영역으로 나뉩니다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프로그램들이 서로 데이터를 주고받는 실행 환경입니다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제어하나요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관찰만 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버튼을 눌렀을 때만 통신을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터미널에서 따로 확인하면 전체 관계를 놓치기 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실행 중인 통신을 모아서 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테스트까지 이어지게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주고받는 데이터 구조 또는 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명시적으로 요청합니다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주기적으로 관찰하고 화면은 그 최신 복사본을 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영역에서 실제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통신이 실행됩니다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 Monitor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정보를 모아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저장하고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FastAPI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WebSocket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화면으로 전달합니다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직접 접근하지 않는 구조입니다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최근에 수집한 상태를 메모리에 보관한 공간입니다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요청이 들어올 때마다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topic 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주기 수집한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읽어 반환합니다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상태 수와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수가 달라도 정상입니다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지금 관찰되는 상태를 넓게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그중 조치가 필요할 가능성이 높은 조건만 정책으로 선별합니다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예를 들어 구독자가 없는 일반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waiting_server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상태로는 보이지만 기본 장애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상태표시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조치 후보입니다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required stream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계속 들어와야 한다고 지정한 중요 데이터 흐름입니다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바로 프로세스 장애라는 뜻인가요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설정 시간 동안 남겨 보여주는 상태이며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정책상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포함됩니다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어떤 채널이 있고 데이터가 실제로 얼마나 들어오는지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발견하고 지원하는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타입이면 자동 구독합니다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callback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최신 데이터와 수신 시간을 기록하고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일정 구간의 수신 횟수로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계산해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초당 수신 메시지 수를 뜻합니다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최근 메시지가 설정 시간 동안 갱신되지 않은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볼 수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지원 타입으로 구독해 실제 메시지를 받은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계산할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어떻게 참여하는지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역할을 알기 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깜빡임을 줄이기 위해 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프로세스 종료를 직접 확인한 뜻이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더 이상 보이지 않는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보존한 뒤 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통신 기준에 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graphTransform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보기를 구분할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연결된 관계까지만 보는 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그래프를 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topics, services, 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섞어 설명하면 이 프로젝트의 동작을 잘못 이해하게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현재 실행 중인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시스템을 계속 관찰합니다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원하는 통신 형식을 등록하고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준비가 끝난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Call,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직접 실행하는 도구입니다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결과와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이쪽에 남습니다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discovery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어떤 통신 요소가 있는지 자동으로 찾는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없어도 모니터링은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별도 기능이고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등록한 타입으로 직접 시험할 때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타입 코드를 생성하는 단계이고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 앞뒤 과정을 포함합니다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업로드한 파일은 정의서일 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바로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수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 구조와 설정 파일을 준비하고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사용할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코드가 생성됩니다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설치 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import-check, registry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갱신까지 묶은 상위 흐름이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workspace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패키지를 빌드하는 명령입니다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생성된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실제로 불러올 수 있는지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성공이면 바로 실행 가능한가요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항상 그렇지는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install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 통과해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상태인지 확인해야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둘 다 직접 실행하지만 응답 구조가 다릅니다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Request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보내고 한 번의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Response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accepted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기능 모두 등록과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가능하고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이름과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정확히 일치해야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exact match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통신 이름과 전체 타입이 모두 정확히 같아야 한다는 뜻입니다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validation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 구조에 맞는지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입력값이 틀려도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전송되나요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실패 시 전송하지 않고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sent_to_server=false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기록합니다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880" cy="113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880" cy="113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제목 텍스트의 서식을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편집하려면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4200" cy="16344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49760" cy="31608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36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71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0960" cy="14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4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59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2240" cy="1992240"/>
          </a:xfrm>
          <a:prstGeom prst="ellipse">
            <a:avLst/>
          </a:prstGeom>
          <a:solidFill>
            <a:srgbClr val="dff4f2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04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2760" cy="9921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5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7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5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6852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58680" cy="313524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58680" cy="313524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58680" cy="313524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4000" cy="5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58680" cy="161136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58680" cy="161136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58680" cy="161136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1230480" y="320040"/>
            <a:ext cx="956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521640" y="1440000"/>
            <a:ext cx="10998000" cy="1503360"/>
          </a:xfrm>
          <a:prstGeom prst="rect">
            <a:avLst/>
          </a:prstGeom>
          <a:solidFill>
            <a:srgbClr val="ffffff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8000" cy="497520"/>
          </a:xfrm>
          <a:prstGeom prst="rect">
            <a:avLst/>
          </a:prstGeom>
          <a:solidFill>
            <a:srgbClr val="f6f9fc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8000" cy="36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8000" cy="36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3600" cy="150336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3520"/>
            <a:ext cx="3013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3520"/>
            <a:ext cx="6505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4360"/>
            <a:ext cx="612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7280"/>
            <a:ext cx="653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7680" cy="215532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3560"/>
            <a:ext cx="314496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096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088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24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04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096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088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16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4920" cy="29484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2360"/>
            <a:ext cx="3258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4800" cy="29484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2360"/>
            <a:ext cx="6868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5040" cy="29484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2360"/>
            <a:ext cx="3927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4840" cy="29484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2360"/>
            <a:ext cx="502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5000" cy="29484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2360"/>
            <a:ext cx="755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5040" cy="29484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2400"/>
            <a:ext cx="391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4800" cy="29484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2400"/>
            <a:ext cx="2739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4880" cy="29484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2400"/>
            <a:ext cx="784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09960"/>
            <a:ext cx="3258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5080" cy="27000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49880"/>
            <a:ext cx="6868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89800"/>
            <a:ext cx="3927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080"/>
            <a:ext cx="502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4800" cy="27000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09960"/>
            <a:ext cx="755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49880"/>
            <a:ext cx="391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89800"/>
            <a:ext cx="2739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4800" cy="27000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080"/>
            <a:ext cx="784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6680" cy="28080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5480" cy="12816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7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240"/>
            <a:ext cx="34153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7680" cy="215532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7800" cy="50400"/>
          </a:xfrm>
          <a:prstGeom prst="rect">
            <a:avLst/>
          </a:prstGeom>
          <a:solidFill>
            <a:srgbClr val="008f8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3000"/>
            <a:ext cx="127584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7400"/>
            <a:ext cx="5299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840"/>
            <a:ext cx="8956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19240" cy="447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4680"/>
            <a:ext cx="200736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840"/>
            <a:ext cx="16416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4920" cy="447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176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6036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6480"/>
            <a:ext cx="28760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244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908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416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80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88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252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60560"/>
            <a:ext cx="12758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7000" cy="4071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2160"/>
            <a:ext cx="8370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7240" cy="40716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2160"/>
            <a:ext cx="10472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4120" cy="40716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2160"/>
            <a:ext cx="6541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498600" cy="40716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2160"/>
            <a:ext cx="4986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4120" cy="4071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2160"/>
            <a:ext cx="6541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1360" cy="37980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a9d8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40240"/>
            <a:ext cx="108770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6400" cy="32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2144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291400" cy="4763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640" cy="66960"/>
          </a:xfrm>
          <a:prstGeom prst="rect">
            <a:avLst/>
          </a:prstGeom>
          <a:solidFill>
            <a:srgbClr val="0092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228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3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7960" cy="1074240"/>
          </a:xfrm>
          <a:prstGeom prst="rect">
            <a:avLst/>
          </a:prstGeom>
          <a:solidFill>
            <a:srgbClr val="f4b84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43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7960" cy="1057320"/>
          </a:xfrm>
          <a:prstGeom prst="rect">
            <a:avLst/>
          </a:prstGeom>
          <a:solidFill>
            <a:srgbClr val="009989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43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7960" cy="1254240"/>
          </a:xfrm>
          <a:prstGeom prst="rect">
            <a:avLst/>
          </a:prstGeom>
          <a:solidFill>
            <a:srgbClr val="006cb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436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19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28920" cy="205560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28920" cy="205560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19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28920" cy="205560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28920" cy="205560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6680" cy="2880"/>
          </a:xfrm>
          <a:prstGeom prst="rect">
            <a:avLst/>
          </a:prstGeom>
          <a:solidFill>
            <a:srgbClr val="cdda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7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4240" cy="107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4240" cy="107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4240" cy="125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5" name="Picture 7" descr="topic.png"/>
          <p:cNvPicPr/>
          <p:nvPr/>
        </p:nvPicPr>
        <p:blipFill>
          <a:blip r:embed="rId1"/>
          <a:srcRect l="330" t="1035" r="0" b="1853"/>
          <a:stretch/>
        </p:blipFill>
        <p:spPr>
          <a:xfrm>
            <a:off x="536040" y="1620000"/>
            <a:ext cx="11156400" cy="359244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1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5" name="Picture 7" descr="service.png"/>
          <p:cNvPicPr/>
          <p:nvPr/>
        </p:nvPicPr>
        <p:blipFill>
          <a:blip r:embed="rId1"/>
          <a:stretch/>
        </p:blipFill>
        <p:spPr>
          <a:xfrm>
            <a:off x="502920" y="2175480"/>
            <a:ext cx="11193480" cy="2508120"/>
          </a:xfrm>
          <a:prstGeom prst="rect">
            <a:avLst/>
          </a:prstGeom>
          <a:ln w="0">
            <a:noFill/>
          </a:ln>
        </p:spPr>
      </p:pic>
      <p:sp>
        <p:nvSpPr>
          <p:cNvPr id="246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5" name="Picture 7" descr="action.png"/>
          <p:cNvPicPr/>
          <p:nvPr/>
        </p:nvPicPr>
        <p:blipFill>
          <a:blip r:embed="rId1"/>
          <a:stretch/>
        </p:blipFill>
        <p:spPr>
          <a:xfrm>
            <a:off x="502920" y="1355040"/>
            <a:ext cx="11193480" cy="4149000"/>
          </a:xfrm>
          <a:prstGeom prst="rect">
            <a:avLst/>
          </a:prstGeom>
          <a:ln w="0">
            <a:noFill/>
          </a:ln>
        </p:spPr>
      </p:pic>
      <p:sp>
        <p:nvSpPr>
          <p:cNvPr id="256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5280" cy="57240"/>
          </a:xfrm>
          <a:prstGeom prst="rect">
            <a:avLst/>
          </a:prstGeom>
          <a:solidFill>
            <a:srgbClr val="008c84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188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0920"/>
            <a:ext cx="12600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6002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16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5" name="Rounded Rectangle 7"/>
          <p:cNvSpPr/>
          <p:nvPr/>
        </p:nvSpPr>
        <p:spPr>
          <a:xfrm>
            <a:off x="685800" y="2880360"/>
            <a:ext cx="2142000" cy="28584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08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6" name="Rounded Rectangle 8"/>
          <p:cNvSpPr/>
          <p:nvPr/>
        </p:nvSpPr>
        <p:spPr>
          <a:xfrm>
            <a:off x="3286080" y="2880000"/>
            <a:ext cx="141048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9"/>
          <p:cNvSpPr/>
          <p:nvPr/>
        </p:nvSpPr>
        <p:spPr>
          <a:xfrm>
            <a:off x="7362000" y="2880000"/>
            <a:ext cx="147456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13"/>
          <p:cNvSpPr/>
          <p:nvPr/>
        </p:nvSpPr>
        <p:spPr>
          <a:xfrm>
            <a:off x="9280080" y="3514320"/>
            <a:ext cx="2233440" cy="259920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 w="1260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ectangle 14"/>
          <p:cNvSpPr/>
          <p:nvPr/>
        </p:nvSpPr>
        <p:spPr>
          <a:xfrm>
            <a:off x="540000" y="6660000"/>
            <a:ext cx="11057400" cy="2160"/>
          </a:xfrm>
          <a:prstGeom prst="rect">
            <a:avLst/>
          </a:prstGeom>
          <a:solidFill>
            <a:srgbClr val="cad5e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0" name="TextBox 15"/>
          <p:cNvSpPr/>
          <p:nvPr/>
        </p:nvSpPr>
        <p:spPr>
          <a:xfrm>
            <a:off x="685800" y="6473880"/>
            <a:ext cx="8679960" cy="10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1"/>
          <a:stretch/>
        </p:blipFill>
        <p:spPr>
          <a:xfrm>
            <a:off x="3083040" y="3413520"/>
            <a:ext cx="1855440" cy="3053880"/>
          </a:xfrm>
          <a:prstGeom prst="rect">
            <a:avLst/>
          </a:prstGeom>
          <a:ln w="0">
            <a:noFill/>
          </a:ln>
        </p:spPr>
      </p:pic>
      <p:sp>
        <p:nvSpPr>
          <p:cNvPr id="272" name="Rounded Rectangle 1"/>
          <p:cNvSpPr/>
          <p:nvPr/>
        </p:nvSpPr>
        <p:spPr>
          <a:xfrm>
            <a:off x="5266080" y="2880000"/>
            <a:ext cx="141048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2"/>
          <a:stretch/>
        </p:blipFill>
        <p:spPr>
          <a:xfrm>
            <a:off x="5063040" y="3420000"/>
            <a:ext cx="1973520" cy="3047400"/>
          </a:xfrm>
          <a:prstGeom prst="rect">
            <a:avLst/>
          </a:prstGeom>
          <a:ln w="0">
            <a:noFill/>
          </a:ln>
        </p:spPr>
      </p:pic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7223040" y="3420000"/>
            <a:ext cx="1771200" cy="3047400"/>
          </a:xfrm>
          <a:prstGeom prst="rect">
            <a:avLst/>
          </a:prstGeom>
          <a:ln w="0">
            <a:noFill/>
          </a:ln>
        </p:spPr>
      </p:pic>
      <p:sp>
        <p:nvSpPr>
          <p:cNvPr id="275" name="Rounded Rectangle 2"/>
          <p:cNvSpPr/>
          <p:nvPr/>
        </p:nvSpPr>
        <p:spPr>
          <a:xfrm>
            <a:off x="720000" y="3420000"/>
            <a:ext cx="2130480" cy="287352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Action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4"/>
          <a:stretch/>
        </p:blipFill>
        <p:spPr>
          <a:xfrm>
            <a:off x="360000" y="1260000"/>
            <a:ext cx="11338920" cy="1215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2080" cy="451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0360" cy="35164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568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32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7800" cy="15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0360" cy="35164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58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32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7800" cy="15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09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44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67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18560" cy="430200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3680" cy="4313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3480" cy="417636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3560" cy="35164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0920" cy="3160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682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4976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3560" cy="35164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34506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 / SUBSCRIBE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782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3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6680" cy="485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44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68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패키지 의존성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4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타입 정의뿐 아니라 원본 패키지 구조와 의존성까지 있어야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build · import ·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통신이 가능했습니다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2918880" cy="907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26629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받았지만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대시보드 환경에는 해당 패키지가 없어 정확한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타입을 불러올 수 없었습니다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02920" y="2514600"/>
            <a:ext cx="2918880" cy="11358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31080" y="260604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2898720"/>
            <a:ext cx="26629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 정의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타입 이름만으로 사용할 수 없습니다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 msg/srv/action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정의와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빌드 설정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패키지명이 함께 필요했습니다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2920" y="3794760"/>
            <a:ext cx="2918880" cy="105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631080" y="388620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631080" y="4178880"/>
            <a:ext cx="26629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장비별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ZIP/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폴더 단위로 업로드하고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build/apply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import-check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거쳐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Backend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가 실제 타입을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하도록 구성했습니다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040000"/>
            <a:ext cx="2918880" cy="858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631080" y="511488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631080" y="5321880"/>
            <a:ext cx="26629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타입 인식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Feedback/Result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해석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장비별 패키지 확장이 가능해졌습니다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3794760" y="4316040"/>
            <a:ext cx="7353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931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3977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5074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5120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6217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6263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7360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7406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8503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8549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4772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5915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7058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8201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3794760" y="5632560"/>
            <a:ext cx="73080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4" name="Rectangle 10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1"/>
          <a:stretch/>
        </p:blipFill>
        <p:spPr>
          <a:xfrm>
            <a:off x="3600000" y="1440000"/>
            <a:ext cx="5579280" cy="280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44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68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4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6040" cy="10447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6040" cy="10443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6040" cy="10155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6040" cy="939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780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7200" cy="17172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7200" cy="24516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29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81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5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7480" cy="155016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6000" cy="195912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5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39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18480" cy="28800"/>
          </a:xfrm>
          <a:prstGeom prst="rect">
            <a:avLst/>
          </a:prstGeom>
          <a:solidFill>
            <a:srgbClr val="23a4a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4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77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6800" cy="453960"/>
          </a:xfrm>
          <a:prstGeom prst="rtTriangle">
            <a:avLst/>
          </a:prstGeom>
          <a:solidFill>
            <a:srgbClr val="ffffff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6040" cy="1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2800" cy="388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08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14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08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784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08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232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14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5280" cy="47232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080">
            <a:solidFill>
              <a:srgbClr val="e7f6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200"/>
            <a:ext cx="1051236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7480" cy="354204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7440" cy="59400"/>
          </a:xfrm>
          <a:prstGeom prst="rect">
            <a:avLst/>
          </a:prstGeom>
          <a:solidFill>
            <a:srgbClr val="00908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080"/>
            <a:ext cx="182412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0440"/>
            <a:ext cx="1641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3154680" y="518400"/>
            <a:ext cx="603036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 </a:t>
            </a: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3280"/>
            <a:ext cx="8590680" cy="1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59400" cy="1348560"/>
          </a:xfrm>
          <a:prstGeom prst="rect">
            <a:avLst/>
          </a:prstGeom>
          <a:solidFill>
            <a:srgbClr val="0096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1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59400" cy="1348560"/>
          </a:xfrm>
          <a:prstGeom prst="rect">
            <a:avLst/>
          </a:prstGeom>
          <a:solidFill>
            <a:srgbClr val="7759cb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1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59400" cy="1348560"/>
          </a:xfrm>
          <a:prstGeom prst="rect">
            <a:avLst/>
          </a:prstGeom>
          <a:solidFill>
            <a:srgbClr val="f5a623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59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59400" cy="1348560"/>
          </a:xfrm>
          <a:prstGeom prst="rect">
            <a:avLst/>
          </a:prstGeom>
          <a:solidFill>
            <a:srgbClr val="eb5555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59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 유형별 관리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30160" cy="3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향후 통신 명세의 목적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발행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예상 주기와 통신 관계를 기준으로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생존 통신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 센서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Stream,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명령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Event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통신을 구분 하여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특성에 맞는 관리가 가능하도록 개선합니다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0920" cy="61704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080">
            <a:solidFill>
              <a:srgbClr val="78cd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4400"/>
            <a:ext cx="10145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2026-08-03T14:45:19Z</cp:lastPrinted>
  <dcterms:modified xsi:type="dcterms:W3CDTF">2026-08-04T10:29:11Z</dcterms:modified>
  <cp:revision>67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