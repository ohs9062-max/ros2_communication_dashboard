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8.png" ContentType="image/png"/>
  <Override PartName="/ppt/media/image9.png" ContentType="image/png"/>
  <Override PartName="/ppt/media/image20.png" ContentType="image/png"/>
  <Override PartName="/ppt/media/image8.png" ContentType="image/png"/>
  <Override PartName="/ppt/media/image17.png" ContentType="image/png"/>
  <Override PartName="/ppt/media/image12.png" ContentType="image/png"/>
  <Override PartName="/ppt/media/image35.png" ContentType="image/png"/>
  <Override PartName="/ppt/media/image3.png" ContentType="image/png"/>
  <Override PartName="/ppt/media/image13.png" ContentType="image/png"/>
  <Override PartName="/ppt/media/image36.png" ContentType="image/png"/>
  <Override PartName="/ppt/media/image4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11.png" ContentType="image/png"/>
  <Override PartName="/ppt/media/image2.png" ContentType="image/png"/>
  <Override PartName="/ppt/media/image34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33.png" ContentType="image/png"/>
  <Override PartName="/ppt/media/image38.png" ContentType="image/png"/>
  <Override PartName="/ppt/media/image6.png" ContentType="image/png"/>
  <Override PartName="/ppt/media/image15.png" ContentType="image/png"/>
  <Override PartName="/ppt/media/image37.png" ContentType="image/png"/>
  <Override PartName="/ppt/media/image5.png" ContentType="image/png"/>
  <Override PartName="/ppt/media/image14.png" ContentType="image/png"/>
  <Override PartName="/ppt/media/image19.png" ContentType="image/pn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.xml.rels" ContentType="application/vnd.openxmlformats-package.relationships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ko-KR" sz="4400" spc="-1" strike="noStrike">
                <a:solidFill>
                  <a:srgbClr val="000000"/>
                </a:solidFill>
                <a:latin typeface="Noto Sans CJK KR"/>
              </a:rPr>
              <a:t>슬라이드를 이동하려면 클릭하십시오</a:t>
            </a:r>
            <a:r>
              <a:rPr b="0" lang="en-US" sz="44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4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메모 서식을 편집하려면 클릭하십시오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&lt;머리글&gt;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r">
              <a:buNone/>
            </a:pPr>
            <a:fld id="{42373A56-3234-4B49-9AB6-F6E55F2732E9}" type="slidenum"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&lt;숫자&gt;</a:t>
            </a:fld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핵심 한 문장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 프로젝트는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ROS2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통신 상태를 관찰하는 기능과 사용자가 직접 통신을 실행하는 기능을 한 화면에 제공합니다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발표 멘트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오늘은 코드 파일을 따라가기보다 실제 화면에서 무엇을 확인하고 무엇을 실행할 수 있는지 중심으로 설명하겠습니다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크게는 자동 모니터링과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Interface Lab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두 영역으로 나뉩니다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어려운 용어 쉽게 설명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ROS2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로봇 프로그램들이 서로 데이터를 주고받는 실행 환경입니다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예상 질문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 대시보드는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ROS2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직접 제어하나요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짧은 답변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모니터링은 관찰만 하고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Interface Lab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에서 사용자가 버튼을 눌렀을 때만 통신을 실행합니다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98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핵심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한 문장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 시스템은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ROS2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통신을 상태 확인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관계 이해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직접 실행의 세 단계로 다룹니다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발표 멘트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ROS2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명령어를 여러 터미널에서 따로 확인하면 전체 관계를 놓치기 쉽습니다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 대시보드는 실행 중인 통신을 모아서 보여주고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필요한 경우 등록된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Interface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로 테스트까지 이어지게 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어려운 용어 쉽게 설명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Interface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Topic, Service, Action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에서 주고받는 데이터 구조 또는 통신 형식입니다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예상 질문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모든 통신을 자동으로 실행해 주나요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짧은 답변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아닙니다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자동 영역은 관찰이고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직접 실행은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Interface Lab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에서 사용자가 명시적으로 요청합니다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01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핵심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한 문장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Backend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ROS2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주기적으로 관찰하고 화면은 그 최신 복사본을 읽습니다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발표 멘트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ROS2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영역에서 실제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Node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와 통신이 실행됩니다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rclpy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기반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Backend Monitor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Graph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정보를 모아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Runtime cache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 저장하고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FastAPI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의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REST API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WebSocket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React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화면으로 전달합니다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Frontend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ROS2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 직접 접근하지 않는 구조입니다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어려운 용어 쉽게 설명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Runtime cache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Backend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 최근에 수집한 상태를 메모리에 보관한 공간입니다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예상 질문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REST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요청이 들어올 때마다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ros2 topic list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실행하나요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짧은 답변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아닙니다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rclpy Graph API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로 주기 수집한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cache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읽어 반환합니다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04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0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핵심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한 문장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Overview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의 상태 수와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Alert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수가 달라도 정상입니다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발표 멘트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Badge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지금 관찰되는 상태를 넓게 보여줍니다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Alert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그중 조치가 필요할 가능성이 높은 조건만 정책으로 선별합니다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예를 들어 구독자가 없는 일반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Topic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이나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waiting_server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화면 상태로는 보이지만 기본 장애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Alert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아닙니다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어려운 용어 쉽게 설명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Badge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상태표시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Alert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조치 후보입니다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required stream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계속 들어와야 한다고 지정한 중요 데이터 흐름입니다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예상 질문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Node stale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바로 프로세스 장애라는 뜻인가요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짧은 답변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아닙니다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ROS2 Graph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에서 사라진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Node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설정 시간 동안 남겨 보여주는 상태이며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정책상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Alert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로 포함됩니다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07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0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핵심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한 문장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Topic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화면은 어떤 채널이 있고 데이터가 실제로 얼마나 들어오는지 보여줍니다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발표 멘트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Backend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ROS2 Graph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Topic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 발견하고 지원하는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Message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타입이면 자동 구독합니다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callback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 최신 데이터와 수신 시간을 기록하고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일정 구간의 수신 횟수로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Hz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계산해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cache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와 화면에 제공합니다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어려운 용어 쉽게 설명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Hz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1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초당 수신 메시지 수를 뜻합니다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stale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최근 메시지가 설정 시간 동안 갱신되지 않은 상태입니다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예상 질문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모든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Topic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Hz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볼 수 있나요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짧은 답변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아닙니다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Backend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 지원 타입으로 구독해 실제 메시지를 받은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Topic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에서 계산할 수 있습니다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10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핵심 한 문장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Service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모니터링은 요청 창구를 관찰하고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Service Call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요청을 실제로 보냅니다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발표 멘트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Service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화면에서는 이름과 타입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Server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Client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의 관계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현재 사용 가능 상태를 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일반 모니터링은 요청을 보내지 않습니다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설정의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allowlist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 등록한 안전한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Service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만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Active Check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 백그라운드로 확인하며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사용자의 실제 요청은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Interface Lab Service Call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에서 실행합니다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어려운 용어 쉽게 설명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Server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요청을 받는 창구이고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Client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요청을 보내는 프로그램입니다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allowlist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호출해도 안전하다고 미리 허용한 목록입니다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예상 질문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Service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화면을 열면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Service Call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 발생하나요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짧은 답변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아닙니다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화면 조회는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cache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관찰이고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사용자가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Call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 눌렀을 때만 명시 요청이 전송됩니다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핵심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한 문장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Action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모니터링과 사용자의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Goal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실행은 서로 다른 경로입니다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발표 멘트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Action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시간이 걸리는 작업에 사용합니다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요청인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Goal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 보내고 중간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Feedback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과 최종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Result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받습니다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모니터링 화면은 이미 진행되거나 관찰된 상태를 보여줄 뿐 새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Goal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 자동으로 보내지 않습니다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새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Goal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Interface Lab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에서 사용자가 실행합니다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어려운 용어 쉽게 설명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terminal Result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succeeded, aborted, canceled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처럼 작업이 끝난 뒤의 최종 결과입니다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예상 질문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모니터가 모든 과거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Goal Result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조회하나요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짧은 답변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아닙니다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문서 기준으로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status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에서 관찰된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terminal goal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만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Result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조회 대상으로 삼습니다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핵심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한 문장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Node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화면은 각 실행 단위가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Topic, Service, Action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 어떻게 참여하는지 보여줍니다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발표 멘트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Node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이름만 보면 역할을 알기 어렵습니다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그래서 이 화면은 발행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·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구독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Topic,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제공하거나 사용하는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Service,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실행하거나 요청하는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Action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관계를 함께 표시합니다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Graph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에서 사라진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Node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화면 깜빡임을 줄이기 위해 잠시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stale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상태로 보존됩니다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어려운 용어 쉽게 설명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stale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프로세스 종료를 직접 확인한 뜻이 아니라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ROS2 Graph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에서 더 이상 보이지 않는 상태입니다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예상 질문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stale Node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계속 남아 있나요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짧은 답변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아닙니다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설정된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stale timeout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동안만 보존한 뒤 제거됩니다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2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핵심 한 문장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Visualization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의 관계 조합은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Backend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 아니라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Frontend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에서 일어납니다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발표 멘트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화면은 네 가지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Monitoring REST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데이터를 가져옵니다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Node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기준 관계를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participant map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으로 통신 기준에 맞게 뒤집고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graphTransform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React Flow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의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node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edge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로 변환합니다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선택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Node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중심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1-hop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보기와 전체 보기를 구분할 수 있습니다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어려운 용어 쉽게 설명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1-hop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선택한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Node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와 직접 연결된 관계까지만 보는 방식입니다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React Flow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연결 그래프를 그리는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Frontend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라이브러리입니다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예상 질문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Backend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/ros/graph API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 있나요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짧은 답변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문서 기준으로 없습니다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기존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/ros/nodes, topics, services, actions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응답을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Frontend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에서 조합합니다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2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핵심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한 문장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모니터링과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Interface Lab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 섞어 설명하면 이 프로젝트의 동작을 잘못 이해하게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발표 멘트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자동 모니터링은 현재 실행 중인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ROS2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시스템을 계속 관찰합니다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Interface Lab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사용자가 원하는 통신 형식을 등록하고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준비가 끝난 뒤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Publish, Receive,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Call, Goal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 직접 실행하는 도구입니다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실행 결과와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history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도 이쪽에 남습니다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어려운 용어 쉽게 설명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Graph discovery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현재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ROS2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 어떤 통신 요소가 있는지 자동으로 찾는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과정입니다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예상 질문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Interface Lab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 없어도 모니터링은 되나요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짧은 답변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자동 모니터링은 별도 기능이고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Interface Lab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등록한 타입으로 직접 시험할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때 사용합니다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핵심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한 문장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manual type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만 파일과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Build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 필요 없고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나머지 방식은 새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ROS2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타입 코드를 만들어야 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발표 멘트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이미 시스템에 설치되어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import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가능한 타입은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full type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문자열만 등록하면 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새 정의를 화면에서 작성하거나 단일 파일 또는 패키지를 업로드하면 파일이 생기므로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Build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import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확인이 필요합니다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등록만 성공했다고 바로 실행 가능한 것은 아닙니다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어려운 용어 쉽게 설명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full type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package/msg/Type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또는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package/srv/Type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처럼 패키지와 종류까지 포함한 전체 타입 이름입니다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예상 질문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manual type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아무 문자열이나 넣어도 되나요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짧은 답변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아닙니다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이미 현재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ROS2 Python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환경에서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import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가능한 타입이어야 실제 실행 후보가 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핵심 한 문장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Build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타입 코드를 생성하는 단계이고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Apply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그 앞뒤 과정을 포함합니다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발표 멘트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업로드한 파일은 정의서일 뿐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Python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에서 바로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import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할 수 없습니다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패키지 구조와 설정 파일을 준비하고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colcon build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실행하면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ROS2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 사용할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Python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타입 코드가 생성됩니다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설치 환경 반영과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import-check, registry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상태 갱신까지 묶은 상위 흐름이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Apply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어려운 용어 쉽게 설명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colcon build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ROS2 workspace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의 패키지를 빌드하는 명령입니다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import-check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생성된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Python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타입을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Backend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 실제로 불러올 수 있는지 확인합니다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예상 질문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Build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성공이면 바로 실행 가능한가요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짧은 답변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항상 그렇지는 않습니다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install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환경 반영과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import-check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까지 통과해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Backend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import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가능한 상태인지 확인해야 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31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3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핵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심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문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장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행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나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사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용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자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구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독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작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추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능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입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m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낼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널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f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u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l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y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터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구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조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y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값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입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u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h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입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력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M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g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해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행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h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y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남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깁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v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튼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으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구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독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만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받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메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장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며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으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정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리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합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운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용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쉽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게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명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y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나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d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같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M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g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넣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값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의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묶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음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입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상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자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동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모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링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의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구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독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과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같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능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인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짧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답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아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닙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자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동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모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링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u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o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d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y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관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찰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용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n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f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L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c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v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사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용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자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명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적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으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작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한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테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트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구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독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입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니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34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3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핵심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한 문장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Service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Action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둘 다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직접 실행하지만 응답 구조가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발표 멘트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Service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Request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보내고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한 번의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Response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받습니다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Action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Goal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보내고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accepted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여부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중간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Feedback,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최종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Result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받습니다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두 기능 모두 등록과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import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 가능하고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현재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Graph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의 이름과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full type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이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정확히 일치해야 실행 후보가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어려운 용어 쉽게 설명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exact match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통신 이름과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전체 타입이 모두 정확히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같아야 한다는 뜻입니다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validation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payload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Interface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필드 구조에 맞는지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확인합니다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예상 질문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입력값이 틀려도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ROS2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Server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로 전송되나요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짧은 답변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문서 기준으로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validation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실패 시 전송하지 않고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sent_to_server=false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history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 기록합니다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37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3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핵심 한 문장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시연은 먼저 관찰 기능을 보여준 뒤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Interface Lab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실행으로 넘어갑니다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발표 멘트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Overview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에서 전체 상태를 보고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Topic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의 실시간 값과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Hz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확인합니다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Service, Action, Node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의 관계를 본 뒤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Visualization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으로 연결을 확인합니다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다음으로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Interface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등록하거나 업로드하고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Apply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상태와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import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가능 여부를 확인한 뒤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Publish, Receive, Call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또는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Goal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 실행하고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history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를 확인합니다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어려운 용어 쉽게 설명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Apply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는 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Build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버튼 하나가 아니라 파일 준비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Build, import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확인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상태 갱신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Backend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반영을 포함하는 전체 과정입니다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예상 질문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발표에서 가장 중요한 구분은 무엇인가요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?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짧은 답변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자동 모니터링은 관찰이고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, Interface Lab execution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은 사용자가 직접 실행한다는 구분입니다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0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4520" cy="11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4520" cy="113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제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목 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텍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스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트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의 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서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식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을 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편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집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려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면 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클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릭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십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시</a:t>
            </a:r>
            <a:r>
              <a:rPr b="0" lang="ko-KR" sz="1800" spc="-1" strike="noStrike">
                <a:solidFill>
                  <a:srgbClr val="000000"/>
                </a:solidFill>
                <a:latin typeface="Noto Sans CJK KR"/>
              </a:rPr>
              <a:t>오</a:t>
            </a:r>
            <a:r>
              <a:rPr b="0" lang="en-US" sz="18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rgbClr val="000000"/>
                </a:solidFill>
                <a:latin typeface="Noto Sans CJK KR"/>
              </a:rPr>
              <a:t>개요 텍스트의 서식을 편집하려면 클릭하십시오</a:t>
            </a:r>
            <a:endParaRPr b="0" lang="en-US" sz="3200" spc="-1" strike="noStrike">
              <a:solidFill>
                <a:srgbClr val="000000"/>
              </a:solidFill>
              <a:latin typeface="Noto Sans CJK KR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Noto Sans CJK KR"/>
              </a:rPr>
              <a:t>2</a:t>
            </a:r>
            <a:r>
              <a:rPr b="0" lang="ko-KR" sz="28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Noto Sans CJK KR"/>
              </a:rPr>
              <a:t>3</a:t>
            </a:r>
            <a:r>
              <a:rPr b="0" lang="ko-KR" sz="24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4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5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6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7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번째 개요 수준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.png"/><Relationship Id="rId18" Type="http://schemas.openxmlformats.org/officeDocument/2006/relationships/image" Target="../media/image2.png"/><Relationship Id="rId19" Type="http://schemas.openxmlformats.org/officeDocument/2006/relationships/image" Target="../media/image3.png"/><Relationship Id="rId20" Type="http://schemas.openxmlformats.org/officeDocument/2006/relationships/image" Target="../media/image4.png"/><Relationship Id="rId21" Type="http://schemas.openxmlformats.org/officeDocument/2006/relationships/image" Target="../media/image5.png"/><Relationship Id="rId22" Type="http://schemas.openxmlformats.org/officeDocument/2006/relationships/image" Target="../media/image6.png"/><Relationship Id="rId23" Type="http://schemas.openxmlformats.org/officeDocument/2006/relationships/image" Target="../media/image7.png"/><Relationship Id="rId24" Type="http://schemas.openxmlformats.org/officeDocument/2006/relationships/image" Target="../media/image8.png"/><Relationship Id="rId25" Type="http://schemas.openxmlformats.org/officeDocument/2006/relationships/image" Target="../media/image9.png"/><Relationship Id="rId26" Type="http://schemas.openxmlformats.org/officeDocument/2006/relationships/image" Target="../media/image10.png"/><Relationship Id="rId27" Type="http://schemas.openxmlformats.org/officeDocument/2006/relationships/image" Target="../media/image11.png"/><Relationship Id="rId28" Type="http://schemas.openxmlformats.org/officeDocument/2006/relationships/image" Target="../media/image12.png"/><Relationship Id="rId29" Type="http://schemas.openxmlformats.org/officeDocument/2006/relationships/image" Target="../media/image13.png"/><Relationship Id="rId30" Type="http://schemas.openxmlformats.org/officeDocument/2006/relationships/image" Target="../media/image14.png"/><Relationship Id="rId31" Type="http://schemas.openxmlformats.org/officeDocument/2006/relationships/image" Target="../media/image15.png"/><Relationship Id="rId32" Type="http://schemas.openxmlformats.org/officeDocument/2006/relationships/image" Target="../media/image16.png"/><Relationship Id="rId33" Type="http://schemas.openxmlformats.org/officeDocument/2006/relationships/image" Target="../media/image17.png"/><Relationship Id="rId34" Type="http://schemas.openxmlformats.org/officeDocument/2006/relationships/image" Target="../media/image18.png"/><Relationship Id="rId35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hyperlink" Target="file:///home/hs/rang/ros2_dashboard/ros2_d/final_final.mp4" TargetMode="External"/><Relationship Id="rId2" Type="http://schemas.openxmlformats.org/officeDocument/2006/relationships/image" Target="../media/image38.png"/><Relationship Id="rId3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>
            <a:off x="0" y="0"/>
            <a:ext cx="12183840" cy="163080"/>
          </a:xfrm>
          <a:prstGeom prst="rect">
            <a:avLst/>
          </a:prstGeom>
          <a:solidFill>
            <a:srgbClr val="008b8b"/>
          </a:solidFill>
          <a:ln w="9360">
            <a:solidFill>
              <a:srgbClr val="008b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Noto Sans CJK KR"/>
              <a:ea typeface="Calibri"/>
            </a:endParaRPr>
          </a:p>
        </p:txBody>
      </p:sp>
      <p:sp>
        <p:nvSpPr>
          <p:cNvPr id="11" name=""/>
          <p:cNvSpPr/>
          <p:nvPr/>
        </p:nvSpPr>
        <p:spPr>
          <a:xfrm>
            <a:off x="685800" y="685800"/>
            <a:ext cx="2849400" cy="315720"/>
          </a:xfrm>
          <a:prstGeom prst="roundRect">
            <a:avLst>
              <a:gd name="adj" fmla="val 23529"/>
            </a:avLst>
          </a:prstGeom>
          <a:solidFill>
            <a:srgbClr val="e8f0f8"/>
          </a:solidFill>
          <a:ln w="9360">
            <a:solidFill>
              <a:srgbClr val="e8f0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12" name=""/>
          <p:cNvSpPr/>
          <p:nvPr/>
        </p:nvSpPr>
        <p:spPr>
          <a:xfrm>
            <a:off x="762120" y="714240"/>
            <a:ext cx="269676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2304a"/>
                </a:solidFill>
                <a:latin typeface="Calibri"/>
                <a:ea typeface="Calibri"/>
              </a:rPr>
              <a:t>ROS2 · rclpy · FastAPI · React</a:t>
            </a:r>
            <a:endParaRPr b="0" lang="en-US" sz="10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" name=""/>
          <p:cNvSpPr/>
          <p:nvPr/>
        </p:nvSpPr>
        <p:spPr>
          <a:xfrm>
            <a:off x="685800" y="1504800"/>
            <a:ext cx="7230600" cy="14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2304a"/>
                </a:solidFill>
                <a:latin typeface="Calibri"/>
                <a:ea typeface="Calibri"/>
              </a:rPr>
              <a:t>ROS2 Communication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2304a"/>
                </a:solidFill>
                <a:latin typeface="Calibri"/>
                <a:ea typeface="Calibri"/>
              </a:rPr>
              <a:t>Monitor Dashboard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" name=""/>
          <p:cNvSpPr/>
          <p:nvPr/>
        </p:nvSpPr>
        <p:spPr>
          <a:xfrm>
            <a:off x="723960" y="3143160"/>
            <a:ext cx="6563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870" spc="-1" strike="noStrike">
                <a:solidFill>
                  <a:srgbClr val="008b8b"/>
                </a:solidFill>
                <a:latin typeface="Calibri"/>
                <a:ea typeface="Calibri"/>
              </a:rPr>
              <a:t>실시간 통신 모니터링과 </a:t>
            </a:r>
            <a:r>
              <a:rPr b="1" lang="en-US" sz="1870" spc="-1" strike="noStrike">
                <a:solidFill>
                  <a:srgbClr val="008b8b"/>
                </a:solidFill>
                <a:latin typeface="Calibri"/>
                <a:ea typeface="Calibri"/>
              </a:rPr>
              <a:t>Interface Lab</a:t>
            </a:r>
            <a:endParaRPr b="0" lang="en-US" sz="187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" name=""/>
          <p:cNvSpPr/>
          <p:nvPr/>
        </p:nvSpPr>
        <p:spPr>
          <a:xfrm>
            <a:off x="723960" y="3714840"/>
            <a:ext cx="6659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5b6b78"/>
                </a:solidFill>
                <a:latin typeface="Calibri"/>
                <a:ea typeface="Calibri"/>
              </a:rPr>
              <a:t>ROS2 </a:t>
            </a:r>
            <a:r>
              <a:rPr b="0" lang="ko-KR" sz="1500" spc="-1" strike="noStrike">
                <a:solidFill>
                  <a:srgbClr val="5b6b78"/>
                </a:solidFill>
                <a:latin typeface="Calibri"/>
                <a:ea typeface="Calibri"/>
              </a:rPr>
              <a:t>상태를 한눈에 보고</a:t>
            </a:r>
            <a:r>
              <a:rPr b="0" lang="en-US" sz="1500" spc="-1" strike="noStrike">
                <a:solidFill>
                  <a:srgbClr val="5b6b78"/>
                </a:solidFill>
                <a:latin typeface="Calibri"/>
                <a:ea typeface="Calibri"/>
              </a:rPr>
              <a:t>, </a:t>
            </a:r>
            <a:r>
              <a:rPr b="0" lang="ko-KR" sz="1500" spc="-1" strike="noStrike">
                <a:solidFill>
                  <a:srgbClr val="5b6b78"/>
                </a:solidFill>
                <a:latin typeface="Calibri"/>
                <a:ea typeface="Calibri"/>
              </a:rPr>
              <a:t>필요한 통신을 직접 실행하는 웹 대시보드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" name=""/>
          <p:cNvSpPr/>
          <p:nvPr/>
        </p:nvSpPr>
        <p:spPr>
          <a:xfrm>
            <a:off x="8477280" y="1285920"/>
            <a:ext cx="1991880" cy="1991880"/>
          </a:xfrm>
          <a:prstGeom prst="ellipse">
            <a:avLst/>
          </a:prstGeom>
          <a:solidFill>
            <a:srgbClr val="dff4f2"/>
          </a:solidFill>
          <a:ln w="9360">
            <a:solidFill>
              <a:srgbClr val="008b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17" name=""/>
          <p:cNvSpPr/>
          <p:nvPr/>
        </p:nvSpPr>
        <p:spPr>
          <a:xfrm>
            <a:off x="8858160" y="1952640"/>
            <a:ext cx="123012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50" spc="-1" strike="noStrike">
                <a:solidFill>
                  <a:srgbClr val="008b8b"/>
                </a:solidFill>
                <a:latin typeface="Calibri"/>
                <a:ea typeface="Calibri"/>
              </a:rPr>
              <a:t>ROS2</a:t>
            </a:r>
            <a:endParaRPr b="0" lang="en-US" sz="22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" name=""/>
          <p:cNvSpPr/>
          <p:nvPr/>
        </p:nvSpPr>
        <p:spPr>
          <a:xfrm>
            <a:off x="7477200" y="3905280"/>
            <a:ext cx="3992400" cy="99180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360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19" name=""/>
          <p:cNvSpPr/>
          <p:nvPr/>
        </p:nvSpPr>
        <p:spPr>
          <a:xfrm>
            <a:off x="7715160" y="4095720"/>
            <a:ext cx="151560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2304a"/>
                </a:solidFill>
                <a:latin typeface="Calibri"/>
                <a:ea typeface="Calibri"/>
              </a:rPr>
              <a:t>MONITOR</a:t>
            </a:r>
            <a:endParaRPr b="0" lang="en-US" sz="13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" name=""/>
          <p:cNvSpPr/>
          <p:nvPr/>
        </p:nvSpPr>
        <p:spPr>
          <a:xfrm>
            <a:off x="7715160" y="4438800"/>
            <a:ext cx="151560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관찰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" name=""/>
          <p:cNvSpPr/>
          <p:nvPr/>
        </p:nvSpPr>
        <p:spPr>
          <a:xfrm>
            <a:off x="9315360" y="4210200"/>
            <a:ext cx="277560" cy="37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cbd7e1"/>
                </a:solidFill>
                <a:latin typeface="Calibri"/>
                <a:ea typeface="Calibri"/>
              </a:rPr>
              <a:t>+</a:t>
            </a:r>
            <a:endParaRPr b="0" lang="en-US" sz="2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" name=""/>
          <p:cNvSpPr/>
          <p:nvPr/>
        </p:nvSpPr>
        <p:spPr>
          <a:xfrm>
            <a:off x="9715680" y="4095720"/>
            <a:ext cx="151560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8b8b"/>
                </a:solidFill>
                <a:latin typeface="Calibri"/>
                <a:ea typeface="Calibri"/>
              </a:rPr>
              <a:t>INTERFACE LAB</a:t>
            </a:r>
            <a:endParaRPr b="0" lang="en-US" sz="13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" name=""/>
          <p:cNvSpPr/>
          <p:nvPr/>
        </p:nvSpPr>
        <p:spPr>
          <a:xfrm>
            <a:off x="9715680" y="4438800"/>
            <a:ext cx="151560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직접 실행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" name=""/>
          <p:cNvSpPr/>
          <p:nvPr/>
        </p:nvSpPr>
        <p:spPr>
          <a:xfrm>
            <a:off x="723960" y="6095880"/>
            <a:ext cx="246816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50" spc="-1" strike="noStrike">
                <a:solidFill>
                  <a:srgbClr val="5b6b78"/>
                </a:solidFill>
                <a:latin typeface="Calibri"/>
                <a:ea typeface="Calibri"/>
              </a:rPr>
              <a:t>기능 중심 발표 자료</a:t>
            </a:r>
            <a:endParaRPr b="0" lang="en-US" sz="105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>
            <a:off x="609480" y="266760"/>
            <a:ext cx="208728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12304a"/>
                </a:solidFill>
                <a:latin typeface="Calibri"/>
                <a:ea typeface="Calibri"/>
              </a:rPr>
              <a:t>MONITORING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" name=""/>
          <p:cNvSpPr/>
          <p:nvPr/>
        </p:nvSpPr>
        <p:spPr>
          <a:xfrm>
            <a:off x="609480" y="552600"/>
            <a:ext cx="1027872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2550" spc="-1" strike="noStrike">
                <a:solidFill>
                  <a:srgbClr val="12304a"/>
                </a:solidFill>
                <a:latin typeface="Calibri"/>
                <a:ea typeface="Calibri"/>
              </a:rPr>
              <a:t>보이지 않던 </a:t>
            </a:r>
            <a:r>
              <a:rPr b="1" lang="en-US" sz="2550" spc="-1" strike="noStrike">
                <a:solidFill>
                  <a:srgbClr val="12304a"/>
                </a:solidFill>
                <a:latin typeface="Calibri"/>
                <a:ea typeface="Calibri"/>
              </a:rPr>
              <a:t>ROS2 </a:t>
            </a:r>
            <a:r>
              <a:rPr b="1" lang="ko-KR" sz="2550" spc="-1" strike="noStrike">
                <a:solidFill>
                  <a:srgbClr val="12304a"/>
                </a:solidFill>
                <a:latin typeface="Calibri"/>
                <a:ea typeface="Calibri"/>
              </a:rPr>
              <a:t>통신을 화면으로 확인합니다</a:t>
            </a:r>
            <a:endParaRPr b="0" lang="en-US" sz="25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" name=""/>
          <p:cNvSpPr/>
          <p:nvPr/>
        </p:nvSpPr>
        <p:spPr>
          <a:xfrm>
            <a:off x="609480" y="1047600"/>
            <a:ext cx="10469160" cy="39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목록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·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상태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·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관계를 자동으로 모으고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, 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등록한 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Interface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로 실제 통신도 시험합니다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.</a:t>
            </a:r>
            <a:endParaRPr b="0" lang="en-US" sz="13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" name=""/>
          <p:cNvSpPr/>
          <p:nvPr/>
        </p:nvSpPr>
        <p:spPr>
          <a:xfrm>
            <a:off x="11064240" y="292680"/>
            <a:ext cx="49824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r">
              <a:lnSpc>
                <a:spcPct val="100000"/>
              </a:lnSpc>
            </a:pPr>
            <a:r>
              <a:rPr b="1" lang="en-US" sz="850" spc="-1" strike="noStrike">
                <a:solidFill>
                  <a:srgbClr val="5b6e7d"/>
                </a:solidFill>
                <a:latin typeface="Malgun Gothic"/>
                <a:ea typeface="Calibri"/>
              </a:rPr>
              <a:t>02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" name=""/>
          <p:cNvSpPr/>
          <p:nvPr/>
        </p:nvSpPr>
        <p:spPr>
          <a:xfrm>
            <a:off x="666720" y="1790640"/>
            <a:ext cx="3325320" cy="3134880"/>
          </a:xfrm>
          <a:prstGeom prst="roundRect">
            <a:avLst>
              <a:gd name="adj" fmla="val 2424"/>
            </a:avLst>
          </a:prstGeom>
          <a:solidFill>
            <a:srgbClr val="eaf2fb"/>
          </a:solidFill>
          <a:ln w="9360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30" name=""/>
          <p:cNvSpPr/>
          <p:nvPr/>
        </p:nvSpPr>
        <p:spPr>
          <a:xfrm>
            <a:off x="666720" y="1790640"/>
            <a:ext cx="58320" cy="3134880"/>
          </a:xfrm>
          <a:prstGeom prst="rect">
            <a:avLst/>
          </a:prstGeom>
          <a:solidFill>
            <a:srgbClr val="12304a"/>
          </a:solidFill>
          <a:ln w="9360">
            <a:solidFill>
              <a:srgbClr val="1230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Noto Sans CJK KR"/>
              <a:ea typeface="Calibri"/>
            </a:endParaRPr>
          </a:p>
        </p:txBody>
      </p:sp>
      <p:sp>
        <p:nvSpPr>
          <p:cNvPr id="31" name=""/>
          <p:cNvSpPr/>
          <p:nvPr/>
        </p:nvSpPr>
        <p:spPr>
          <a:xfrm>
            <a:off x="895320" y="1943280"/>
            <a:ext cx="294444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2304a"/>
                </a:solidFill>
                <a:latin typeface="Calibri"/>
                <a:ea typeface="Calibri"/>
              </a:rPr>
              <a:t>① </a:t>
            </a:r>
            <a:r>
              <a:rPr b="1" lang="ko-KR" sz="1500" spc="-1" strike="noStrike">
                <a:solidFill>
                  <a:srgbClr val="12304a"/>
                </a:solidFill>
                <a:latin typeface="Calibri"/>
                <a:ea typeface="Calibri"/>
              </a:rPr>
              <a:t>상태 확인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" name=""/>
          <p:cNvSpPr/>
          <p:nvPr/>
        </p:nvSpPr>
        <p:spPr>
          <a:xfrm>
            <a:off x="895320" y="2286000"/>
            <a:ext cx="2944440" cy="25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Node, Topic, Service, Action</a:t>
            </a: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의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현재 존재 여부와 통신 상태를 봅니다</a:t>
            </a: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" name=""/>
          <p:cNvSpPr/>
          <p:nvPr/>
        </p:nvSpPr>
        <p:spPr>
          <a:xfrm>
            <a:off x="4429080" y="1790640"/>
            <a:ext cx="3325320" cy="3134880"/>
          </a:xfrm>
          <a:prstGeom prst="roundRect">
            <a:avLst>
              <a:gd name="adj" fmla="val 2424"/>
            </a:avLst>
          </a:prstGeom>
          <a:solidFill>
            <a:srgbClr val="f1eff9"/>
          </a:solidFill>
          <a:ln w="9360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34" name=""/>
          <p:cNvSpPr/>
          <p:nvPr/>
        </p:nvSpPr>
        <p:spPr>
          <a:xfrm>
            <a:off x="4429080" y="1790640"/>
            <a:ext cx="58320" cy="3134880"/>
          </a:xfrm>
          <a:prstGeom prst="rect">
            <a:avLst/>
          </a:prstGeom>
          <a:solidFill>
            <a:srgbClr val="7568b4"/>
          </a:solidFill>
          <a:ln w="9360">
            <a:solidFill>
              <a:srgbClr val="7568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Noto Sans CJK KR"/>
              <a:ea typeface="Calibri"/>
            </a:endParaRPr>
          </a:p>
        </p:txBody>
      </p:sp>
      <p:sp>
        <p:nvSpPr>
          <p:cNvPr id="35" name=""/>
          <p:cNvSpPr/>
          <p:nvPr/>
        </p:nvSpPr>
        <p:spPr>
          <a:xfrm>
            <a:off x="4657680" y="1943280"/>
            <a:ext cx="294444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2304a"/>
                </a:solidFill>
                <a:latin typeface="Calibri"/>
                <a:ea typeface="Calibri"/>
              </a:rPr>
              <a:t>② </a:t>
            </a:r>
            <a:r>
              <a:rPr b="1" lang="ko-KR" sz="1500" spc="-1" strike="noStrike">
                <a:solidFill>
                  <a:srgbClr val="12304a"/>
                </a:solidFill>
                <a:latin typeface="Calibri"/>
                <a:ea typeface="Calibri"/>
              </a:rPr>
              <a:t>관계 이해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" name=""/>
          <p:cNvSpPr/>
          <p:nvPr/>
        </p:nvSpPr>
        <p:spPr>
          <a:xfrm>
            <a:off x="4657680" y="2286000"/>
            <a:ext cx="2944440" cy="25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어떤 </a:t>
            </a: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Node</a:t>
            </a: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가 발행</a:t>
            </a: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·</a:t>
            </a: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구독하고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요청</a:t>
            </a: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·</a:t>
            </a: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응답하는지 연결 관계를 봅니다</a:t>
            </a: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" name=""/>
          <p:cNvSpPr/>
          <p:nvPr/>
        </p:nvSpPr>
        <p:spPr>
          <a:xfrm>
            <a:off x="8191440" y="1790640"/>
            <a:ext cx="3325320" cy="3134880"/>
          </a:xfrm>
          <a:prstGeom prst="roundRect">
            <a:avLst>
              <a:gd name="adj" fmla="val 2424"/>
            </a:avLst>
          </a:prstGeom>
          <a:solidFill>
            <a:srgbClr val="e6f6f3"/>
          </a:solidFill>
          <a:ln w="9360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38" name=""/>
          <p:cNvSpPr/>
          <p:nvPr/>
        </p:nvSpPr>
        <p:spPr>
          <a:xfrm>
            <a:off x="8191440" y="1790640"/>
            <a:ext cx="58320" cy="3134880"/>
          </a:xfrm>
          <a:prstGeom prst="rect">
            <a:avLst/>
          </a:prstGeom>
          <a:solidFill>
            <a:srgbClr val="008b8b"/>
          </a:solidFill>
          <a:ln w="9360">
            <a:solidFill>
              <a:srgbClr val="008b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Noto Sans CJK KR"/>
              <a:ea typeface="Calibri"/>
            </a:endParaRPr>
          </a:p>
        </p:txBody>
      </p:sp>
      <p:sp>
        <p:nvSpPr>
          <p:cNvPr id="39" name=""/>
          <p:cNvSpPr/>
          <p:nvPr/>
        </p:nvSpPr>
        <p:spPr>
          <a:xfrm>
            <a:off x="8420040" y="1943280"/>
            <a:ext cx="294444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2304a"/>
                </a:solidFill>
                <a:latin typeface="Calibri"/>
                <a:ea typeface="Calibri"/>
              </a:rPr>
              <a:t>③ </a:t>
            </a:r>
            <a:r>
              <a:rPr b="1" lang="ko-KR" sz="1500" spc="-1" strike="noStrike">
                <a:solidFill>
                  <a:srgbClr val="12304a"/>
                </a:solidFill>
                <a:latin typeface="Calibri"/>
                <a:ea typeface="Calibri"/>
              </a:rPr>
              <a:t>직접 실행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" name=""/>
          <p:cNvSpPr/>
          <p:nvPr/>
        </p:nvSpPr>
        <p:spPr>
          <a:xfrm>
            <a:off x="8420040" y="2286000"/>
            <a:ext cx="2944440" cy="25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Interface</a:t>
            </a: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를 등록한 뒤 </a:t>
            </a: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Publish, Call,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Goal </a:t>
            </a: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실행 결과와 </a:t>
            </a: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history</a:t>
            </a: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를 확인합니다</a:t>
            </a: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" name=""/>
          <p:cNvSpPr/>
          <p:nvPr/>
        </p:nvSpPr>
        <p:spPr>
          <a:xfrm>
            <a:off x="800280" y="5391000"/>
            <a:ext cx="10583640" cy="58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72b3a"/>
                </a:solidFill>
                <a:latin typeface="Calibri"/>
                <a:ea typeface="Calibri"/>
              </a:rPr>
              <a:t>Node = </a:t>
            </a:r>
            <a:r>
              <a:rPr b="1" lang="ko-KR" sz="1200" spc="-1" strike="noStrike">
                <a:solidFill>
                  <a:srgbClr val="172b3a"/>
                </a:solidFill>
                <a:latin typeface="Calibri"/>
                <a:ea typeface="Calibri"/>
              </a:rPr>
              <a:t>기능을 수행하는 실행 단위   </a:t>
            </a:r>
            <a:r>
              <a:rPr b="1" lang="en-US" sz="1200" spc="-1" strike="noStrike">
                <a:solidFill>
                  <a:srgbClr val="172b3a"/>
                </a:solidFill>
                <a:latin typeface="Calibri"/>
                <a:ea typeface="Calibri"/>
              </a:rPr>
              <a:t>·   Topic = </a:t>
            </a:r>
            <a:r>
              <a:rPr b="1" lang="ko-KR" sz="1200" spc="-1" strike="noStrike">
                <a:solidFill>
                  <a:srgbClr val="172b3a"/>
                </a:solidFill>
                <a:latin typeface="Calibri"/>
                <a:ea typeface="Calibri"/>
              </a:rPr>
              <a:t>계속 전달되는 채널   </a:t>
            </a:r>
            <a:r>
              <a:rPr b="1" lang="en-US" sz="1200" spc="-1" strike="noStrike">
                <a:solidFill>
                  <a:srgbClr val="172b3a"/>
                </a:solidFill>
                <a:latin typeface="Calibri"/>
                <a:ea typeface="Calibri"/>
              </a:rPr>
              <a:t>·   Service = </a:t>
            </a:r>
            <a:r>
              <a:rPr b="1" lang="ko-KR" sz="1200" spc="-1" strike="noStrike">
                <a:solidFill>
                  <a:srgbClr val="172b3a"/>
                </a:solidFill>
                <a:latin typeface="Calibri"/>
                <a:ea typeface="Calibri"/>
              </a:rPr>
              <a:t>요청 </a:t>
            </a:r>
            <a:r>
              <a:rPr b="1" lang="en-US" sz="1200" spc="-1" strike="noStrike">
                <a:solidFill>
                  <a:srgbClr val="172b3a"/>
                </a:solidFill>
                <a:latin typeface="Calibri"/>
                <a:ea typeface="Calibri"/>
              </a:rPr>
              <a:t>1</a:t>
            </a:r>
            <a:r>
              <a:rPr b="1" lang="ko-KR" sz="1200" spc="-1" strike="noStrike">
                <a:solidFill>
                  <a:srgbClr val="172b3a"/>
                </a:solidFill>
                <a:latin typeface="Calibri"/>
                <a:ea typeface="Calibri"/>
              </a:rPr>
              <a:t>회 </a:t>
            </a:r>
            <a:r>
              <a:rPr b="1" lang="en-US" sz="1200" spc="-1" strike="noStrike">
                <a:solidFill>
                  <a:srgbClr val="172b3a"/>
                </a:solidFill>
                <a:latin typeface="Calibri"/>
                <a:ea typeface="Calibri"/>
              </a:rPr>
              <a:t>+ </a:t>
            </a:r>
            <a:r>
              <a:rPr b="1" lang="ko-KR" sz="1200" spc="-1" strike="noStrike">
                <a:solidFill>
                  <a:srgbClr val="172b3a"/>
                </a:solidFill>
                <a:latin typeface="Calibri"/>
                <a:ea typeface="Calibri"/>
              </a:rPr>
              <a:t>응답 </a:t>
            </a:r>
            <a:r>
              <a:rPr b="1" lang="en-US" sz="1200" spc="-1" strike="noStrike">
                <a:solidFill>
                  <a:srgbClr val="172b3a"/>
                </a:solidFill>
                <a:latin typeface="Calibri"/>
                <a:ea typeface="Calibri"/>
              </a:rPr>
              <a:t>1</a:t>
            </a:r>
            <a:r>
              <a:rPr b="1" lang="ko-KR" sz="1200" spc="-1" strike="noStrike">
                <a:solidFill>
                  <a:srgbClr val="172b3a"/>
                </a:solidFill>
                <a:latin typeface="Calibri"/>
                <a:ea typeface="Calibri"/>
              </a:rPr>
              <a:t>회   </a:t>
            </a:r>
            <a:r>
              <a:rPr b="1" lang="en-US" sz="1200" spc="-1" strike="noStrike">
                <a:solidFill>
                  <a:srgbClr val="172b3a"/>
                </a:solidFill>
                <a:latin typeface="Calibri"/>
                <a:ea typeface="Calibri"/>
              </a:rPr>
              <a:t>·   Action = </a:t>
            </a:r>
            <a:r>
              <a:rPr b="1" lang="ko-KR" sz="1200" spc="-1" strike="noStrike">
                <a:solidFill>
                  <a:srgbClr val="172b3a"/>
                </a:solidFill>
                <a:latin typeface="Calibri"/>
                <a:ea typeface="Calibri"/>
              </a:rPr>
              <a:t>진행 상황이 있는 작업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" name=""/>
          <p:cNvSpPr/>
          <p:nvPr/>
        </p:nvSpPr>
        <p:spPr>
          <a:xfrm>
            <a:off x="609480" y="6476760"/>
            <a:ext cx="10972800" cy="360"/>
          </a:xfrm>
          <a:prstGeom prst="line">
            <a:avLst/>
          </a:prstGeom>
          <a:ln w="9360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43" name=""/>
          <p:cNvSpPr/>
          <p:nvPr/>
        </p:nvSpPr>
        <p:spPr>
          <a:xfrm>
            <a:off x="609480" y="6534000"/>
            <a:ext cx="10964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44" name="Rectangle 2"/>
          <p:cNvSpPr/>
          <p:nvPr/>
        </p:nvSpPr>
        <p:spPr>
          <a:xfrm>
            <a:off x="0" y="0"/>
            <a:ext cx="12183840" cy="64800"/>
          </a:xfrm>
          <a:prstGeom prst="rect">
            <a:avLst/>
          </a:prstGeom>
          <a:solidFill>
            <a:srgbClr val="009488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/>
          <p:nvPr/>
        </p:nvSpPr>
        <p:spPr>
          <a:xfrm>
            <a:off x="609480" y="266760"/>
            <a:ext cx="208728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12304a"/>
                </a:solidFill>
                <a:latin typeface="Calibri"/>
                <a:ea typeface="Calibri"/>
              </a:rPr>
              <a:t>MONITORING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" name=""/>
          <p:cNvSpPr/>
          <p:nvPr/>
        </p:nvSpPr>
        <p:spPr>
          <a:xfrm>
            <a:off x="609480" y="552600"/>
            <a:ext cx="1027872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50" spc="-1" strike="noStrike">
                <a:solidFill>
                  <a:srgbClr val="12304a"/>
                </a:solidFill>
                <a:latin typeface="Calibri"/>
                <a:ea typeface="Calibri"/>
              </a:rPr>
              <a:t>ROS2 Graph </a:t>
            </a:r>
            <a:r>
              <a:rPr b="1" lang="ko-KR" sz="2550" spc="-1" strike="noStrike">
                <a:solidFill>
                  <a:srgbClr val="12304a"/>
                </a:solidFill>
                <a:latin typeface="Calibri"/>
                <a:ea typeface="Calibri"/>
              </a:rPr>
              <a:t>상태가 웹 화면까지 전달되는 구조</a:t>
            </a:r>
            <a:endParaRPr b="0" lang="en-US" sz="25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7" name=""/>
          <p:cNvSpPr/>
          <p:nvPr/>
        </p:nvSpPr>
        <p:spPr>
          <a:xfrm>
            <a:off x="609480" y="1047600"/>
            <a:ext cx="10469160" cy="39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Backend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가 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ROS2 Graph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를 주기적으로 수집하고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, cache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를 거쳐 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Frontend 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화면에 출력합니다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. </a:t>
            </a:r>
            <a:endParaRPr b="0" lang="en-US" sz="13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8" name=""/>
          <p:cNvSpPr/>
          <p:nvPr/>
        </p:nvSpPr>
        <p:spPr>
          <a:xfrm>
            <a:off x="11064240" y="292680"/>
            <a:ext cx="49824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r">
              <a:lnSpc>
                <a:spcPct val="100000"/>
              </a:lnSpc>
            </a:pPr>
            <a:r>
              <a:rPr b="1" lang="en-US" sz="850" spc="-1" strike="noStrike">
                <a:solidFill>
                  <a:srgbClr val="5b6e7d"/>
                </a:solidFill>
                <a:latin typeface="Malgun Gothic"/>
                <a:ea typeface="Calibri"/>
              </a:rPr>
              <a:t>03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9" name=""/>
          <p:cNvSpPr/>
          <p:nvPr/>
        </p:nvSpPr>
        <p:spPr>
          <a:xfrm>
            <a:off x="2636280" y="2495520"/>
            <a:ext cx="209520" cy="360"/>
          </a:xfrm>
          <a:prstGeom prst="line">
            <a:avLst/>
          </a:prstGeom>
          <a:ln w="19080">
            <a:solidFill>
              <a:srgbClr val="008b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50" name=""/>
          <p:cNvSpPr/>
          <p:nvPr/>
        </p:nvSpPr>
        <p:spPr>
          <a:xfrm>
            <a:off x="609480" y="2133720"/>
            <a:ext cx="2018520" cy="715680"/>
          </a:xfrm>
          <a:prstGeom prst="roundRect">
            <a:avLst>
              <a:gd name="adj" fmla="val 10526"/>
            </a:avLst>
          </a:prstGeom>
          <a:solidFill>
            <a:srgbClr val="eaf2fb"/>
          </a:solidFill>
          <a:ln w="9360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51" name=""/>
          <p:cNvSpPr/>
          <p:nvPr/>
        </p:nvSpPr>
        <p:spPr>
          <a:xfrm>
            <a:off x="704880" y="2228760"/>
            <a:ext cx="182808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172b3a"/>
                </a:solidFill>
                <a:latin typeface="Calibri"/>
                <a:ea typeface="Calibri"/>
              </a:rPr>
              <a:t>ROS2 Graph</a:t>
            </a:r>
            <a:endParaRPr b="0" lang="en-US" sz="113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30" spc="-1" strike="noStrike">
                <a:solidFill>
                  <a:srgbClr val="172b3a"/>
                </a:solidFill>
                <a:latin typeface="Calibri"/>
                <a:ea typeface="Calibri"/>
              </a:rPr>
              <a:t>현재 통신 관계</a:t>
            </a:r>
            <a:endParaRPr b="0" lang="en-US" sz="11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2" name=""/>
          <p:cNvSpPr/>
          <p:nvPr/>
        </p:nvSpPr>
        <p:spPr>
          <a:xfrm>
            <a:off x="4872960" y="2495520"/>
            <a:ext cx="209520" cy="360"/>
          </a:xfrm>
          <a:prstGeom prst="line">
            <a:avLst/>
          </a:prstGeom>
          <a:ln w="19080">
            <a:solidFill>
              <a:srgbClr val="008b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53" name=""/>
          <p:cNvSpPr/>
          <p:nvPr/>
        </p:nvSpPr>
        <p:spPr>
          <a:xfrm>
            <a:off x="2846160" y="2133720"/>
            <a:ext cx="2018520" cy="715680"/>
          </a:xfrm>
          <a:prstGeom prst="roundRect">
            <a:avLst>
              <a:gd name="adj" fmla="val 10526"/>
            </a:avLst>
          </a:prstGeom>
          <a:solidFill>
            <a:srgbClr val="eaf2fb"/>
          </a:solidFill>
          <a:ln w="9360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54" name=""/>
          <p:cNvSpPr/>
          <p:nvPr/>
        </p:nvSpPr>
        <p:spPr>
          <a:xfrm>
            <a:off x="2941200" y="2228760"/>
            <a:ext cx="182808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000000"/>
                </a:solidFill>
                <a:latin typeface="Calibri"/>
                <a:ea typeface="Calibri"/>
              </a:rPr>
              <a:t>Rclpy Backend Graph </a:t>
            </a:r>
            <a:r>
              <a:rPr b="1" lang="ko-KR" sz="1130" spc="-1" strike="noStrike">
                <a:solidFill>
                  <a:srgbClr val="000000"/>
                </a:solidFill>
                <a:latin typeface="Calibri"/>
                <a:ea typeface="Calibri"/>
              </a:rPr>
              <a:t>조회 </a:t>
            </a:r>
            <a:r>
              <a:rPr b="1" lang="en-US" sz="1130" spc="-1" strike="noStrike">
                <a:solidFill>
                  <a:srgbClr val="000000"/>
                </a:solidFill>
                <a:latin typeface="Calibri"/>
                <a:ea typeface="Calibri"/>
              </a:rPr>
              <a:t>, </a:t>
            </a:r>
            <a:r>
              <a:rPr b="1" lang="ko-KR" sz="1130" spc="-1" strike="noStrike">
                <a:solidFill>
                  <a:srgbClr val="000000"/>
                </a:solidFill>
                <a:latin typeface="Calibri"/>
                <a:ea typeface="Calibri"/>
              </a:rPr>
              <a:t>수집</a:t>
            </a:r>
            <a:endParaRPr b="0" lang="en-US" sz="11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5" name=""/>
          <p:cNvSpPr/>
          <p:nvPr/>
        </p:nvSpPr>
        <p:spPr>
          <a:xfrm>
            <a:off x="7109280" y="2495520"/>
            <a:ext cx="209520" cy="360"/>
          </a:xfrm>
          <a:prstGeom prst="line">
            <a:avLst/>
          </a:prstGeom>
          <a:ln w="19080">
            <a:solidFill>
              <a:srgbClr val="008b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56" name=""/>
          <p:cNvSpPr/>
          <p:nvPr/>
        </p:nvSpPr>
        <p:spPr>
          <a:xfrm>
            <a:off x="5082480" y="2133720"/>
            <a:ext cx="2018520" cy="715680"/>
          </a:xfrm>
          <a:prstGeom prst="roundRect">
            <a:avLst>
              <a:gd name="adj" fmla="val 10526"/>
            </a:avLst>
          </a:prstGeom>
          <a:solidFill>
            <a:srgbClr val="eef2f6"/>
          </a:solidFill>
          <a:ln w="9360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57" name=""/>
          <p:cNvSpPr/>
          <p:nvPr/>
        </p:nvSpPr>
        <p:spPr>
          <a:xfrm>
            <a:off x="5177880" y="2228760"/>
            <a:ext cx="182808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172b3a"/>
                </a:solidFill>
                <a:latin typeface="Calibri"/>
                <a:ea typeface="Calibri"/>
              </a:rPr>
              <a:t>Runtime cache</a:t>
            </a:r>
            <a:endParaRPr b="0" lang="en-US" sz="113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30" spc="-1" strike="noStrike">
                <a:solidFill>
                  <a:srgbClr val="172b3a"/>
                </a:solidFill>
                <a:latin typeface="Calibri"/>
                <a:ea typeface="Calibri"/>
              </a:rPr>
              <a:t>최신 상태 보관</a:t>
            </a:r>
            <a:endParaRPr b="0" lang="en-US" sz="11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8" name=""/>
          <p:cNvSpPr/>
          <p:nvPr/>
        </p:nvSpPr>
        <p:spPr>
          <a:xfrm>
            <a:off x="9345600" y="2495520"/>
            <a:ext cx="209880" cy="360"/>
          </a:xfrm>
          <a:prstGeom prst="line">
            <a:avLst/>
          </a:prstGeom>
          <a:ln w="19080">
            <a:solidFill>
              <a:srgbClr val="008b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59" name=""/>
          <p:cNvSpPr/>
          <p:nvPr/>
        </p:nvSpPr>
        <p:spPr>
          <a:xfrm>
            <a:off x="7319160" y="2133720"/>
            <a:ext cx="2018520" cy="715680"/>
          </a:xfrm>
          <a:prstGeom prst="roundRect">
            <a:avLst>
              <a:gd name="adj" fmla="val 10526"/>
            </a:avLst>
          </a:prstGeom>
          <a:solidFill>
            <a:srgbClr val="e6f6f3"/>
          </a:solidFill>
          <a:ln w="9360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60" name=""/>
          <p:cNvSpPr/>
          <p:nvPr/>
        </p:nvSpPr>
        <p:spPr>
          <a:xfrm>
            <a:off x="7414200" y="2228760"/>
            <a:ext cx="182808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172b3a"/>
                </a:solidFill>
                <a:latin typeface="Calibri"/>
                <a:ea typeface="Calibri"/>
              </a:rPr>
              <a:t>REST / WebSocket </a:t>
            </a:r>
            <a:br>
              <a:rPr sz="1130"/>
            </a:br>
            <a:r>
              <a:rPr b="1" lang="ko-KR" sz="1130" spc="-1" strike="noStrike">
                <a:solidFill>
                  <a:srgbClr val="172b3a"/>
                </a:solidFill>
                <a:latin typeface="Calibri"/>
                <a:ea typeface="Calibri"/>
              </a:rPr>
              <a:t>조회 결과 전달</a:t>
            </a:r>
            <a:endParaRPr b="0" lang="en-US" sz="11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1" name=""/>
          <p:cNvSpPr/>
          <p:nvPr/>
        </p:nvSpPr>
        <p:spPr>
          <a:xfrm>
            <a:off x="9555480" y="2133720"/>
            <a:ext cx="2018520" cy="715680"/>
          </a:xfrm>
          <a:prstGeom prst="roundRect">
            <a:avLst>
              <a:gd name="adj" fmla="val 10526"/>
            </a:avLst>
          </a:prstGeom>
          <a:solidFill>
            <a:srgbClr val="e6f6f3"/>
          </a:solidFill>
          <a:ln w="9360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62" name=""/>
          <p:cNvSpPr/>
          <p:nvPr/>
        </p:nvSpPr>
        <p:spPr>
          <a:xfrm>
            <a:off x="9650880" y="2228760"/>
            <a:ext cx="182808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172b3a"/>
                </a:solidFill>
                <a:latin typeface="Calibri"/>
                <a:ea typeface="Calibri"/>
              </a:rPr>
              <a:t>React Frontend </a:t>
            </a:r>
            <a:r>
              <a:rPr b="1" lang="ko-KR" sz="1130" spc="-1" strike="noStrike">
                <a:solidFill>
                  <a:srgbClr val="172b3a"/>
                </a:solidFill>
                <a:latin typeface="Calibri"/>
                <a:ea typeface="Calibri"/>
              </a:rPr>
              <a:t>목록 </a:t>
            </a:r>
            <a:r>
              <a:rPr b="1" lang="en-US" sz="1130" spc="-1" strike="noStrike">
                <a:solidFill>
                  <a:srgbClr val="172b3a"/>
                </a:solidFill>
                <a:latin typeface="Calibri"/>
                <a:ea typeface="Calibri"/>
              </a:rPr>
              <a:t>, </a:t>
            </a:r>
            <a:r>
              <a:rPr b="1" lang="ko-KR" sz="1130" spc="-1" strike="noStrike">
                <a:solidFill>
                  <a:srgbClr val="172b3a"/>
                </a:solidFill>
                <a:latin typeface="Calibri"/>
                <a:ea typeface="Calibri"/>
              </a:rPr>
              <a:t>상세 </a:t>
            </a:r>
            <a:r>
              <a:rPr b="1" lang="en-US" sz="1130" spc="-1" strike="noStrike">
                <a:solidFill>
                  <a:srgbClr val="172b3a"/>
                </a:solidFill>
                <a:latin typeface="Calibri"/>
                <a:ea typeface="Calibri"/>
              </a:rPr>
              <a:t>,</a:t>
            </a:r>
            <a:r>
              <a:rPr b="1" lang="ko-KR" sz="1130" spc="-1" strike="noStrike">
                <a:solidFill>
                  <a:srgbClr val="172b3a"/>
                </a:solidFill>
                <a:latin typeface="Calibri"/>
                <a:ea typeface="Calibri"/>
              </a:rPr>
              <a:t>시각화</a:t>
            </a:r>
            <a:endParaRPr b="0" lang="en-US" sz="11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3" name=""/>
          <p:cNvSpPr/>
          <p:nvPr/>
        </p:nvSpPr>
        <p:spPr>
          <a:xfrm>
            <a:off x="723960" y="3390840"/>
            <a:ext cx="3268440" cy="16110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360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64" name=""/>
          <p:cNvSpPr/>
          <p:nvPr/>
        </p:nvSpPr>
        <p:spPr>
          <a:xfrm>
            <a:off x="723960" y="3390840"/>
            <a:ext cx="58320" cy="1611000"/>
          </a:xfrm>
          <a:prstGeom prst="rect">
            <a:avLst/>
          </a:prstGeom>
          <a:solidFill>
            <a:srgbClr val="12304a"/>
          </a:solidFill>
          <a:ln w="9360">
            <a:solidFill>
              <a:srgbClr val="1230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Noto Sans CJK KR"/>
              <a:ea typeface="Calibri"/>
            </a:endParaRPr>
          </a:p>
        </p:txBody>
      </p:sp>
      <p:sp>
        <p:nvSpPr>
          <p:cNvPr id="65" name=""/>
          <p:cNvSpPr/>
          <p:nvPr/>
        </p:nvSpPr>
        <p:spPr>
          <a:xfrm>
            <a:off x="952560" y="3543480"/>
            <a:ext cx="288720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500" spc="-1" strike="noStrike">
                <a:solidFill>
                  <a:srgbClr val="12304a"/>
                </a:solidFill>
                <a:latin typeface="Calibri"/>
                <a:ea typeface="Calibri"/>
              </a:rPr>
              <a:t>왜 </a:t>
            </a:r>
            <a:r>
              <a:rPr b="1" lang="en-US" sz="1500" spc="-1" strike="noStrike">
                <a:solidFill>
                  <a:srgbClr val="12304a"/>
                </a:solidFill>
                <a:latin typeface="Calibri"/>
                <a:ea typeface="Calibri"/>
              </a:rPr>
              <a:t>cache</a:t>
            </a:r>
            <a:r>
              <a:rPr b="1" lang="ko-KR" sz="1500" spc="-1" strike="noStrike">
                <a:solidFill>
                  <a:srgbClr val="12304a"/>
                </a:solidFill>
                <a:latin typeface="Calibri"/>
                <a:ea typeface="Calibri"/>
              </a:rPr>
              <a:t>를 쓰나</a:t>
            </a:r>
            <a:r>
              <a:rPr b="1" lang="en-US" sz="1500" spc="-1" strike="noStrike">
                <a:solidFill>
                  <a:srgbClr val="12304a"/>
                </a:solidFill>
                <a:latin typeface="Calibri"/>
                <a:ea typeface="Calibri"/>
              </a:rPr>
              <a:t>?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6" name=""/>
          <p:cNvSpPr/>
          <p:nvPr/>
        </p:nvSpPr>
        <p:spPr>
          <a:xfrm>
            <a:off x="952560" y="3886200"/>
            <a:ext cx="2887200" cy="100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화면 요청마다 </a:t>
            </a: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ROS2</a:t>
            </a: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를 다시 스캔하지 않고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이미 모은 최신 상태를 빠르게 반환합니다</a:t>
            </a: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7" name=""/>
          <p:cNvSpPr/>
          <p:nvPr/>
        </p:nvSpPr>
        <p:spPr>
          <a:xfrm>
            <a:off x="4457880" y="3390840"/>
            <a:ext cx="3268440" cy="16110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360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68" name=""/>
          <p:cNvSpPr/>
          <p:nvPr/>
        </p:nvSpPr>
        <p:spPr>
          <a:xfrm>
            <a:off x="4457880" y="3390840"/>
            <a:ext cx="58320" cy="1611000"/>
          </a:xfrm>
          <a:prstGeom prst="rect">
            <a:avLst/>
          </a:prstGeom>
          <a:solidFill>
            <a:srgbClr val="7568b4"/>
          </a:solidFill>
          <a:ln w="9360">
            <a:solidFill>
              <a:srgbClr val="7568b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Noto Sans CJK KR"/>
              <a:ea typeface="Calibri"/>
            </a:endParaRPr>
          </a:p>
        </p:txBody>
      </p:sp>
      <p:sp>
        <p:nvSpPr>
          <p:cNvPr id="69" name=""/>
          <p:cNvSpPr/>
          <p:nvPr/>
        </p:nvSpPr>
        <p:spPr>
          <a:xfrm>
            <a:off x="4686480" y="3543480"/>
            <a:ext cx="288720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2304a"/>
                </a:solidFill>
                <a:latin typeface="Calibri"/>
                <a:ea typeface="Calibri"/>
              </a:rPr>
              <a:t>REST</a:t>
            </a:r>
            <a:r>
              <a:rPr b="1" lang="ko-KR" sz="1500" spc="-1" strike="noStrike">
                <a:solidFill>
                  <a:srgbClr val="12304a"/>
                </a:solidFill>
                <a:latin typeface="Calibri"/>
                <a:ea typeface="Calibri"/>
              </a:rPr>
              <a:t>의 역할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0" name=""/>
          <p:cNvSpPr/>
          <p:nvPr/>
        </p:nvSpPr>
        <p:spPr>
          <a:xfrm>
            <a:off x="4686480" y="3886200"/>
            <a:ext cx="2887200" cy="100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Topic·Service·Action·Node</a:t>
            </a: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의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상세 목록과 </a:t>
            </a: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snapshot</a:t>
            </a: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을 전달합니다</a:t>
            </a: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1" name=""/>
          <p:cNvSpPr/>
          <p:nvPr/>
        </p:nvSpPr>
        <p:spPr>
          <a:xfrm>
            <a:off x="8191440" y="3390840"/>
            <a:ext cx="3268440" cy="16110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360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72" name=""/>
          <p:cNvSpPr/>
          <p:nvPr/>
        </p:nvSpPr>
        <p:spPr>
          <a:xfrm>
            <a:off x="8191440" y="3390840"/>
            <a:ext cx="58320" cy="1611000"/>
          </a:xfrm>
          <a:prstGeom prst="rect">
            <a:avLst/>
          </a:prstGeom>
          <a:solidFill>
            <a:srgbClr val="008b8b"/>
          </a:solidFill>
          <a:ln w="9360">
            <a:solidFill>
              <a:srgbClr val="008b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Noto Sans CJK KR"/>
              <a:ea typeface="Calibri"/>
            </a:endParaRPr>
          </a:p>
        </p:txBody>
      </p:sp>
      <p:sp>
        <p:nvSpPr>
          <p:cNvPr id="73" name=""/>
          <p:cNvSpPr/>
          <p:nvPr/>
        </p:nvSpPr>
        <p:spPr>
          <a:xfrm>
            <a:off x="8420040" y="3543480"/>
            <a:ext cx="288720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2304a"/>
                </a:solidFill>
                <a:latin typeface="Calibri"/>
                <a:ea typeface="Calibri"/>
              </a:rPr>
              <a:t>WebSocket</a:t>
            </a:r>
            <a:r>
              <a:rPr b="1" lang="ko-KR" sz="1500" spc="-1" strike="noStrike">
                <a:solidFill>
                  <a:srgbClr val="12304a"/>
                </a:solidFill>
                <a:latin typeface="Calibri"/>
                <a:ea typeface="Calibri"/>
              </a:rPr>
              <a:t>의 역할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4" name=""/>
          <p:cNvSpPr/>
          <p:nvPr/>
        </p:nvSpPr>
        <p:spPr>
          <a:xfrm>
            <a:off x="8420040" y="3886200"/>
            <a:ext cx="2887200" cy="100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연결 상태와 </a:t>
            </a: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Alert count </a:t>
            </a: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같은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가벼운 요약을 보조 전달합니다</a:t>
            </a:r>
            <a:r>
              <a:rPr b="0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5" name=""/>
          <p:cNvSpPr/>
          <p:nvPr/>
        </p:nvSpPr>
        <p:spPr>
          <a:xfrm>
            <a:off x="609480" y="6476760"/>
            <a:ext cx="10972800" cy="360"/>
          </a:xfrm>
          <a:prstGeom prst="line">
            <a:avLst/>
          </a:prstGeom>
          <a:ln w="9360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76" name=""/>
          <p:cNvSpPr/>
          <p:nvPr/>
        </p:nvSpPr>
        <p:spPr>
          <a:xfrm>
            <a:off x="609480" y="6534000"/>
            <a:ext cx="10964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750" spc="-1" strike="noStrike">
                <a:solidFill>
                  <a:srgbClr val="5b6b78"/>
                </a:solidFill>
                <a:latin typeface="Calibri"/>
                <a:ea typeface="Calibri"/>
              </a:rPr>
              <a:t>근거</a:t>
            </a:r>
            <a:r>
              <a:rPr b="0" lang="en-US" sz="750" spc="-1" strike="noStrike">
                <a:solidFill>
                  <a:srgbClr val="5b6b78"/>
                </a:solidFill>
                <a:latin typeface="Calibri"/>
                <a:ea typeface="Calibri"/>
              </a:rPr>
              <a:t>: main.py · ros_monitor.py · routers/monitoring.py · 02_backend_flow.md · 08_websocket_flow.md</a:t>
            </a:r>
            <a:endParaRPr b="0" lang="en-US" sz="7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7" name="Rectangle 3"/>
          <p:cNvSpPr/>
          <p:nvPr/>
        </p:nvSpPr>
        <p:spPr>
          <a:xfrm>
            <a:off x="0" y="0"/>
            <a:ext cx="12183840" cy="64800"/>
          </a:xfrm>
          <a:prstGeom prst="rect">
            <a:avLst/>
          </a:prstGeom>
          <a:solidFill>
            <a:srgbClr val="009488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11"/>
          <p:cNvSpPr/>
          <p:nvPr/>
        </p:nvSpPr>
        <p:spPr>
          <a:xfrm>
            <a:off x="1230480" y="320040"/>
            <a:ext cx="9568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022948"/>
                </a:solidFill>
                <a:latin typeface="Malgun Gothic"/>
                <a:ea typeface="Calibri"/>
              </a:rPr>
              <a:t>ARCHITECTURE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9" name="TextBox 14"/>
          <p:cNvSpPr/>
          <p:nvPr/>
        </p:nvSpPr>
        <p:spPr>
          <a:xfrm>
            <a:off x="11161800" y="297360"/>
            <a:ext cx="3060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r">
              <a:lnSpc>
                <a:spcPct val="100000"/>
              </a:lnSpc>
            </a:pPr>
            <a:r>
              <a:rPr b="1" lang="en-US" sz="850" spc="-1" strike="noStrike">
                <a:solidFill>
                  <a:srgbClr val="5b6e7d"/>
                </a:solidFill>
                <a:latin typeface="Malgun Gothic"/>
                <a:ea typeface="Calibri"/>
              </a:rPr>
              <a:t>04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0" name="TextBox 30"/>
          <p:cNvSpPr/>
          <p:nvPr/>
        </p:nvSpPr>
        <p:spPr>
          <a:xfrm>
            <a:off x="4386240" y="576000"/>
            <a:ext cx="3425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ko-KR" sz="2400" spc="-1" strike="noStrike">
                <a:solidFill>
                  <a:srgbClr val="022948"/>
                </a:solidFill>
                <a:latin typeface="Malgun Gothic"/>
                <a:ea typeface="Calibri"/>
              </a:rPr>
              <a:t>사용 기술 스택과 사용 목적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1" name="TextBox 32"/>
          <p:cNvSpPr/>
          <p:nvPr/>
        </p:nvSpPr>
        <p:spPr>
          <a:xfrm>
            <a:off x="2445840" y="1080000"/>
            <a:ext cx="7308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Backend</a:t>
            </a:r>
            <a:r>
              <a:rPr b="0" lang="ko-KR" sz="1800" spc="-1" strike="noStrike">
                <a:solidFill>
                  <a:srgbClr val="000000"/>
                </a:solidFill>
                <a:latin typeface="Calibri"/>
                <a:ea typeface="Calibri"/>
              </a:rPr>
              <a:t>와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Frontend</a:t>
            </a:r>
            <a:r>
              <a:rPr b="0" lang="ko-KR" sz="1800" spc="-1" strike="noStrike">
                <a:solidFill>
                  <a:srgbClr val="000000"/>
                </a:solidFill>
                <a:latin typeface="Calibri"/>
                <a:ea typeface="Calibri"/>
              </a:rPr>
              <a:t>에 사용한 핵심 기술과 각 기술의 역할을 정리했습니다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2" name="Rectangle 82"/>
          <p:cNvSpPr/>
          <p:nvPr/>
        </p:nvSpPr>
        <p:spPr>
          <a:xfrm>
            <a:off x="521640" y="1440000"/>
            <a:ext cx="10997640" cy="1503000"/>
          </a:xfrm>
          <a:prstGeom prst="rect">
            <a:avLst/>
          </a:prstGeom>
          <a:solidFill>
            <a:srgbClr val="ffffff"/>
          </a:solidFill>
          <a:ln w="12600">
            <a:solidFill>
              <a:srgbClr val="c8d6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83" name="Rectangle 83"/>
          <p:cNvSpPr/>
          <p:nvPr/>
        </p:nvSpPr>
        <p:spPr>
          <a:xfrm>
            <a:off x="696960" y="1486080"/>
            <a:ext cx="10997640" cy="497160"/>
          </a:xfrm>
          <a:prstGeom prst="rect">
            <a:avLst/>
          </a:prstGeom>
          <a:solidFill>
            <a:srgbClr val="f6f9fc"/>
          </a:solidFill>
          <a:ln w="12600">
            <a:solidFill>
              <a:srgbClr val="c8d6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84" name="Rectangle 84"/>
          <p:cNvSpPr/>
          <p:nvPr/>
        </p:nvSpPr>
        <p:spPr>
          <a:xfrm>
            <a:off x="696960" y="1980000"/>
            <a:ext cx="10997640" cy="3240"/>
          </a:xfrm>
          <a:prstGeom prst="rect">
            <a:avLst/>
          </a:prstGeom>
          <a:solidFill>
            <a:srgbClr val="c8d6e2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85" name="Rectangle 85"/>
          <p:cNvSpPr/>
          <p:nvPr/>
        </p:nvSpPr>
        <p:spPr>
          <a:xfrm>
            <a:off x="696960" y="2460600"/>
            <a:ext cx="10997640" cy="3240"/>
          </a:xfrm>
          <a:prstGeom prst="rect">
            <a:avLst/>
          </a:prstGeom>
          <a:solidFill>
            <a:srgbClr val="c8d6e2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86" name="Rectangle 86"/>
          <p:cNvSpPr/>
          <p:nvPr/>
        </p:nvSpPr>
        <p:spPr>
          <a:xfrm>
            <a:off x="2011680" y="1463040"/>
            <a:ext cx="3240" cy="1503000"/>
          </a:xfrm>
          <a:prstGeom prst="rect">
            <a:avLst/>
          </a:prstGeom>
          <a:solidFill>
            <a:srgbClr val="c8d6e2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87" name="TextBox 87"/>
          <p:cNvSpPr/>
          <p:nvPr/>
        </p:nvSpPr>
        <p:spPr>
          <a:xfrm>
            <a:off x="1098360" y="1613520"/>
            <a:ext cx="3013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ko-KR" sz="1300" spc="-1" strike="noStrike">
                <a:solidFill>
                  <a:srgbClr val="000000"/>
                </a:solidFill>
                <a:latin typeface="Calibri"/>
                <a:ea typeface="Calibri"/>
              </a:rPr>
              <a:t>구분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5473800" y="1613520"/>
            <a:ext cx="65052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ko-KR" sz="1300" spc="-1" strike="noStrike">
                <a:solidFill>
                  <a:srgbClr val="000000"/>
                </a:solidFill>
                <a:latin typeface="Calibri"/>
                <a:ea typeface="Calibri"/>
              </a:rPr>
              <a:t>기술 스택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9" name="TextBox 89"/>
          <p:cNvSpPr/>
          <p:nvPr/>
        </p:nvSpPr>
        <p:spPr>
          <a:xfrm>
            <a:off x="1002960" y="2124360"/>
            <a:ext cx="6123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Backend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0" name="TextBox 90"/>
          <p:cNvSpPr/>
          <p:nvPr/>
        </p:nvSpPr>
        <p:spPr>
          <a:xfrm>
            <a:off x="982440" y="2627280"/>
            <a:ext cx="6534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  <a:ea typeface="Calibri"/>
              </a:rPr>
              <a:t>Frontend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1" name="Rectangle 101"/>
          <p:cNvSpPr/>
          <p:nvPr/>
        </p:nvSpPr>
        <p:spPr>
          <a:xfrm>
            <a:off x="594360" y="3780000"/>
            <a:ext cx="67320" cy="2154960"/>
          </a:xfrm>
          <a:prstGeom prst="rect">
            <a:avLst/>
          </a:prstGeom>
          <a:solidFill>
            <a:srgbClr val="0a9e9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92" name="TextBox 103"/>
          <p:cNvSpPr/>
          <p:nvPr/>
        </p:nvSpPr>
        <p:spPr>
          <a:xfrm>
            <a:off x="2000160" y="3823560"/>
            <a:ext cx="3144600" cy="3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en-US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Topic, Service, Action, Node </a:t>
            </a: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로 구성된</a:t>
            </a:r>
            <a:br>
              <a:rPr sz="1150"/>
            </a:b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로봇 통신 환경 플랫폼</a:t>
            </a:r>
            <a:endParaRPr b="0" lang="en-US" sz="11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3" name="TextBox 105"/>
          <p:cNvSpPr/>
          <p:nvPr/>
        </p:nvSpPr>
        <p:spPr>
          <a:xfrm>
            <a:off x="2000160" y="4350960"/>
            <a:ext cx="3144600" cy="1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실행중인 </a:t>
            </a:r>
            <a:r>
              <a:rPr b="0" lang="en-US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ROS2</a:t>
            </a: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리소스와 연결관계를 조회</a:t>
            </a:r>
            <a:endParaRPr b="0" lang="en-US" sz="11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4" name="TextBox 107"/>
          <p:cNvSpPr/>
          <p:nvPr/>
        </p:nvSpPr>
        <p:spPr>
          <a:xfrm>
            <a:off x="2000160" y="4790880"/>
            <a:ext cx="3144600" cy="1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en-US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Python </a:t>
            </a: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환경에서 </a:t>
            </a:r>
            <a:r>
              <a:rPr b="0" lang="en-US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ROS2 Node, Subscription </a:t>
            </a: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구성</a:t>
            </a:r>
            <a:endParaRPr b="0" lang="en-US" sz="11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5" name="TextBox 109"/>
          <p:cNvSpPr/>
          <p:nvPr/>
        </p:nvSpPr>
        <p:spPr>
          <a:xfrm>
            <a:off x="1980000" y="5223240"/>
            <a:ext cx="3144600" cy="1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수집된 </a:t>
            </a:r>
            <a:r>
              <a:rPr b="0" lang="en-US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ROS2 </a:t>
            </a: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상태와 기능을 </a:t>
            </a:r>
            <a:r>
              <a:rPr b="0" lang="en-US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Front</a:t>
            </a: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에 제공</a:t>
            </a:r>
            <a:endParaRPr b="0" lang="en-US" sz="11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6" name="TextBox 111"/>
          <p:cNvSpPr/>
          <p:nvPr/>
        </p:nvSpPr>
        <p:spPr>
          <a:xfrm>
            <a:off x="7250040" y="3911040"/>
            <a:ext cx="3394440" cy="1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연결 상태와 </a:t>
            </a:r>
            <a:r>
              <a:rPr b="0" lang="en-US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Alert </a:t>
            </a: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요약을 실시간 전달하는 통신채널</a:t>
            </a:r>
            <a:endParaRPr b="0" lang="en-US" sz="11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7" name="TextBox 113"/>
          <p:cNvSpPr/>
          <p:nvPr/>
        </p:nvSpPr>
        <p:spPr>
          <a:xfrm>
            <a:off x="7250040" y="4350960"/>
            <a:ext cx="3394440" cy="1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en-US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ROS2 </a:t>
            </a: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상태를 실시간 반영하기 위한 동적 </a:t>
            </a:r>
            <a:r>
              <a:rPr b="0" lang="en-US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UI </a:t>
            </a: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구성</a:t>
            </a:r>
            <a:endParaRPr b="0" lang="en-US" sz="11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8" name="TextBox 115"/>
          <p:cNvSpPr/>
          <p:nvPr/>
        </p:nvSpPr>
        <p:spPr>
          <a:xfrm>
            <a:off x="7250040" y="4790880"/>
            <a:ext cx="3394440" cy="1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en-US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React </a:t>
            </a: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개발 환경 단순화 및 빠른 화면 수정 과 실행</a:t>
            </a:r>
            <a:endParaRPr b="0" lang="en-US" sz="11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9" name="TextBox 117"/>
          <p:cNvSpPr/>
          <p:nvPr/>
        </p:nvSpPr>
        <p:spPr>
          <a:xfrm>
            <a:off x="7250040" y="5231160"/>
            <a:ext cx="3394440" cy="1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en-US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Node</a:t>
            </a: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와 통신 관계를 확대</a:t>
            </a:r>
            <a:r>
              <a:rPr b="0" lang="en-US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,</a:t>
            </a: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이동 가능한 그래프로 시각화</a:t>
            </a:r>
            <a:endParaRPr b="0" lang="en-US" sz="115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00" name="Picture 101" descr="image.png"/>
          <p:cNvPicPr/>
          <p:nvPr/>
        </p:nvPicPr>
        <p:blipFill>
          <a:blip r:embed="rId1"/>
          <a:stretch/>
        </p:blipFill>
        <p:spPr>
          <a:xfrm>
            <a:off x="2180160" y="2070000"/>
            <a:ext cx="754560" cy="294480"/>
          </a:xfrm>
          <a:prstGeom prst="rect">
            <a:avLst/>
          </a:prstGeom>
          <a:ln w="0">
            <a:noFill/>
          </a:ln>
        </p:spPr>
      </p:pic>
      <p:pic>
        <p:nvPicPr>
          <p:cNvPr id="101" name="Picture 102" descr="image.png"/>
          <p:cNvPicPr/>
          <p:nvPr/>
        </p:nvPicPr>
        <p:blipFill>
          <a:blip r:embed="rId2"/>
          <a:stretch/>
        </p:blipFill>
        <p:spPr>
          <a:xfrm>
            <a:off x="2234160" y="2139120"/>
            <a:ext cx="156600" cy="156600"/>
          </a:xfrm>
          <a:prstGeom prst="rect">
            <a:avLst/>
          </a:prstGeom>
          <a:ln w="0">
            <a:noFill/>
          </a:ln>
        </p:spPr>
      </p:pic>
      <p:sp>
        <p:nvSpPr>
          <p:cNvPr id="102" name="TextBox 34"/>
          <p:cNvSpPr/>
          <p:nvPr/>
        </p:nvSpPr>
        <p:spPr>
          <a:xfrm>
            <a:off x="2504160" y="2142360"/>
            <a:ext cx="3258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Calibri"/>
              </a:rPr>
              <a:t>ROS2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03" name="Picture 104" descr="image.png"/>
          <p:cNvPicPr/>
          <p:nvPr/>
        </p:nvPicPr>
        <p:blipFill>
          <a:blip r:embed="rId3"/>
          <a:stretch/>
        </p:blipFill>
        <p:spPr>
          <a:xfrm>
            <a:off x="3049920" y="2070000"/>
            <a:ext cx="1144440" cy="294480"/>
          </a:xfrm>
          <a:prstGeom prst="rect">
            <a:avLst/>
          </a:prstGeom>
          <a:ln w="0">
            <a:noFill/>
          </a:ln>
        </p:spPr>
      </p:pic>
      <p:pic>
        <p:nvPicPr>
          <p:cNvPr id="104" name="Picture 105" descr="image.png"/>
          <p:cNvPicPr/>
          <p:nvPr/>
        </p:nvPicPr>
        <p:blipFill>
          <a:blip r:embed="rId4"/>
          <a:stretch/>
        </p:blipFill>
        <p:spPr>
          <a:xfrm>
            <a:off x="3103920" y="2139120"/>
            <a:ext cx="156600" cy="156600"/>
          </a:xfrm>
          <a:prstGeom prst="rect">
            <a:avLst/>
          </a:prstGeom>
          <a:ln w="0">
            <a:noFill/>
          </a:ln>
        </p:spPr>
      </p:pic>
      <p:sp>
        <p:nvSpPr>
          <p:cNvPr id="105" name="TextBox 106"/>
          <p:cNvSpPr/>
          <p:nvPr/>
        </p:nvSpPr>
        <p:spPr>
          <a:xfrm>
            <a:off x="3388680" y="2142360"/>
            <a:ext cx="6868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Calibri"/>
              </a:rPr>
              <a:t>GRAPH API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06" name="Picture 107" descr="image.png"/>
          <p:cNvPicPr/>
          <p:nvPr/>
        </p:nvPicPr>
        <p:blipFill>
          <a:blip r:embed="rId5"/>
          <a:stretch/>
        </p:blipFill>
        <p:spPr>
          <a:xfrm>
            <a:off x="4309920" y="2070000"/>
            <a:ext cx="814680" cy="294480"/>
          </a:xfrm>
          <a:prstGeom prst="rect">
            <a:avLst/>
          </a:prstGeom>
          <a:ln w="0">
            <a:noFill/>
          </a:ln>
        </p:spPr>
      </p:pic>
      <p:pic>
        <p:nvPicPr>
          <p:cNvPr id="107" name="Picture 108" descr="image.png"/>
          <p:cNvPicPr/>
          <p:nvPr/>
        </p:nvPicPr>
        <p:blipFill>
          <a:blip r:embed="rId6"/>
          <a:stretch/>
        </p:blipFill>
        <p:spPr>
          <a:xfrm>
            <a:off x="4363920" y="2139120"/>
            <a:ext cx="156600" cy="156600"/>
          </a:xfrm>
          <a:prstGeom prst="rect">
            <a:avLst/>
          </a:prstGeom>
          <a:ln w="0">
            <a:noFill/>
          </a:ln>
        </p:spPr>
      </p:pic>
      <p:sp>
        <p:nvSpPr>
          <p:cNvPr id="108" name="TextBox 36"/>
          <p:cNvSpPr/>
          <p:nvPr/>
        </p:nvSpPr>
        <p:spPr>
          <a:xfrm>
            <a:off x="4630680" y="2142360"/>
            <a:ext cx="3927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Calibri"/>
              </a:rPr>
              <a:t>RCLPY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09" name="Picture 110" descr="image.png"/>
          <p:cNvPicPr/>
          <p:nvPr/>
        </p:nvPicPr>
        <p:blipFill>
          <a:blip r:embed="rId7"/>
          <a:stretch/>
        </p:blipFill>
        <p:spPr>
          <a:xfrm>
            <a:off x="5240160" y="2070000"/>
            <a:ext cx="924480" cy="294480"/>
          </a:xfrm>
          <a:prstGeom prst="rect">
            <a:avLst/>
          </a:prstGeom>
          <a:ln w="0">
            <a:noFill/>
          </a:ln>
        </p:spPr>
      </p:pic>
      <p:pic>
        <p:nvPicPr>
          <p:cNvPr id="110" name="Picture 111" descr="image.png"/>
          <p:cNvPicPr/>
          <p:nvPr/>
        </p:nvPicPr>
        <p:blipFill>
          <a:blip r:embed="rId8"/>
          <a:stretch/>
        </p:blipFill>
        <p:spPr>
          <a:xfrm>
            <a:off x="5294160" y="2139120"/>
            <a:ext cx="156600" cy="156600"/>
          </a:xfrm>
          <a:prstGeom prst="rect">
            <a:avLst/>
          </a:prstGeom>
          <a:ln w="0">
            <a:noFill/>
          </a:ln>
        </p:spPr>
      </p:pic>
      <p:sp>
        <p:nvSpPr>
          <p:cNvPr id="111" name="TextBox 112"/>
          <p:cNvSpPr/>
          <p:nvPr/>
        </p:nvSpPr>
        <p:spPr>
          <a:xfrm>
            <a:off x="5560920" y="2142360"/>
            <a:ext cx="5025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Calibri"/>
              </a:rPr>
              <a:t>FASTAPI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12" name="Picture 113" descr="image.png"/>
          <p:cNvPicPr/>
          <p:nvPr/>
        </p:nvPicPr>
        <p:blipFill>
          <a:blip r:embed="rId9"/>
          <a:stretch/>
        </p:blipFill>
        <p:spPr>
          <a:xfrm>
            <a:off x="6279840" y="2070000"/>
            <a:ext cx="1214640" cy="294480"/>
          </a:xfrm>
          <a:prstGeom prst="rect">
            <a:avLst/>
          </a:prstGeom>
          <a:ln w="0">
            <a:noFill/>
          </a:ln>
        </p:spPr>
      </p:pic>
      <p:pic>
        <p:nvPicPr>
          <p:cNvPr id="113" name="Picture 114" descr="image.png"/>
          <p:cNvPicPr/>
          <p:nvPr/>
        </p:nvPicPr>
        <p:blipFill>
          <a:blip r:embed="rId10"/>
          <a:stretch/>
        </p:blipFill>
        <p:spPr>
          <a:xfrm>
            <a:off x="6333840" y="2139120"/>
            <a:ext cx="156600" cy="156600"/>
          </a:xfrm>
          <a:prstGeom prst="rect">
            <a:avLst/>
          </a:prstGeom>
          <a:ln w="0">
            <a:noFill/>
          </a:ln>
        </p:spPr>
      </p:pic>
      <p:sp>
        <p:nvSpPr>
          <p:cNvPr id="114" name="TextBox 38"/>
          <p:cNvSpPr/>
          <p:nvPr/>
        </p:nvSpPr>
        <p:spPr>
          <a:xfrm>
            <a:off x="6619320" y="2142360"/>
            <a:ext cx="7556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Calibri"/>
              </a:rPr>
              <a:t>WEBSOCKET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15" name="Picture 116" descr="image.png"/>
          <p:cNvPicPr/>
          <p:nvPr/>
        </p:nvPicPr>
        <p:blipFill>
          <a:blip r:embed="rId11"/>
          <a:stretch/>
        </p:blipFill>
        <p:spPr>
          <a:xfrm>
            <a:off x="2180160" y="2570040"/>
            <a:ext cx="814680" cy="294480"/>
          </a:xfrm>
          <a:prstGeom prst="rect">
            <a:avLst/>
          </a:prstGeom>
          <a:ln w="0">
            <a:noFill/>
          </a:ln>
        </p:spPr>
      </p:pic>
      <p:pic>
        <p:nvPicPr>
          <p:cNvPr id="116" name="Picture 117" descr="image.png"/>
          <p:cNvPicPr/>
          <p:nvPr/>
        </p:nvPicPr>
        <p:blipFill>
          <a:blip r:embed="rId12"/>
          <a:stretch/>
        </p:blipFill>
        <p:spPr>
          <a:xfrm>
            <a:off x="2234160" y="2639160"/>
            <a:ext cx="156600" cy="156600"/>
          </a:xfrm>
          <a:prstGeom prst="rect">
            <a:avLst/>
          </a:prstGeom>
          <a:ln w="0">
            <a:noFill/>
          </a:ln>
        </p:spPr>
      </p:pic>
      <p:sp>
        <p:nvSpPr>
          <p:cNvPr id="117" name="TextBox 118"/>
          <p:cNvSpPr/>
          <p:nvPr/>
        </p:nvSpPr>
        <p:spPr>
          <a:xfrm>
            <a:off x="2501280" y="2642400"/>
            <a:ext cx="391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Calibri"/>
              </a:rPr>
              <a:t>REACT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18" name="Picture 119" descr="image.png"/>
          <p:cNvPicPr/>
          <p:nvPr/>
        </p:nvPicPr>
        <p:blipFill>
          <a:blip r:embed="rId13"/>
          <a:stretch/>
        </p:blipFill>
        <p:spPr>
          <a:xfrm>
            <a:off x="3110040" y="2570040"/>
            <a:ext cx="694440" cy="294480"/>
          </a:xfrm>
          <a:prstGeom prst="rect">
            <a:avLst/>
          </a:prstGeom>
          <a:ln w="0">
            <a:noFill/>
          </a:ln>
        </p:spPr>
      </p:pic>
      <p:pic>
        <p:nvPicPr>
          <p:cNvPr id="119" name="Picture 120" descr="image.png"/>
          <p:cNvPicPr/>
          <p:nvPr/>
        </p:nvPicPr>
        <p:blipFill>
          <a:blip r:embed="rId14"/>
          <a:stretch/>
        </p:blipFill>
        <p:spPr>
          <a:xfrm>
            <a:off x="3164040" y="2639160"/>
            <a:ext cx="156600" cy="156600"/>
          </a:xfrm>
          <a:prstGeom prst="rect">
            <a:avLst/>
          </a:prstGeom>
          <a:ln w="0">
            <a:noFill/>
          </a:ln>
        </p:spPr>
      </p:pic>
      <p:sp>
        <p:nvSpPr>
          <p:cNvPr id="120" name="TextBox 121"/>
          <p:cNvSpPr/>
          <p:nvPr/>
        </p:nvSpPr>
        <p:spPr>
          <a:xfrm>
            <a:off x="3430080" y="2642400"/>
            <a:ext cx="2739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Calibri"/>
              </a:rPr>
              <a:t>VITE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21" name="Picture 122" descr="image.png"/>
          <p:cNvPicPr/>
          <p:nvPr/>
        </p:nvPicPr>
        <p:blipFill>
          <a:blip r:embed="rId15"/>
          <a:stretch/>
        </p:blipFill>
        <p:spPr>
          <a:xfrm>
            <a:off x="3920040" y="2570040"/>
            <a:ext cx="1244520" cy="294480"/>
          </a:xfrm>
          <a:prstGeom prst="rect">
            <a:avLst/>
          </a:prstGeom>
          <a:ln w="0">
            <a:noFill/>
          </a:ln>
        </p:spPr>
      </p:pic>
      <p:pic>
        <p:nvPicPr>
          <p:cNvPr id="122" name="Picture 123" descr="image.png"/>
          <p:cNvPicPr/>
          <p:nvPr/>
        </p:nvPicPr>
        <p:blipFill>
          <a:blip r:embed="rId16"/>
          <a:stretch/>
        </p:blipFill>
        <p:spPr>
          <a:xfrm>
            <a:off x="3974040" y="2639160"/>
            <a:ext cx="156600" cy="156600"/>
          </a:xfrm>
          <a:prstGeom prst="rect">
            <a:avLst/>
          </a:prstGeom>
          <a:ln w="0">
            <a:noFill/>
          </a:ln>
        </p:spPr>
      </p:pic>
      <p:sp>
        <p:nvSpPr>
          <p:cNvPr id="123" name="TextBox 124"/>
          <p:cNvSpPr/>
          <p:nvPr/>
        </p:nvSpPr>
        <p:spPr>
          <a:xfrm>
            <a:off x="4259880" y="2642400"/>
            <a:ext cx="7844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Calibri"/>
              </a:rPr>
              <a:t>REACT FLOW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" name="TextBox 125"/>
          <p:cNvSpPr/>
          <p:nvPr/>
        </p:nvSpPr>
        <p:spPr>
          <a:xfrm>
            <a:off x="825840" y="3184920"/>
            <a:ext cx="20466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ko-KR" sz="2100" spc="-1" strike="noStrike">
                <a:solidFill>
                  <a:srgbClr val="052f4f"/>
                </a:solidFill>
                <a:latin typeface="Malgun Gothic"/>
                <a:ea typeface="Calibri"/>
              </a:rPr>
              <a:t>기술별 사용 목적</a:t>
            </a:r>
            <a:endParaRPr b="0" lang="en-US" sz="21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25" name="Picture 126" descr="image.png"/>
          <p:cNvPicPr/>
          <p:nvPr/>
        </p:nvPicPr>
        <p:blipFill>
          <a:blip r:embed="rId17"/>
          <a:stretch/>
        </p:blipFill>
        <p:spPr>
          <a:xfrm>
            <a:off x="820080" y="3850200"/>
            <a:ext cx="844560" cy="269640"/>
          </a:xfrm>
          <a:prstGeom prst="rect">
            <a:avLst/>
          </a:prstGeom>
          <a:ln w="0">
            <a:noFill/>
          </a:ln>
        </p:spPr>
      </p:pic>
      <p:pic>
        <p:nvPicPr>
          <p:cNvPr id="126" name="Picture 127" descr="image.png"/>
          <p:cNvPicPr/>
          <p:nvPr/>
        </p:nvPicPr>
        <p:blipFill>
          <a:blip r:embed="rId18"/>
          <a:stretch/>
        </p:blipFill>
        <p:spPr>
          <a:xfrm>
            <a:off x="869400" y="3913560"/>
            <a:ext cx="143280" cy="143280"/>
          </a:xfrm>
          <a:prstGeom prst="rect">
            <a:avLst/>
          </a:prstGeom>
          <a:ln w="0">
            <a:noFill/>
          </a:ln>
        </p:spPr>
      </p:pic>
      <p:sp>
        <p:nvSpPr>
          <p:cNvPr id="127" name="TextBox 128"/>
          <p:cNvSpPr/>
          <p:nvPr/>
        </p:nvSpPr>
        <p:spPr>
          <a:xfrm>
            <a:off x="1180080" y="3909960"/>
            <a:ext cx="3258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Calibri"/>
              </a:rPr>
              <a:t>ROS2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28" name="Picture 129" descr="image.png"/>
          <p:cNvPicPr/>
          <p:nvPr/>
        </p:nvPicPr>
        <p:blipFill>
          <a:blip r:embed="rId19"/>
          <a:stretch/>
        </p:blipFill>
        <p:spPr>
          <a:xfrm>
            <a:off x="820080" y="4290120"/>
            <a:ext cx="1044720" cy="269640"/>
          </a:xfrm>
          <a:prstGeom prst="rect">
            <a:avLst/>
          </a:prstGeom>
          <a:ln w="0">
            <a:noFill/>
          </a:ln>
        </p:spPr>
      </p:pic>
      <p:pic>
        <p:nvPicPr>
          <p:cNvPr id="129" name="Picture 130" descr="image.png"/>
          <p:cNvPicPr/>
          <p:nvPr/>
        </p:nvPicPr>
        <p:blipFill>
          <a:blip r:embed="rId20"/>
          <a:stretch/>
        </p:blipFill>
        <p:spPr>
          <a:xfrm>
            <a:off x="869400" y="4353480"/>
            <a:ext cx="143280" cy="143280"/>
          </a:xfrm>
          <a:prstGeom prst="rect">
            <a:avLst/>
          </a:prstGeom>
          <a:ln w="0">
            <a:noFill/>
          </a:ln>
        </p:spPr>
      </p:pic>
      <p:sp>
        <p:nvSpPr>
          <p:cNvPr id="130" name="TextBox 131"/>
          <p:cNvSpPr/>
          <p:nvPr/>
        </p:nvSpPr>
        <p:spPr>
          <a:xfrm>
            <a:off x="1099440" y="4349880"/>
            <a:ext cx="6868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Calibri"/>
              </a:rPr>
              <a:t>GRAPH API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31" name="Picture 132" descr="image.png"/>
          <p:cNvPicPr/>
          <p:nvPr/>
        </p:nvPicPr>
        <p:blipFill>
          <a:blip r:embed="rId21"/>
          <a:stretch/>
        </p:blipFill>
        <p:spPr>
          <a:xfrm>
            <a:off x="820080" y="4730040"/>
            <a:ext cx="844560" cy="269640"/>
          </a:xfrm>
          <a:prstGeom prst="rect">
            <a:avLst/>
          </a:prstGeom>
          <a:ln w="0">
            <a:noFill/>
          </a:ln>
        </p:spPr>
      </p:pic>
      <p:pic>
        <p:nvPicPr>
          <p:cNvPr id="132" name="Picture 133" descr="image.png"/>
          <p:cNvPicPr/>
          <p:nvPr/>
        </p:nvPicPr>
        <p:blipFill>
          <a:blip r:embed="rId22"/>
          <a:stretch/>
        </p:blipFill>
        <p:spPr>
          <a:xfrm>
            <a:off x="869400" y="4793400"/>
            <a:ext cx="143280" cy="143280"/>
          </a:xfrm>
          <a:prstGeom prst="rect">
            <a:avLst/>
          </a:prstGeom>
          <a:ln w="0">
            <a:noFill/>
          </a:ln>
        </p:spPr>
      </p:pic>
      <p:sp>
        <p:nvSpPr>
          <p:cNvPr id="133" name="TextBox 134"/>
          <p:cNvSpPr/>
          <p:nvPr/>
        </p:nvSpPr>
        <p:spPr>
          <a:xfrm>
            <a:off x="1146600" y="4789800"/>
            <a:ext cx="3927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Calibri"/>
              </a:rPr>
              <a:t>RCLPY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34" name="Picture 135" descr="image.png"/>
          <p:cNvPicPr/>
          <p:nvPr/>
        </p:nvPicPr>
        <p:blipFill>
          <a:blip r:embed="rId23"/>
          <a:stretch/>
        </p:blipFill>
        <p:spPr>
          <a:xfrm>
            <a:off x="820080" y="5170320"/>
            <a:ext cx="844560" cy="269640"/>
          </a:xfrm>
          <a:prstGeom prst="rect">
            <a:avLst/>
          </a:prstGeom>
          <a:ln w="0">
            <a:noFill/>
          </a:ln>
        </p:spPr>
      </p:pic>
      <p:pic>
        <p:nvPicPr>
          <p:cNvPr id="135" name="Picture 136" descr="image.png"/>
          <p:cNvPicPr/>
          <p:nvPr/>
        </p:nvPicPr>
        <p:blipFill>
          <a:blip r:embed="rId24"/>
          <a:stretch/>
        </p:blipFill>
        <p:spPr>
          <a:xfrm>
            <a:off x="869400" y="5233320"/>
            <a:ext cx="143280" cy="143280"/>
          </a:xfrm>
          <a:prstGeom prst="rect">
            <a:avLst/>
          </a:prstGeom>
          <a:ln w="0">
            <a:noFill/>
          </a:ln>
        </p:spPr>
      </p:pic>
      <p:sp>
        <p:nvSpPr>
          <p:cNvPr id="136" name="TextBox 137"/>
          <p:cNvSpPr/>
          <p:nvPr/>
        </p:nvSpPr>
        <p:spPr>
          <a:xfrm>
            <a:off x="1091520" y="5230080"/>
            <a:ext cx="5025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Calibri"/>
              </a:rPr>
              <a:t>FASTAPI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37" name="Picture 138" descr="image.png"/>
          <p:cNvPicPr/>
          <p:nvPr/>
        </p:nvPicPr>
        <p:blipFill>
          <a:blip r:embed="rId25"/>
          <a:stretch/>
        </p:blipFill>
        <p:spPr>
          <a:xfrm>
            <a:off x="5950080" y="3850200"/>
            <a:ext cx="1144440" cy="269640"/>
          </a:xfrm>
          <a:prstGeom prst="rect">
            <a:avLst/>
          </a:prstGeom>
          <a:ln w="0">
            <a:noFill/>
          </a:ln>
        </p:spPr>
      </p:pic>
      <p:pic>
        <p:nvPicPr>
          <p:cNvPr id="138" name="Picture 139" descr="image.png"/>
          <p:cNvPicPr/>
          <p:nvPr/>
        </p:nvPicPr>
        <p:blipFill>
          <a:blip r:embed="rId26"/>
          <a:stretch/>
        </p:blipFill>
        <p:spPr>
          <a:xfrm>
            <a:off x="5999400" y="3913560"/>
            <a:ext cx="143280" cy="143280"/>
          </a:xfrm>
          <a:prstGeom prst="rect">
            <a:avLst/>
          </a:prstGeom>
          <a:ln w="0">
            <a:noFill/>
          </a:ln>
        </p:spPr>
      </p:pic>
      <p:sp>
        <p:nvSpPr>
          <p:cNvPr id="139" name="TextBox 140"/>
          <p:cNvSpPr/>
          <p:nvPr/>
        </p:nvSpPr>
        <p:spPr>
          <a:xfrm>
            <a:off x="6245280" y="3909960"/>
            <a:ext cx="7556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Calibri"/>
              </a:rPr>
              <a:t>WEBSOCKET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40" name="Picture 141" descr="image.png"/>
          <p:cNvPicPr/>
          <p:nvPr/>
        </p:nvPicPr>
        <p:blipFill>
          <a:blip r:embed="rId27"/>
          <a:stretch/>
        </p:blipFill>
        <p:spPr>
          <a:xfrm>
            <a:off x="5950080" y="4290120"/>
            <a:ext cx="844560" cy="269640"/>
          </a:xfrm>
          <a:prstGeom prst="rect">
            <a:avLst/>
          </a:prstGeom>
          <a:ln w="0">
            <a:noFill/>
          </a:ln>
        </p:spPr>
      </p:pic>
      <p:pic>
        <p:nvPicPr>
          <p:cNvPr id="141" name="Picture 142" descr="image.png"/>
          <p:cNvPicPr/>
          <p:nvPr/>
        </p:nvPicPr>
        <p:blipFill>
          <a:blip r:embed="rId28"/>
          <a:stretch/>
        </p:blipFill>
        <p:spPr>
          <a:xfrm>
            <a:off x="5999400" y="4353480"/>
            <a:ext cx="143280" cy="143280"/>
          </a:xfrm>
          <a:prstGeom prst="rect">
            <a:avLst/>
          </a:prstGeom>
          <a:ln w="0">
            <a:noFill/>
          </a:ln>
        </p:spPr>
      </p:pic>
      <p:sp>
        <p:nvSpPr>
          <p:cNvPr id="142" name="TextBox 143"/>
          <p:cNvSpPr/>
          <p:nvPr/>
        </p:nvSpPr>
        <p:spPr>
          <a:xfrm>
            <a:off x="6277320" y="4349880"/>
            <a:ext cx="3913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Calibri"/>
              </a:rPr>
              <a:t>REACT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43" name="Picture 144" descr="image.png"/>
          <p:cNvPicPr/>
          <p:nvPr/>
        </p:nvPicPr>
        <p:blipFill>
          <a:blip r:embed="rId29"/>
          <a:stretch/>
        </p:blipFill>
        <p:spPr>
          <a:xfrm>
            <a:off x="5950080" y="4730040"/>
            <a:ext cx="844560" cy="269640"/>
          </a:xfrm>
          <a:prstGeom prst="rect">
            <a:avLst/>
          </a:prstGeom>
          <a:ln w="0">
            <a:noFill/>
          </a:ln>
        </p:spPr>
      </p:pic>
      <p:pic>
        <p:nvPicPr>
          <p:cNvPr id="144" name="Picture 145" descr="image.png"/>
          <p:cNvPicPr/>
          <p:nvPr/>
        </p:nvPicPr>
        <p:blipFill>
          <a:blip r:embed="rId30"/>
          <a:stretch/>
        </p:blipFill>
        <p:spPr>
          <a:xfrm>
            <a:off x="5999400" y="4793400"/>
            <a:ext cx="143280" cy="143280"/>
          </a:xfrm>
          <a:prstGeom prst="rect">
            <a:avLst/>
          </a:prstGeom>
          <a:ln w="0">
            <a:noFill/>
          </a:ln>
        </p:spPr>
      </p:pic>
      <p:sp>
        <p:nvSpPr>
          <p:cNvPr id="145" name="TextBox 146"/>
          <p:cNvSpPr/>
          <p:nvPr/>
        </p:nvSpPr>
        <p:spPr>
          <a:xfrm>
            <a:off x="6336000" y="4789800"/>
            <a:ext cx="2739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Calibri"/>
              </a:rPr>
              <a:t>VITE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46" name="Picture 147" descr="image.png"/>
          <p:cNvPicPr/>
          <p:nvPr/>
        </p:nvPicPr>
        <p:blipFill>
          <a:blip r:embed="rId31"/>
          <a:stretch/>
        </p:blipFill>
        <p:spPr>
          <a:xfrm>
            <a:off x="5950080" y="5170320"/>
            <a:ext cx="1144440" cy="269640"/>
          </a:xfrm>
          <a:prstGeom prst="rect">
            <a:avLst/>
          </a:prstGeom>
          <a:ln w="0">
            <a:noFill/>
          </a:ln>
        </p:spPr>
      </p:pic>
      <p:pic>
        <p:nvPicPr>
          <p:cNvPr id="147" name="Picture 148" descr="image.png"/>
          <p:cNvPicPr/>
          <p:nvPr/>
        </p:nvPicPr>
        <p:blipFill>
          <a:blip r:embed="rId32"/>
          <a:stretch/>
        </p:blipFill>
        <p:spPr>
          <a:xfrm>
            <a:off x="5999400" y="5233320"/>
            <a:ext cx="143280" cy="143280"/>
          </a:xfrm>
          <a:prstGeom prst="rect">
            <a:avLst/>
          </a:prstGeom>
          <a:ln w="0">
            <a:noFill/>
          </a:ln>
        </p:spPr>
      </p:pic>
      <p:sp>
        <p:nvSpPr>
          <p:cNvPr id="148" name="TextBox 149"/>
          <p:cNvSpPr/>
          <p:nvPr/>
        </p:nvSpPr>
        <p:spPr>
          <a:xfrm>
            <a:off x="6230880" y="5230080"/>
            <a:ext cx="7844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ffffff"/>
                </a:solidFill>
                <a:latin typeface="Aptos"/>
                <a:ea typeface="Calibri"/>
              </a:rPr>
              <a:t>REACT FLOW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49" name="Picture 4" descr="image.png"/>
          <p:cNvPicPr/>
          <p:nvPr/>
        </p:nvPicPr>
        <p:blipFill>
          <a:blip r:embed="rId33"/>
          <a:stretch/>
        </p:blipFill>
        <p:spPr>
          <a:xfrm>
            <a:off x="820080" y="5654520"/>
            <a:ext cx="796320" cy="280440"/>
          </a:xfrm>
          <a:prstGeom prst="rect">
            <a:avLst/>
          </a:prstGeom>
          <a:ln w="0">
            <a:noFill/>
          </a:ln>
        </p:spPr>
      </p:pic>
      <p:pic>
        <p:nvPicPr>
          <p:cNvPr id="150" name="Picture 2" descr="image.png"/>
          <p:cNvPicPr/>
          <p:nvPr/>
        </p:nvPicPr>
        <p:blipFill>
          <a:blip r:embed="rId34"/>
          <a:stretch/>
        </p:blipFill>
        <p:spPr>
          <a:xfrm>
            <a:off x="900000" y="5760000"/>
            <a:ext cx="105120" cy="127800"/>
          </a:xfrm>
          <a:prstGeom prst="rect">
            <a:avLst/>
          </a:prstGeom>
          <a:ln w="0">
            <a:noFill/>
          </a:ln>
        </p:spPr>
      </p:pic>
      <p:sp>
        <p:nvSpPr>
          <p:cNvPr id="151" name=""/>
          <p:cNvSpPr/>
          <p:nvPr/>
        </p:nvSpPr>
        <p:spPr>
          <a:xfrm>
            <a:off x="1010160" y="5678280"/>
            <a:ext cx="49716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980" spc="-1" strike="noStrike">
                <a:solidFill>
                  <a:srgbClr val="ffffff"/>
                </a:solidFill>
                <a:latin typeface="Inter ExtraBold"/>
                <a:ea typeface="Calibri"/>
              </a:rPr>
              <a:t>YAMl</a:t>
            </a:r>
            <a:endParaRPr b="0" lang="en-US" sz="98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2" name="TextBox 39"/>
          <p:cNvSpPr/>
          <p:nvPr/>
        </p:nvSpPr>
        <p:spPr>
          <a:xfrm>
            <a:off x="1980000" y="5718240"/>
            <a:ext cx="3414960" cy="1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en-US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Message </a:t>
            </a: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타입과 주요 </a:t>
            </a:r>
            <a:r>
              <a:rPr b="0" lang="en-US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Interface </a:t>
            </a:r>
            <a:r>
              <a:rPr b="0" lang="ko-KR" sz="1150" spc="-1" strike="noStrike">
                <a:solidFill>
                  <a:srgbClr val="1c2e3d"/>
                </a:solidFill>
                <a:latin typeface="Malgun Gothic"/>
                <a:ea typeface="Calibri"/>
              </a:rPr>
              <a:t>외부 설정으로 분리 </a:t>
            </a:r>
            <a:endParaRPr b="0" lang="en-US" sz="11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3" name="Rectangle 17"/>
          <p:cNvSpPr/>
          <p:nvPr/>
        </p:nvSpPr>
        <p:spPr>
          <a:xfrm>
            <a:off x="5760000" y="3780000"/>
            <a:ext cx="67320" cy="2154960"/>
          </a:xfrm>
          <a:prstGeom prst="rect">
            <a:avLst/>
          </a:prstGeom>
          <a:solidFill>
            <a:srgbClr val="0a9e9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54" name="Rectangle 18"/>
          <p:cNvSpPr/>
          <p:nvPr/>
        </p:nvSpPr>
        <p:spPr>
          <a:xfrm>
            <a:off x="0" y="0"/>
            <a:ext cx="12183840" cy="64800"/>
          </a:xfrm>
          <a:prstGeom prst="rect">
            <a:avLst/>
          </a:prstGeom>
          <a:solidFill>
            <a:srgbClr val="009488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"/>
          <p:cNvSpPr/>
          <p:nvPr/>
        </p:nvSpPr>
        <p:spPr>
          <a:xfrm>
            <a:off x="0" y="0"/>
            <a:ext cx="12187440" cy="50040"/>
          </a:xfrm>
          <a:prstGeom prst="rect">
            <a:avLst/>
          </a:prstGeom>
          <a:solidFill>
            <a:srgbClr val="008f86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56" name="TextBox 2"/>
          <p:cNvSpPr/>
          <p:nvPr/>
        </p:nvSpPr>
        <p:spPr>
          <a:xfrm>
            <a:off x="685800" y="333000"/>
            <a:ext cx="1275480" cy="1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>
              <a:lnSpc>
                <a:spcPct val="100000"/>
              </a:lnSpc>
            </a:pPr>
            <a:r>
              <a:rPr b="1" lang="en-US" sz="850" spc="-1" strike="noStrike">
                <a:solidFill>
                  <a:srgbClr val="0a2f4f"/>
                </a:solidFill>
                <a:latin typeface="Malgun Gothic"/>
                <a:ea typeface="Calibri"/>
              </a:rPr>
              <a:t>ARCHITECTURE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7" name="TextBox 3"/>
          <p:cNvSpPr/>
          <p:nvPr/>
        </p:nvSpPr>
        <p:spPr>
          <a:xfrm>
            <a:off x="11233440" y="324000"/>
            <a:ext cx="162720" cy="1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ctr">
            <a:spAutoFit/>
          </a:bodyPr>
          <a:p>
            <a:pPr algn="r">
              <a:lnSpc>
                <a:spcPct val="100000"/>
              </a:lnSpc>
            </a:pPr>
            <a:r>
              <a:rPr b="1" lang="en-US" sz="850" spc="-1" strike="noStrike">
                <a:solidFill>
                  <a:srgbClr val="5b6e7d"/>
                </a:solidFill>
                <a:latin typeface="Malgun Gothic"/>
                <a:ea typeface="Calibri"/>
              </a:rPr>
              <a:t>05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8" name="TextBox 4"/>
          <p:cNvSpPr/>
          <p:nvPr/>
        </p:nvSpPr>
        <p:spPr>
          <a:xfrm>
            <a:off x="685800" y="617400"/>
            <a:ext cx="529884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>
              <a:lnSpc>
                <a:spcPct val="100000"/>
              </a:lnSpc>
            </a:pPr>
            <a:r>
              <a:rPr b="1" lang="ko-KR" sz="3000" spc="-1" strike="noStrike">
                <a:solidFill>
                  <a:srgbClr val="0a2f4f"/>
                </a:solidFill>
                <a:latin typeface="Malgun Gothic"/>
                <a:ea typeface="Calibri"/>
              </a:rPr>
              <a:t>프로젝트 폴더 구조</a:t>
            </a:r>
            <a:endParaRPr b="0" lang="en-US" sz="3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9" name="TextBox 5"/>
          <p:cNvSpPr/>
          <p:nvPr/>
        </p:nvSpPr>
        <p:spPr>
          <a:xfrm>
            <a:off x="685800" y="1104840"/>
            <a:ext cx="895644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5b6e7d"/>
                </a:solidFill>
                <a:latin typeface="Malgun Gothic"/>
                <a:ea typeface="Calibri"/>
              </a:rPr>
              <a:t>Backend</a:t>
            </a:r>
            <a:r>
              <a:rPr b="0" lang="ko-KR" sz="1400" spc="-1" strike="noStrike">
                <a:solidFill>
                  <a:srgbClr val="5b6e7d"/>
                </a:solidFill>
                <a:latin typeface="Malgun Gothic"/>
                <a:ea typeface="Calibri"/>
              </a:rPr>
              <a:t>는 </a:t>
            </a:r>
            <a:r>
              <a:rPr b="0" lang="en-US" sz="1400" spc="-1" strike="noStrike">
                <a:solidFill>
                  <a:srgbClr val="5b6e7d"/>
                </a:solidFill>
                <a:latin typeface="Malgun Gothic"/>
                <a:ea typeface="Calibri"/>
              </a:rPr>
              <a:t>ROS2 </a:t>
            </a:r>
            <a:r>
              <a:rPr b="0" lang="ko-KR" sz="1400" spc="-1" strike="noStrike">
                <a:solidFill>
                  <a:srgbClr val="5b6e7d"/>
                </a:solidFill>
                <a:latin typeface="Malgun Gothic"/>
                <a:ea typeface="Calibri"/>
              </a:rPr>
              <a:t>상태 수집과 실행 </a:t>
            </a:r>
            <a:r>
              <a:rPr b="0" lang="en-US" sz="1400" spc="-1" strike="noStrike">
                <a:solidFill>
                  <a:srgbClr val="5b6e7d"/>
                </a:solidFill>
                <a:latin typeface="Malgun Gothic"/>
                <a:ea typeface="Calibri"/>
              </a:rPr>
              <a:t>API</a:t>
            </a:r>
            <a:r>
              <a:rPr b="0" lang="ko-KR" sz="1400" spc="-1" strike="noStrike">
                <a:solidFill>
                  <a:srgbClr val="5b6e7d"/>
                </a:solidFill>
                <a:latin typeface="Malgun Gothic"/>
                <a:ea typeface="Calibri"/>
              </a:rPr>
              <a:t>를</a:t>
            </a:r>
            <a:r>
              <a:rPr b="0" lang="en-US" sz="1400" spc="-1" strike="noStrike">
                <a:solidFill>
                  <a:srgbClr val="5b6e7d"/>
                </a:solidFill>
                <a:latin typeface="Malgun Gothic"/>
                <a:ea typeface="Calibri"/>
              </a:rPr>
              <a:t>, Frontend</a:t>
            </a:r>
            <a:r>
              <a:rPr b="0" lang="ko-KR" sz="1400" spc="-1" strike="noStrike">
                <a:solidFill>
                  <a:srgbClr val="5b6e7d"/>
                </a:solidFill>
                <a:latin typeface="Malgun Gothic"/>
                <a:ea typeface="Calibri"/>
              </a:rPr>
              <a:t>는 화면 표시와 관계 시각화를 담당합니다</a:t>
            </a:r>
            <a:r>
              <a:rPr b="0" lang="en-US" sz="1400" spc="-1" strike="noStrike">
                <a:solidFill>
                  <a:srgbClr val="5b6e7d"/>
                </a:solidFill>
                <a:latin typeface="Malgun Gothic"/>
                <a:ea typeface="Calibri"/>
              </a:rPr>
              <a:t>.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0" name="Rounded Rectangle 6"/>
          <p:cNvSpPr/>
          <p:nvPr/>
        </p:nvSpPr>
        <p:spPr>
          <a:xfrm>
            <a:off x="502920" y="1554480"/>
            <a:ext cx="5618880" cy="447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600">
            <a:solidFill>
              <a:srgbClr val="c9d8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61" name="TextBox 7"/>
          <p:cNvSpPr/>
          <p:nvPr/>
        </p:nvSpPr>
        <p:spPr>
          <a:xfrm>
            <a:off x="713160" y="1714680"/>
            <a:ext cx="20070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>
              <a:lnSpc>
                <a:spcPct val="100000"/>
              </a:lnSpc>
            </a:pPr>
            <a:r>
              <a:rPr b="1" lang="ko-KR" sz="1500" spc="-1" strike="noStrike">
                <a:solidFill>
                  <a:srgbClr val="0a2f4f"/>
                </a:solidFill>
                <a:latin typeface="Malgun Gothic"/>
                <a:ea typeface="Calibri"/>
              </a:rPr>
              <a:t>핵심 폴더 구조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2" name="TextBox 8"/>
          <p:cNvSpPr/>
          <p:nvPr/>
        </p:nvSpPr>
        <p:spPr>
          <a:xfrm>
            <a:off x="4160520" y="1761840"/>
            <a:ext cx="164124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algn="r">
              <a:lnSpc>
                <a:spcPct val="100000"/>
              </a:lnSpc>
            </a:pPr>
            <a:r>
              <a:rPr b="0" lang="ko-KR" sz="880" spc="-1" strike="noStrike">
                <a:solidFill>
                  <a:srgbClr val="5b6e7d"/>
                </a:solidFill>
                <a:latin typeface="Malgun Gothic"/>
                <a:ea typeface="Calibri"/>
              </a:rPr>
              <a:t>생성물과 로그 폴더는 제외</a:t>
            </a:r>
            <a:endParaRPr b="0" lang="en-US" sz="88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3" name="Rounded Rectangle 11"/>
          <p:cNvSpPr/>
          <p:nvPr/>
        </p:nvSpPr>
        <p:spPr>
          <a:xfrm>
            <a:off x="6309360" y="1554480"/>
            <a:ext cx="5344560" cy="447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600">
            <a:solidFill>
              <a:srgbClr val="c9d8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64" name="TextBox 12"/>
          <p:cNvSpPr/>
          <p:nvPr/>
        </p:nvSpPr>
        <p:spPr>
          <a:xfrm>
            <a:off x="6519600" y="1714680"/>
            <a:ext cx="292140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165" name="Rounded Rectangle 13"/>
          <p:cNvSpPr/>
          <p:nvPr/>
        </p:nvSpPr>
        <p:spPr>
          <a:xfrm>
            <a:off x="6519600" y="2084760"/>
            <a:ext cx="4786920" cy="470880"/>
          </a:xfrm>
          <a:prstGeom prst="roundRect">
            <a:avLst>
              <a:gd name="adj" fmla="val 12000"/>
            </a:avLst>
          </a:prstGeom>
          <a:solidFill>
            <a:srgbClr val="e7f8f6"/>
          </a:solidFill>
          <a:ln w="12600">
            <a:solidFill>
              <a:srgbClr val="c7d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66" name="TextBox 14"/>
          <p:cNvSpPr/>
          <p:nvPr/>
        </p:nvSpPr>
        <p:spPr>
          <a:xfrm>
            <a:off x="6675120" y="2160360"/>
            <a:ext cx="150408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0a2f4f"/>
                </a:solidFill>
                <a:latin typeface="Malgun Gothic"/>
                <a:ea typeface="Calibri"/>
              </a:rPr>
              <a:t>backend/config</a:t>
            </a:r>
            <a:endParaRPr b="0" lang="en-US" sz="10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7" name="TextBox 15"/>
          <p:cNvSpPr/>
          <p:nvPr/>
        </p:nvSpPr>
        <p:spPr>
          <a:xfrm>
            <a:off x="8247960" y="2166480"/>
            <a:ext cx="2875680" cy="17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>
              <a:lnSpc>
                <a:spcPct val="100000"/>
              </a:lnSpc>
            </a:pPr>
            <a:r>
              <a:rPr b="0" lang="ko-KR" sz="910" spc="-1" strike="noStrike">
                <a:solidFill>
                  <a:srgbClr val="192d3d"/>
                </a:solidFill>
                <a:latin typeface="Malgun Gothic"/>
                <a:ea typeface="Calibri"/>
              </a:rPr>
              <a:t>모니터링 대상</a:t>
            </a:r>
            <a:r>
              <a:rPr b="0" lang="en-US" sz="910" spc="-1" strike="noStrike">
                <a:solidFill>
                  <a:srgbClr val="192d3d"/>
                </a:solidFill>
                <a:latin typeface="Malgun Gothic"/>
                <a:ea typeface="Calibri"/>
              </a:rPr>
              <a:t>, Interface </a:t>
            </a:r>
            <a:r>
              <a:rPr b="0" lang="ko-KR" sz="910" spc="-1" strike="noStrike">
                <a:solidFill>
                  <a:srgbClr val="192d3d"/>
                </a:solidFill>
                <a:latin typeface="Malgun Gothic"/>
                <a:ea typeface="Calibri"/>
              </a:rPr>
              <a:t>등록 상태</a:t>
            </a:r>
            <a:r>
              <a:rPr b="0" lang="en-US" sz="910" spc="-1" strike="noStrike">
                <a:solidFill>
                  <a:srgbClr val="192d3d"/>
                </a:solidFill>
                <a:latin typeface="Malgun Gothic"/>
                <a:ea typeface="Calibri"/>
              </a:rPr>
              <a:t>, Timeout </a:t>
            </a:r>
            <a:r>
              <a:rPr b="0" lang="ko-KR" sz="910" spc="-1" strike="noStrike">
                <a:solidFill>
                  <a:srgbClr val="192d3d"/>
                </a:solidFill>
                <a:latin typeface="Malgun Gothic"/>
                <a:ea typeface="Calibri"/>
              </a:rPr>
              <a:t>정책을 보관</a:t>
            </a:r>
            <a:endParaRPr b="0" lang="en-US" sz="91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8" name="Rounded Rectangle 16"/>
          <p:cNvSpPr/>
          <p:nvPr/>
        </p:nvSpPr>
        <p:spPr>
          <a:xfrm>
            <a:off x="6519600" y="2706480"/>
            <a:ext cx="4786920" cy="470880"/>
          </a:xfrm>
          <a:prstGeom prst="roundRect">
            <a:avLst>
              <a:gd name="adj" fmla="val 12000"/>
            </a:avLst>
          </a:prstGeom>
          <a:solidFill>
            <a:srgbClr val="eaf4ff"/>
          </a:solidFill>
          <a:ln w="12600">
            <a:solidFill>
              <a:srgbClr val="c7d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69" name="TextBox 17"/>
          <p:cNvSpPr/>
          <p:nvPr/>
        </p:nvSpPr>
        <p:spPr>
          <a:xfrm>
            <a:off x="6675120" y="2782440"/>
            <a:ext cx="150408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0a2f4f"/>
                </a:solidFill>
                <a:latin typeface="Malgun Gothic"/>
                <a:ea typeface="Calibri"/>
              </a:rPr>
              <a:t>backend/src</a:t>
            </a:r>
            <a:endParaRPr b="0" lang="en-US" sz="10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0" name="TextBox 18"/>
          <p:cNvSpPr/>
          <p:nvPr/>
        </p:nvSpPr>
        <p:spPr>
          <a:xfrm>
            <a:off x="8247960" y="2719080"/>
            <a:ext cx="287568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>
              <a:lnSpc>
                <a:spcPct val="100000"/>
              </a:lnSpc>
            </a:pPr>
            <a:r>
              <a:rPr b="0" lang="en-US" sz="910" spc="-1" strike="noStrike">
                <a:solidFill>
                  <a:srgbClr val="192d3d"/>
                </a:solidFill>
                <a:latin typeface="Malgun Gothic"/>
                <a:ea typeface="Calibri"/>
              </a:rPr>
              <a:t>FastAPI, rclpy Runtime, Topic·Service·Action·Node </a:t>
            </a:r>
            <a:r>
              <a:rPr b="0" lang="ko-KR" sz="910" spc="-1" strike="noStrike">
                <a:solidFill>
                  <a:srgbClr val="192d3d"/>
                </a:solidFill>
                <a:latin typeface="Malgun Gothic"/>
                <a:ea typeface="Calibri"/>
              </a:rPr>
              <a:t>감시 로직</a:t>
            </a:r>
            <a:endParaRPr b="0" lang="en-US" sz="91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1" name="Rounded Rectangle 19"/>
          <p:cNvSpPr/>
          <p:nvPr/>
        </p:nvSpPr>
        <p:spPr>
          <a:xfrm>
            <a:off x="6519600" y="3328560"/>
            <a:ext cx="4786920" cy="470880"/>
          </a:xfrm>
          <a:prstGeom prst="roundRect">
            <a:avLst>
              <a:gd name="adj" fmla="val 12000"/>
            </a:avLst>
          </a:prstGeom>
          <a:solidFill>
            <a:srgbClr val="f2edff"/>
          </a:solidFill>
          <a:ln w="12600">
            <a:solidFill>
              <a:srgbClr val="c7d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72" name="TextBox 20"/>
          <p:cNvSpPr/>
          <p:nvPr/>
        </p:nvSpPr>
        <p:spPr>
          <a:xfrm>
            <a:off x="6675120" y="3404160"/>
            <a:ext cx="150408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0a2f4f"/>
                </a:solidFill>
                <a:latin typeface="Malgun Gothic"/>
                <a:ea typeface="Calibri"/>
              </a:rPr>
              <a:t>interface_lab</a:t>
            </a:r>
            <a:endParaRPr b="0" lang="en-US" sz="10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3" name="TextBox 21"/>
          <p:cNvSpPr/>
          <p:nvPr/>
        </p:nvSpPr>
        <p:spPr>
          <a:xfrm>
            <a:off x="8247960" y="3340800"/>
            <a:ext cx="287568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>
              <a:lnSpc>
                <a:spcPct val="100000"/>
              </a:lnSpc>
            </a:pPr>
            <a:r>
              <a:rPr b="0" lang="en-US" sz="910" spc="-1" strike="noStrike">
                <a:solidFill>
                  <a:srgbClr val="192d3d"/>
                </a:solidFill>
                <a:latin typeface="Malgun Gothic"/>
                <a:ea typeface="Calibri"/>
              </a:rPr>
              <a:t>Interface </a:t>
            </a:r>
            <a:r>
              <a:rPr b="0" lang="ko-KR" sz="910" spc="-1" strike="noStrike">
                <a:solidFill>
                  <a:srgbClr val="192d3d"/>
                </a:solidFill>
                <a:latin typeface="Malgun Gothic"/>
                <a:ea typeface="Calibri"/>
              </a:rPr>
              <a:t>등록</a:t>
            </a:r>
            <a:r>
              <a:rPr b="0" lang="en-US" sz="910" spc="-1" strike="noStrike">
                <a:solidFill>
                  <a:srgbClr val="192d3d"/>
                </a:solidFill>
                <a:latin typeface="Malgun Gothic"/>
                <a:ea typeface="Calibri"/>
              </a:rPr>
              <a:t>·</a:t>
            </a:r>
            <a:r>
              <a:rPr b="0" lang="ko-KR" sz="910" spc="-1" strike="noStrike">
                <a:solidFill>
                  <a:srgbClr val="192d3d"/>
                </a:solidFill>
                <a:latin typeface="Malgun Gothic"/>
                <a:ea typeface="Calibri"/>
              </a:rPr>
              <a:t>업로드</a:t>
            </a:r>
            <a:r>
              <a:rPr b="0" lang="en-US" sz="910" spc="-1" strike="noStrike">
                <a:solidFill>
                  <a:srgbClr val="192d3d"/>
                </a:solidFill>
                <a:latin typeface="Malgun Gothic"/>
                <a:ea typeface="Calibri"/>
              </a:rPr>
              <a:t>·Build·Publish·Receive·Call·Goal </a:t>
            </a:r>
            <a:r>
              <a:rPr b="0" lang="ko-KR" sz="910" spc="-1" strike="noStrike">
                <a:solidFill>
                  <a:srgbClr val="192d3d"/>
                </a:solidFill>
                <a:latin typeface="Malgun Gothic"/>
                <a:ea typeface="Calibri"/>
              </a:rPr>
              <a:t>실행</a:t>
            </a:r>
            <a:endParaRPr b="0" lang="en-US" sz="91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4" name="Rounded Rectangle 22"/>
          <p:cNvSpPr/>
          <p:nvPr/>
        </p:nvSpPr>
        <p:spPr>
          <a:xfrm>
            <a:off x="6519600" y="3950280"/>
            <a:ext cx="4786920" cy="470880"/>
          </a:xfrm>
          <a:prstGeom prst="roundRect">
            <a:avLst>
              <a:gd name="adj" fmla="val 12000"/>
            </a:avLst>
          </a:prstGeom>
          <a:solidFill>
            <a:srgbClr val="fff7ea"/>
          </a:solidFill>
          <a:ln w="12600">
            <a:solidFill>
              <a:srgbClr val="c7d7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75" name="TextBox 23"/>
          <p:cNvSpPr/>
          <p:nvPr/>
        </p:nvSpPr>
        <p:spPr>
          <a:xfrm>
            <a:off x="6675120" y="4025880"/>
            <a:ext cx="150408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>
              <a:lnSpc>
                <a:spcPct val="100000"/>
              </a:lnSpc>
            </a:pPr>
            <a:r>
              <a:rPr b="1" lang="en-US" sz="1050" spc="-1" strike="noStrike">
                <a:solidFill>
                  <a:srgbClr val="0a2f4f"/>
                </a:solidFill>
                <a:latin typeface="Malgun Gothic"/>
                <a:ea typeface="Calibri"/>
              </a:rPr>
              <a:t>frontend/src</a:t>
            </a:r>
            <a:endParaRPr b="0" lang="en-US" sz="10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6" name="TextBox 24"/>
          <p:cNvSpPr/>
          <p:nvPr/>
        </p:nvSpPr>
        <p:spPr>
          <a:xfrm>
            <a:off x="8247960" y="3962520"/>
            <a:ext cx="287568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>
              <a:lnSpc>
                <a:spcPct val="100000"/>
              </a:lnSpc>
            </a:pPr>
            <a:r>
              <a:rPr b="0" lang="en-US" sz="910" spc="-1" strike="noStrike">
                <a:solidFill>
                  <a:srgbClr val="192d3d"/>
                </a:solidFill>
                <a:latin typeface="Malgun Gothic"/>
                <a:ea typeface="Calibri"/>
              </a:rPr>
              <a:t>REST/WebSocket </a:t>
            </a:r>
            <a:r>
              <a:rPr b="0" lang="ko-KR" sz="910" spc="-1" strike="noStrike">
                <a:solidFill>
                  <a:srgbClr val="192d3d"/>
                </a:solidFill>
                <a:latin typeface="Malgun Gothic"/>
                <a:ea typeface="Calibri"/>
              </a:rPr>
              <a:t>데이터를 받아 표</a:t>
            </a:r>
            <a:r>
              <a:rPr b="0" lang="en-US" sz="910" spc="-1" strike="noStrike">
                <a:solidFill>
                  <a:srgbClr val="192d3d"/>
                </a:solidFill>
                <a:latin typeface="Malgun Gothic"/>
                <a:ea typeface="Calibri"/>
              </a:rPr>
              <a:t>, </a:t>
            </a:r>
            <a:r>
              <a:rPr b="0" lang="ko-KR" sz="910" spc="-1" strike="noStrike">
                <a:solidFill>
                  <a:srgbClr val="192d3d"/>
                </a:solidFill>
                <a:latin typeface="Malgun Gothic"/>
                <a:ea typeface="Calibri"/>
              </a:rPr>
              <a:t>상세</a:t>
            </a:r>
            <a:r>
              <a:rPr b="0" lang="en-US" sz="910" spc="-1" strike="noStrike">
                <a:solidFill>
                  <a:srgbClr val="192d3d"/>
                </a:solidFill>
                <a:latin typeface="Malgun Gothic"/>
                <a:ea typeface="Calibri"/>
              </a:rPr>
              <a:t>, Alert, Graph </a:t>
            </a:r>
            <a:r>
              <a:rPr b="0" lang="ko-KR" sz="910" spc="-1" strike="noStrike">
                <a:solidFill>
                  <a:srgbClr val="192d3d"/>
                </a:solidFill>
                <a:latin typeface="Malgun Gothic"/>
                <a:ea typeface="Calibri"/>
              </a:rPr>
              <a:t>화면 구성</a:t>
            </a:r>
            <a:endParaRPr b="0" lang="en-US" sz="91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7" name="TextBox 25"/>
          <p:cNvSpPr/>
          <p:nvPr/>
        </p:nvSpPr>
        <p:spPr>
          <a:xfrm>
            <a:off x="6519600" y="4660560"/>
            <a:ext cx="12754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>
              <a:lnSpc>
                <a:spcPct val="100000"/>
              </a:lnSpc>
            </a:pPr>
            <a:r>
              <a:rPr b="1" lang="ko-KR" sz="1300" spc="-1" strike="noStrike">
                <a:solidFill>
                  <a:srgbClr val="0a2f4f"/>
                </a:solidFill>
                <a:latin typeface="Malgun Gothic"/>
                <a:ea typeface="Calibri"/>
              </a:rPr>
              <a:t>데이터 흐름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8" name="Rounded Rectangle 26"/>
          <p:cNvSpPr/>
          <p:nvPr/>
        </p:nvSpPr>
        <p:spPr>
          <a:xfrm>
            <a:off x="6519600" y="5010840"/>
            <a:ext cx="836640" cy="406800"/>
          </a:xfrm>
          <a:prstGeom prst="roundRect">
            <a:avLst>
              <a:gd name="adj" fmla="val 12000"/>
            </a:avLst>
          </a:prstGeom>
          <a:solidFill>
            <a:srgbClr val="eaf4ff"/>
          </a:solidFill>
          <a:ln w="12600">
            <a:solidFill>
              <a:srgbClr val="b8ce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79" name="TextBox 27"/>
          <p:cNvSpPr/>
          <p:nvPr/>
        </p:nvSpPr>
        <p:spPr>
          <a:xfrm>
            <a:off x="6519600" y="5132160"/>
            <a:ext cx="8366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870" spc="-1" strike="noStrike">
                <a:solidFill>
                  <a:srgbClr val="0a2f4f"/>
                </a:solidFill>
                <a:latin typeface="Malgun Gothic"/>
                <a:ea typeface="Calibri"/>
              </a:rPr>
              <a:t>ROS2 Graph</a:t>
            </a:r>
            <a:endParaRPr b="0" lang="en-US" sz="87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0" name="TextBox 28"/>
          <p:cNvSpPr/>
          <p:nvPr/>
        </p:nvSpPr>
        <p:spPr>
          <a:xfrm>
            <a:off x="7434000" y="5029200"/>
            <a:ext cx="1598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008f86"/>
                </a:solidFill>
                <a:latin typeface="Malgun Gothic"/>
                <a:ea typeface="Calibri"/>
              </a:rPr>
              <a:t>→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1" name="Rounded Rectangle 29"/>
          <p:cNvSpPr/>
          <p:nvPr/>
        </p:nvSpPr>
        <p:spPr>
          <a:xfrm>
            <a:off x="7671960" y="5010840"/>
            <a:ext cx="1046880" cy="406800"/>
          </a:xfrm>
          <a:prstGeom prst="roundRect">
            <a:avLst>
              <a:gd name="adj" fmla="val 12000"/>
            </a:avLst>
          </a:prstGeom>
          <a:solidFill>
            <a:srgbClr val="e7f8f6"/>
          </a:solidFill>
          <a:ln w="12600">
            <a:solidFill>
              <a:srgbClr val="b8ce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82" name="TextBox 30"/>
          <p:cNvSpPr/>
          <p:nvPr/>
        </p:nvSpPr>
        <p:spPr>
          <a:xfrm>
            <a:off x="7671960" y="5132160"/>
            <a:ext cx="104688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870" spc="-1" strike="noStrike">
                <a:solidFill>
                  <a:srgbClr val="0a2f4f"/>
                </a:solidFill>
                <a:latin typeface="Malgun Gothic"/>
                <a:ea typeface="Calibri"/>
              </a:rPr>
              <a:t>rclpy Runtime</a:t>
            </a:r>
            <a:endParaRPr b="0" lang="en-US" sz="87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3" name="TextBox 31"/>
          <p:cNvSpPr/>
          <p:nvPr/>
        </p:nvSpPr>
        <p:spPr>
          <a:xfrm>
            <a:off x="8796600" y="5029200"/>
            <a:ext cx="1598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008f86"/>
                </a:solidFill>
                <a:latin typeface="Malgun Gothic"/>
                <a:ea typeface="Calibri"/>
              </a:rPr>
              <a:t>→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4" name="Rounded Rectangle 32"/>
          <p:cNvSpPr/>
          <p:nvPr/>
        </p:nvSpPr>
        <p:spPr>
          <a:xfrm>
            <a:off x="9034200" y="5010840"/>
            <a:ext cx="653760" cy="406800"/>
          </a:xfrm>
          <a:prstGeom prst="roundRect">
            <a:avLst>
              <a:gd name="adj" fmla="val 12000"/>
            </a:avLst>
          </a:prstGeom>
          <a:solidFill>
            <a:srgbClr val="f2edff"/>
          </a:solidFill>
          <a:ln w="12600">
            <a:solidFill>
              <a:srgbClr val="b8ce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85" name="TextBox 33"/>
          <p:cNvSpPr/>
          <p:nvPr/>
        </p:nvSpPr>
        <p:spPr>
          <a:xfrm>
            <a:off x="9034200" y="5132160"/>
            <a:ext cx="65376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870" spc="-1" strike="noStrike">
                <a:solidFill>
                  <a:srgbClr val="0a2f4f"/>
                </a:solidFill>
                <a:latin typeface="Malgun Gothic"/>
                <a:ea typeface="Calibri"/>
              </a:rPr>
              <a:t>Cache</a:t>
            </a:r>
            <a:endParaRPr b="0" lang="en-US" sz="87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6" name="TextBox 34"/>
          <p:cNvSpPr/>
          <p:nvPr/>
        </p:nvSpPr>
        <p:spPr>
          <a:xfrm>
            <a:off x="9765720" y="5029200"/>
            <a:ext cx="1598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008f86"/>
                </a:solidFill>
                <a:latin typeface="Malgun Gothic"/>
                <a:ea typeface="Calibri"/>
              </a:rPr>
              <a:t>→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7" name="Rounded Rectangle 35"/>
          <p:cNvSpPr/>
          <p:nvPr/>
        </p:nvSpPr>
        <p:spPr>
          <a:xfrm>
            <a:off x="10003680" y="5010840"/>
            <a:ext cx="498240" cy="406800"/>
          </a:xfrm>
          <a:prstGeom prst="roundRect">
            <a:avLst>
              <a:gd name="adj" fmla="val 12000"/>
            </a:avLst>
          </a:prstGeom>
          <a:solidFill>
            <a:srgbClr val="fff7ea"/>
          </a:solidFill>
          <a:ln w="12600">
            <a:solidFill>
              <a:srgbClr val="b8ce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88" name="TextBox 36"/>
          <p:cNvSpPr/>
          <p:nvPr/>
        </p:nvSpPr>
        <p:spPr>
          <a:xfrm>
            <a:off x="10003680" y="5132160"/>
            <a:ext cx="49824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870" spc="-1" strike="noStrike">
                <a:solidFill>
                  <a:srgbClr val="0a2f4f"/>
                </a:solidFill>
                <a:latin typeface="Malgun Gothic"/>
                <a:ea typeface="Calibri"/>
              </a:rPr>
              <a:t>API</a:t>
            </a:r>
            <a:endParaRPr b="0" lang="en-US" sz="87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9" name="TextBox 37"/>
          <p:cNvSpPr/>
          <p:nvPr/>
        </p:nvSpPr>
        <p:spPr>
          <a:xfrm>
            <a:off x="10579680" y="5029200"/>
            <a:ext cx="1598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008f86"/>
                </a:solidFill>
                <a:latin typeface="Malgun Gothic"/>
                <a:ea typeface="Calibri"/>
              </a:rPr>
              <a:t>→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0" name="Rounded Rectangle 38"/>
          <p:cNvSpPr/>
          <p:nvPr/>
        </p:nvSpPr>
        <p:spPr>
          <a:xfrm>
            <a:off x="10817280" y="5010840"/>
            <a:ext cx="653760" cy="406800"/>
          </a:xfrm>
          <a:prstGeom prst="roundRect">
            <a:avLst>
              <a:gd name="adj" fmla="val 12000"/>
            </a:avLst>
          </a:prstGeom>
          <a:solidFill>
            <a:srgbClr val="eaf4ff"/>
          </a:solidFill>
          <a:ln w="12600">
            <a:solidFill>
              <a:srgbClr val="b8ce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91" name="TextBox 39"/>
          <p:cNvSpPr/>
          <p:nvPr/>
        </p:nvSpPr>
        <p:spPr>
          <a:xfrm>
            <a:off x="10817280" y="5132160"/>
            <a:ext cx="65376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870" spc="-1" strike="noStrike">
                <a:solidFill>
                  <a:srgbClr val="0a2f4f"/>
                </a:solidFill>
                <a:latin typeface="Malgun Gothic"/>
                <a:ea typeface="Calibri"/>
              </a:rPr>
              <a:t>React</a:t>
            </a:r>
            <a:endParaRPr b="0" lang="en-US" sz="87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2" name="Rounded Rectangle 40"/>
          <p:cNvSpPr/>
          <p:nvPr/>
        </p:nvSpPr>
        <p:spPr>
          <a:xfrm>
            <a:off x="502920" y="6163200"/>
            <a:ext cx="11151000" cy="379440"/>
          </a:xfrm>
          <a:prstGeom prst="roundRect">
            <a:avLst>
              <a:gd name="adj" fmla="val 12000"/>
            </a:avLst>
          </a:prstGeom>
          <a:solidFill>
            <a:srgbClr val="e7f8f6"/>
          </a:solidFill>
          <a:ln w="12600">
            <a:solidFill>
              <a:srgbClr val="a9d8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93" name="TextBox 41"/>
          <p:cNvSpPr/>
          <p:nvPr/>
        </p:nvSpPr>
        <p:spPr>
          <a:xfrm>
            <a:off x="640080" y="6240240"/>
            <a:ext cx="108766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algn="ctr">
              <a:lnSpc>
                <a:spcPct val="100000"/>
              </a:lnSpc>
            </a:pPr>
            <a:r>
              <a:rPr b="1" lang="ko-KR" sz="1150" spc="-1" strike="noStrike">
                <a:solidFill>
                  <a:srgbClr val="0a2f4f"/>
                </a:solidFill>
                <a:latin typeface="Malgun Gothic"/>
                <a:ea typeface="Calibri"/>
              </a:rPr>
              <a:t>핵심</a:t>
            </a:r>
            <a:r>
              <a:rPr b="1" lang="en-US" sz="1150" spc="-1" strike="noStrike">
                <a:solidFill>
                  <a:srgbClr val="0a2f4f"/>
                </a:solidFill>
                <a:latin typeface="Malgun Gothic"/>
                <a:ea typeface="Calibri"/>
              </a:rPr>
              <a:t>: backend</a:t>
            </a:r>
            <a:r>
              <a:rPr b="1" lang="ko-KR" sz="1150" spc="-1" strike="noStrike">
                <a:solidFill>
                  <a:srgbClr val="0a2f4f"/>
                </a:solidFill>
                <a:latin typeface="Malgun Gothic"/>
                <a:ea typeface="Calibri"/>
              </a:rPr>
              <a:t>는 </a:t>
            </a:r>
            <a:r>
              <a:rPr b="1" lang="en-US" sz="1150" spc="-1" strike="noStrike">
                <a:solidFill>
                  <a:srgbClr val="0a2f4f"/>
                </a:solidFill>
                <a:latin typeface="Malgun Gothic"/>
                <a:ea typeface="Calibri"/>
              </a:rPr>
              <a:t>ROS2</a:t>
            </a:r>
            <a:r>
              <a:rPr b="1" lang="ko-KR" sz="1150" spc="-1" strike="noStrike">
                <a:solidFill>
                  <a:srgbClr val="0a2f4f"/>
                </a:solidFill>
                <a:latin typeface="Malgun Gothic"/>
                <a:ea typeface="Calibri"/>
              </a:rPr>
              <a:t>와 </a:t>
            </a:r>
            <a:r>
              <a:rPr b="1" lang="en-US" sz="1150" spc="-1" strike="noStrike">
                <a:solidFill>
                  <a:srgbClr val="0a2f4f"/>
                </a:solidFill>
                <a:latin typeface="Malgun Gothic"/>
                <a:ea typeface="Calibri"/>
              </a:rPr>
              <a:t>API</a:t>
            </a:r>
            <a:r>
              <a:rPr b="1" lang="ko-KR" sz="1150" spc="-1" strike="noStrike">
                <a:solidFill>
                  <a:srgbClr val="0a2f4f"/>
                </a:solidFill>
                <a:latin typeface="Malgun Gothic"/>
                <a:ea typeface="Calibri"/>
              </a:rPr>
              <a:t>를 담당하고</a:t>
            </a:r>
            <a:r>
              <a:rPr b="1" lang="en-US" sz="1150" spc="-1" strike="noStrike">
                <a:solidFill>
                  <a:srgbClr val="0a2f4f"/>
                </a:solidFill>
                <a:latin typeface="Malgun Gothic"/>
                <a:ea typeface="Calibri"/>
              </a:rPr>
              <a:t>, frontend</a:t>
            </a:r>
            <a:r>
              <a:rPr b="1" lang="ko-KR" sz="1150" spc="-1" strike="noStrike">
                <a:solidFill>
                  <a:srgbClr val="0a2f4f"/>
                </a:solidFill>
                <a:latin typeface="Malgun Gothic"/>
                <a:ea typeface="Calibri"/>
              </a:rPr>
              <a:t>는 </a:t>
            </a:r>
            <a:r>
              <a:rPr b="1" lang="en-US" sz="1150" spc="-1" strike="noStrike">
                <a:solidFill>
                  <a:srgbClr val="0a2f4f"/>
                </a:solidFill>
                <a:latin typeface="Malgun Gothic"/>
                <a:ea typeface="Calibri"/>
              </a:rPr>
              <a:t>API </a:t>
            </a:r>
            <a:r>
              <a:rPr b="1" lang="ko-KR" sz="1150" spc="-1" strike="noStrike">
                <a:solidFill>
                  <a:srgbClr val="0a2f4f"/>
                </a:solidFill>
                <a:latin typeface="Malgun Gothic"/>
                <a:ea typeface="Calibri"/>
              </a:rPr>
              <a:t>결과를 화면과 그래프로 표현합니다</a:t>
            </a:r>
            <a:r>
              <a:rPr b="1" lang="en-US" sz="1150" spc="-1" strike="noStrike">
                <a:solidFill>
                  <a:srgbClr val="0a2f4f"/>
                </a:solidFill>
                <a:latin typeface="Malgun Gothic"/>
                <a:ea typeface="Calibri"/>
              </a:rPr>
              <a:t>.</a:t>
            </a:r>
            <a:endParaRPr b="0" lang="en-US" sz="115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194" name="" descr=""/>
          <p:cNvPicPr/>
          <p:nvPr/>
        </p:nvPicPr>
        <p:blipFill>
          <a:blip r:embed="rId1"/>
          <a:stretch/>
        </p:blipFill>
        <p:spPr>
          <a:xfrm>
            <a:off x="900000" y="2160000"/>
            <a:ext cx="4856040" cy="325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angle 1"/>
          <p:cNvSpPr/>
          <p:nvPr/>
        </p:nvSpPr>
        <p:spPr>
          <a:xfrm>
            <a:off x="0" y="0"/>
            <a:ext cx="12183840" cy="64800"/>
          </a:xfrm>
          <a:prstGeom prst="rect">
            <a:avLst/>
          </a:prstGeom>
          <a:solidFill>
            <a:srgbClr val="009488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196" name="TextBox 2"/>
          <p:cNvSpPr/>
          <p:nvPr/>
        </p:nvSpPr>
        <p:spPr>
          <a:xfrm>
            <a:off x="821160" y="146160"/>
            <a:ext cx="787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007bbe"/>
                </a:solidFill>
                <a:latin typeface="Calibri"/>
                <a:ea typeface="Calibri"/>
              </a:rPr>
              <a:t>MONITORING</a:t>
            </a:r>
            <a:endParaRPr b="0" lang="en-US" sz="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7" name="TextBox 3"/>
          <p:cNvSpPr/>
          <p:nvPr/>
        </p:nvSpPr>
        <p:spPr>
          <a:xfrm>
            <a:off x="11161800" y="297360"/>
            <a:ext cx="3060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r">
              <a:lnSpc>
                <a:spcPct val="100000"/>
              </a:lnSpc>
            </a:pPr>
            <a:r>
              <a:rPr b="1" lang="en-US" sz="850" spc="-1" strike="noStrike">
                <a:solidFill>
                  <a:srgbClr val="5b6e7d"/>
                </a:solidFill>
                <a:latin typeface="Malgun Gothic"/>
                <a:ea typeface="Calibri"/>
              </a:rPr>
              <a:t>06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8" name="TextBox 4"/>
          <p:cNvSpPr/>
          <p:nvPr/>
        </p:nvSpPr>
        <p:spPr>
          <a:xfrm>
            <a:off x="2941920" y="384120"/>
            <a:ext cx="614772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061f33"/>
                </a:solidFill>
                <a:latin typeface="Calibri"/>
                <a:ea typeface="Calibri"/>
              </a:rPr>
              <a:t>Overview</a:t>
            </a:r>
            <a:r>
              <a:rPr b="1" lang="ko-KR" sz="2100" spc="-1" strike="noStrike">
                <a:solidFill>
                  <a:srgbClr val="061f33"/>
                </a:solidFill>
                <a:latin typeface="Calibri"/>
                <a:ea typeface="Calibri"/>
              </a:rPr>
              <a:t>는 전체 상태와 </a:t>
            </a:r>
            <a:r>
              <a:rPr b="1" lang="en-US" sz="2100" spc="-1" strike="noStrike">
                <a:solidFill>
                  <a:srgbClr val="061f33"/>
                </a:solidFill>
                <a:latin typeface="Calibri"/>
                <a:ea typeface="Calibri"/>
              </a:rPr>
              <a:t>Alert</a:t>
            </a:r>
            <a:r>
              <a:rPr b="1" lang="ko-KR" sz="2100" spc="-1" strike="noStrike">
                <a:solidFill>
                  <a:srgbClr val="061f33"/>
                </a:solidFill>
                <a:latin typeface="Calibri"/>
                <a:ea typeface="Calibri"/>
              </a:rPr>
              <a:t>를 한눈에 보여줍니다</a:t>
            </a:r>
            <a:endParaRPr b="0" lang="en-US" sz="2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9" name="TextBox 5"/>
          <p:cNvSpPr/>
          <p:nvPr/>
        </p:nvSpPr>
        <p:spPr>
          <a:xfrm>
            <a:off x="3838680" y="822960"/>
            <a:ext cx="402480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요약 카드는 상태를 넓게 보여주고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, Alert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는 조치가 필요한 조건만 선별합니다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.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0" name="Rounded Rectangle 9"/>
          <p:cNvSpPr/>
          <p:nvPr/>
        </p:nvSpPr>
        <p:spPr>
          <a:xfrm>
            <a:off x="777240" y="5940000"/>
            <a:ext cx="3417840" cy="28440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 w="12600">
            <a:solidFill>
              <a:srgbClr val="00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09488"/>
                </a:solidFill>
                <a:latin typeface="Calibri"/>
                <a:ea typeface="Calibri"/>
              </a:rPr>
              <a:t>Node · Topic · Service · Action </a:t>
            </a:r>
            <a:r>
              <a:rPr b="1" lang="ko-KR" sz="850" spc="-1" strike="noStrike">
                <a:solidFill>
                  <a:srgbClr val="009488"/>
                </a:solidFill>
                <a:latin typeface="Calibri"/>
                <a:ea typeface="Calibri"/>
              </a:rPr>
              <a:t>요약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1" name="Rounded Rectangle 10"/>
          <p:cNvSpPr/>
          <p:nvPr/>
        </p:nvSpPr>
        <p:spPr>
          <a:xfrm>
            <a:off x="4367880" y="5940000"/>
            <a:ext cx="3417840" cy="28440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 w="12600">
            <a:solidFill>
              <a:srgbClr val="f0aa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850" spc="-1" strike="noStrike">
                <a:solidFill>
                  <a:srgbClr val="f0aa3c"/>
                </a:solidFill>
                <a:latin typeface="Calibri"/>
                <a:ea typeface="Calibri"/>
              </a:rPr>
              <a:t>최근 </a:t>
            </a:r>
            <a:r>
              <a:rPr b="1" lang="en-US" sz="850" spc="-1" strike="noStrike">
                <a:solidFill>
                  <a:srgbClr val="f0aa3c"/>
                </a:solidFill>
                <a:latin typeface="Calibri"/>
                <a:ea typeface="Calibri"/>
              </a:rPr>
              <a:t>Alert</a:t>
            </a:r>
            <a:r>
              <a:rPr b="1" lang="ko-KR" sz="850" spc="-1" strike="noStrike">
                <a:solidFill>
                  <a:srgbClr val="f0aa3c"/>
                </a:solidFill>
                <a:latin typeface="Calibri"/>
                <a:ea typeface="Calibri"/>
              </a:rPr>
              <a:t>와 상태 분포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2" name="Rounded Rectangle 11"/>
          <p:cNvSpPr/>
          <p:nvPr/>
        </p:nvSpPr>
        <p:spPr>
          <a:xfrm>
            <a:off x="7921440" y="5940000"/>
            <a:ext cx="3417840" cy="28440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 w="12600">
            <a:solidFill>
              <a:srgbClr val="007b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07bbe"/>
                </a:solidFill>
                <a:latin typeface="Calibri"/>
                <a:ea typeface="Calibri"/>
              </a:rPr>
              <a:t>Badge</a:t>
            </a:r>
            <a:r>
              <a:rPr b="1" lang="ko-KR" sz="850" spc="-1" strike="noStrike">
                <a:solidFill>
                  <a:srgbClr val="007bbe"/>
                </a:solidFill>
                <a:latin typeface="Calibri"/>
                <a:ea typeface="Calibri"/>
              </a:rPr>
              <a:t>와 </a:t>
            </a:r>
            <a:r>
              <a:rPr b="1" lang="en-US" sz="850" spc="-1" strike="noStrike">
                <a:solidFill>
                  <a:srgbClr val="007bbe"/>
                </a:solidFill>
                <a:latin typeface="Calibri"/>
                <a:ea typeface="Calibri"/>
              </a:rPr>
              <a:t>Alert</a:t>
            </a:r>
            <a:r>
              <a:rPr b="1" lang="ko-KR" sz="850" spc="-1" strike="noStrike">
                <a:solidFill>
                  <a:srgbClr val="007bbe"/>
                </a:solidFill>
                <a:latin typeface="Calibri"/>
                <a:ea typeface="Calibri"/>
              </a:rPr>
              <a:t>는 별도 기준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3" name="TextBox 12"/>
          <p:cNvSpPr/>
          <p:nvPr/>
        </p:nvSpPr>
        <p:spPr>
          <a:xfrm>
            <a:off x="457200" y="6565320"/>
            <a:ext cx="1123884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실제 화면</a:t>
            </a:r>
            <a:r>
              <a:rPr b="0" lang="en-US" sz="620" spc="-1" strike="noStrike">
                <a:solidFill>
                  <a:srgbClr val="526979"/>
                </a:solidFill>
                <a:latin typeface="Calibri"/>
                <a:ea typeface="Calibri"/>
              </a:rPr>
              <a:t>: Overview / Recent Alert / </a:t>
            </a: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상태 분포</a:t>
            </a:r>
            <a:endParaRPr b="0" lang="en-US" sz="62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204" name="" descr=""/>
          <p:cNvPicPr/>
          <p:nvPr/>
        </p:nvPicPr>
        <p:blipFill>
          <a:blip r:embed="rId1"/>
          <a:stretch/>
        </p:blipFill>
        <p:spPr>
          <a:xfrm>
            <a:off x="360000" y="1080000"/>
            <a:ext cx="11291040" cy="4763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1"/>
          <p:cNvSpPr/>
          <p:nvPr/>
        </p:nvSpPr>
        <p:spPr>
          <a:xfrm>
            <a:off x="0" y="0"/>
            <a:ext cx="12185280" cy="66600"/>
          </a:xfrm>
          <a:prstGeom prst="rect">
            <a:avLst/>
          </a:prstGeom>
          <a:solidFill>
            <a:srgbClr val="009287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06" name="TextBox 2"/>
          <p:cNvSpPr/>
          <p:nvPr/>
        </p:nvSpPr>
        <p:spPr>
          <a:xfrm>
            <a:off x="685800" y="255960"/>
            <a:ext cx="18223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850" spc="-1" strike="noStrike">
                <a:solidFill>
                  <a:srgbClr val="002d4e"/>
                </a:solidFill>
                <a:latin typeface="Aptos"/>
                <a:ea typeface="Calibri"/>
              </a:rPr>
              <a:t>MONITORING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7" name="TextBox 3"/>
          <p:cNvSpPr/>
          <p:nvPr/>
        </p:nvSpPr>
        <p:spPr>
          <a:xfrm>
            <a:off x="11161800" y="297360"/>
            <a:ext cx="3060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r">
              <a:lnSpc>
                <a:spcPct val="100000"/>
              </a:lnSpc>
            </a:pPr>
            <a:r>
              <a:rPr b="1" lang="en-US" sz="850" spc="-1" strike="noStrike">
                <a:solidFill>
                  <a:srgbClr val="5b6e7d"/>
                </a:solidFill>
                <a:latin typeface="Malgun Gothic"/>
                <a:ea typeface="Calibri"/>
              </a:rPr>
              <a:t>07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8" name="TextBox 4"/>
          <p:cNvSpPr/>
          <p:nvPr/>
        </p:nvSpPr>
        <p:spPr>
          <a:xfrm>
            <a:off x="685800" y="548640"/>
            <a:ext cx="10051920" cy="46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50" spc="-1" strike="noStrike">
                <a:solidFill>
                  <a:srgbClr val="002d4e"/>
                </a:solidFill>
                <a:latin typeface="Aptos"/>
                <a:ea typeface="Calibri"/>
              </a:rPr>
              <a:t>Alert</a:t>
            </a:r>
            <a:r>
              <a:rPr b="1" lang="ko-KR" sz="2450" spc="-1" strike="noStrike">
                <a:solidFill>
                  <a:srgbClr val="002d4e"/>
                </a:solidFill>
                <a:latin typeface="Aptos"/>
                <a:ea typeface="Calibri"/>
              </a:rPr>
              <a:t>는 현재 장애와 최근 해결된 장애를 구분합니다</a:t>
            </a:r>
            <a:endParaRPr b="0" lang="en-US" sz="24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9" name="TextBox 5"/>
          <p:cNvSpPr/>
          <p:nvPr/>
        </p:nvSpPr>
        <p:spPr>
          <a:xfrm>
            <a:off x="685800" y="1078920"/>
            <a:ext cx="107834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ko-KR" sz="1300" spc="-1" strike="noStrike">
                <a:solidFill>
                  <a:srgbClr val="526273"/>
                </a:solidFill>
                <a:latin typeface="Aptos"/>
                <a:ea typeface="Calibri"/>
              </a:rPr>
              <a:t>장애가 지속되는 동안 </a:t>
            </a:r>
            <a:r>
              <a:rPr b="0" lang="en-US" sz="1300" spc="-1" strike="noStrike">
                <a:solidFill>
                  <a:srgbClr val="526273"/>
                </a:solidFill>
                <a:latin typeface="Aptos"/>
                <a:ea typeface="Calibri"/>
              </a:rPr>
              <a:t>active</a:t>
            </a:r>
            <a:r>
              <a:rPr b="0" lang="ko-KR" sz="1300" spc="-1" strike="noStrike">
                <a:solidFill>
                  <a:srgbClr val="526273"/>
                </a:solidFill>
                <a:latin typeface="Aptos"/>
                <a:ea typeface="Calibri"/>
              </a:rPr>
              <a:t>로 표시하고</a:t>
            </a:r>
            <a:r>
              <a:rPr b="0" lang="en-US" sz="1300" spc="-1" strike="noStrike">
                <a:solidFill>
                  <a:srgbClr val="526273"/>
                </a:solidFill>
                <a:latin typeface="Aptos"/>
                <a:ea typeface="Calibri"/>
              </a:rPr>
              <a:t>, </a:t>
            </a:r>
            <a:r>
              <a:rPr b="0" lang="ko-KR" sz="1300" spc="-1" strike="noStrike">
                <a:solidFill>
                  <a:srgbClr val="526273"/>
                </a:solidFill>
                <a:latin typeface="Aptos"/>
                <a:ea typeface="Calibri"/>
              </a:rPr>
              <a:t>해결된 </a:t>
            </a:r>
            <a:r>
              <a:rPr b="0" lang="en-US" sz="1300" spc="-1" strike="noStrike">
                <a:solidFill>
                  <a:srgbClr val="526273"/>
                </a:solidFill>
                <a:latin typeface="Aptos"/>
                <a:ea typeface="Calibri"/>
              </a:rPr>
              <a:t>Alert</a:t>
            </a:r>
            <a:r>
              <a:rPr b="0" lang="ko-KR" sz="1300" spc="-1" strike="noStrike">
                <a:solidFill>
                  <a:srgbClr val="526273"/>
                </a:solidFill>
                <a:latin typeface="Aptos"/>
                <a:ea typeface="Calibri"/>
              </a:rPr>
              <a:t>는 </a:t>
            </a:r>
            <a:r>
              <a:rPr b="0" lang="en-US" sz="1300" spc="-1" strike="noStrike">
                <a:solidFill>
                  <a:srgbClr val="526273"/>
                </a:solidFill>
                <a:latin typeface="Aptos"/>
                <a:ea typeface="Calibri"/>
              </a:rPr>
              <a:t>60</a:t>
            </a:r>
            <a:r>
              <a:rPr b="0" lang="ko-KR" sz="1300" spc="-1" strike="noStrike">
                <a:solidFill>
                  <a:srgbClr val="526273"/>
                </a:solidFill>
                <a:latin typeface="Aptos"/>
                <a:ea typeface="Calibri"/>
              </a:rPr>
              <a:t>초간 </a:t>
            </a:r>
            <a:r>
              <a:rPr b="0" lang="en-US" sz="1300" spc="-1" strike="noStrike">
                <a:solidFill>
                  <a:srgbClr val="526273"/>
                </a:solidFill>
                <a:latin typeface="Aptos"/>
                <a:ea typeface="Calibri"/>
              </a:rPr>
              <a:t>resolved</a:t>
            </a:r>
            <a:r>
              <a:rPr b="0" lang="ko-KR" sz="1300" spc="-1" strike="noStrike">
                <a:solidFill>
                  <a:srgbClr val="526273"/>
                </a:solidFill>
                <a:latin typeface="Aptos"/>
                <a:ea typeface="Calibri"/>
              </a:rPr>
              <a:t>로 남겨 원인 확인 시간을 확보합니다</a:t>
            </a:r>
            <a:r>
              <a:rPr b="0" lang="en-US" sz="1300" spc="-1" strike="noStrike">
                <a:solidFill>
                  <a:srgbClr val="526273"/>
                </a:solidFill>
                <a:latin typeface="Aptos"/>
                <a:ea typeface="Calibri"/>
              </a:rPr>
              <a:t>.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0" name="Rectangle 7"/>
          <p:cNvSpPr/>
          <p:nvPr/>
        </p:nvSpPr>
        <p:spPr>
          <a:xfrm>
            <a:off x="713160" y="1800000"/>
            <a:ext cx="57600" cy="1073880"/>
          </a:xfrm>
          <a:prstGeom prst="rect">
            <a:avLst/>
          </a:prstGeom>
          <a:solidFill>
            <a:srgbClr val="f4b84e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11" name="TextBox 8"/>
          <p:cNvSpPr/>
          <p:nvPr/>
        </p:nvSpPr>
        <p:spPr>
          <a:xfrm>
            <a:off x="941760" y="1901880"/>
            <a:ext cx="3834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ko-KR" sz="1450" spc="-1" strike="noStrike">
                <a:solidFill>
                  <a:srgbClr val="00233e"/>
                </a:solidFill>
                <a:latin typeface="Aptos"/>
                <a:ea typeface="Calibri"/>
              </a:rPr>
              <a:t>현재 </a:t>
            </a:r>
            <a:r>
              <a:rPr b="1" lang="en-US" sz="1450" spc="-1" strike="noStrike">
                <a:solidFill>
                  <a:srgbClr val="00233e"/>
                </a:solidFill>
                <a:latin typeface="Aptos"/>
                <a:ea typeface="Calibri"/>
              </a:rPr>
              <a:t>Alert</a:t>
            </a:r>
            <a:endParaRPr b="0" lang="en-US" sz="14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2" name="TextBox 9"/>
          <p:cNvSpPr/>
          <p:nvPr/>
        </p:nvSpPr>
        <p:spPr>
          <a:xfrm>
            <a:off x="941760" y="2340720"/>
            <a:ext cx="38340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ko-KR" sz="1080" spc="-1" strike="noStrike">
                <a:solidFill>
                  <a:srgbClr val="4c6177"/>
                </a:solidFill>
                <a:latin typeface="Aptos"/>
                <a:ea typeface="Calibri"/>
              </a:rPr>
              <a:t>현재 장애가 남아 있는 항목입니다</a:t>
            </a:r>
            <a:r>
              <a:rPr b="0" lang="en-US" sz="1080" spc="-1" strike="noStrike">
                <a:solidFill>
                  <a:srgbClr val="4c6177"/>
                </a:solidFill>
                <a:latin typeface="Aptos"/>
                <a:ea typeface="Calibri"/>
              </a:rPr>
              <a:t>.</a:t>
            </a:r>
            <a:endParaRPr b="0" lang="en-US" sz="1080" spc="-1" strike="noStrike">
              <a:solidFill>
                <a:srgbClr val="000000"/>
              </a:solidFill>
              <a:latin typeface="Noto Sans CJK KR"/>
            </a:endParaRPr>
          </a:p>
          <a:p>
            <a:pPr>
              <a:lnSpc>
                <a:spcPct val="100000"/>
              </a:lnSpc>
            </a:pPr>
            <a:r>
              <a:rPr b="0" lang="en-US" sz="1080" spc="-1" strike="noStrike">
                <a:solidFill>
                  <a:srgbClr val="4c6177"/>
                </a:solidFill>
                <a:latin typeface="Aptos"/>
                <a:ea typeface="Calibri"/>
              </a:rPr>
              <a:t>warning/error </a:t>
            </a:r>
            <a:r>
              <a:rPr b="0" lang="ko-KR" sz="1080" spc="-1" strike="noStrike">
                <a:solidFill>
                  <a:srgbClr val="4c6177"/>
                </a:solidFill>
                <a:latin typeface="Aptos"/>
                <a:ea typeface="Calibri"/>
              </a:rPr>
              <a:t>집계에 포함되며 즉시 확인해야 합니다</a:t>
            </a:r>
            <a:r>
              <a:rPr b="0" lang="en-US" sz="1080" spc="-1" strike="noStrike">
                <a:solidFill>
                  <a:srgbClr val="4c6177"/>
                </a:solidFill>
                <a:latin typeface="Aptos"/>
                <a:ea typeface="Calibri"/>
              </a:rPr>
              <a:t>.</a:t>
            </a:r>
            <a:endParaRPr b="0" lang="en-US" sz="108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3" name="Rectangle 11"/>
          <p:cNvSpPr/>
          <p:nvPr/>
        </p:nvSpPr>
        <p:spPr>
          <a:xfrm>
            <a:off x="713160" y="3182400"/>
            <a:ext cx="57600" cy="1056960"/>
          </a:xfrm>
          <a:prstGeom prst="rect">
            <a:avLst/>
          </a:prstGeom>
          <a:solidFill>
            <a:srgbClr val="009989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14" name="TextBox 12"/>
          <p:cNvSpPr/>
          <p:nvPr/>
        </p:nvSpPr>
        <p:spPr>
          <a:xfrm>
            <a:off x="839880" y="3240000"/>
            <a:ext cx="3834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ko-KR" sz="1450" spc="-1" strike="noStrike">
                <a:solidFill>
                  <a:srgbClr val="00233e"/>
                </a:solidFill>
                <a:latin typeface="Aptos"/>
                <a:ea typeface="Calibri"/>
              </a:rPr>
              <a:t>이전 </a:t>
            </a:r>
            <a:r>
              <a:rPr b="1" lang="en-US" sz="1450" spc="-1" strike="noStrike">
                <a:solidFill>
                  <a:srgbClr val="00233e"/>
                </a:solidFill>
                <a:latin typeface="Aptos"/>
                <a:ea typeface="Calibri"/>
              </a:rPr>
              <a:t>Alert</a:t>
            </a:r>
            <a:endParaRPr b="0" lang="en-US" sz="14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5" name="TextBox 13"/>
          <p:cNvSpPr/>
          <p:nvPr/>
        </p:nvSpPr>
        <p:spPr>
          <a:xfrm>
            <a:off x="900000" y="3721320"/>
            <a:ext cx="383400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ko-KR" sz="1080" spc="-1" strike="noStrike">
                <a:solidFill>
                  <a:srgbClr val="4c6177"/>
                </a:solidFill>
                <a:latin typeface="Aptos"/>
                <a:ea typeface="Calibri"/>
              </a:rPr>
              <a:t>이미 해결된 항목입니다</a:t>
            </a:r>
            <a:r>
              <a:rPr b="0" lang="en-US" sz="1080" spc="-1" strike="noStrike">
                <a:solidFill>
                  <a:srgbClr val="4c6177"/>
                </a:solidFill>
                <a:latin typeface="Aptos"/>
                <a:ea typeface="Calibri"/>
              </a:rPr>
              <a:t>.</a:t>
            </a:r>
            <a:endParaRPr b="0" lang="en-US" sz="1080" spc="-1" strike="noStrike">
              <a:solidFill>
                <a:srgbClr val="000000"/>
              </a:solidFill>
              <a:latin typeface="Noto Sans CJK KR"/>
            </a:endParaRPr>
          </a:p>
          <a:p>
            <a:pPr>
              <a:lnSpc>
                <a:spcPct val="100000"/>
              </a:lnSpc>
            </a:pPr>
            <a:r>
              <a:rPr b="0" lang="ko-KR" sz="1080" spc="-1" strike="noStrike">
                <a:solidFill>
                  <a:srgbClr val="4c6177"/>
                </a:solidFill>
                <a:latin typeface="Aptos"/>
                <a:ea typeface="Calibri"/>
              </a:rPr>
              <a:t>현재 장애 집계에서는 제외하고 </a:t>
            </a:r>
            <a:r>
              <a:rPr b="0" lang="en-US" sz="1080" spc="-1" strike="noStrike">
                <a:solidFill>
                  <a:srgbClr val="4c6177"/>
                </a:solidFill>
                <a:latin typeface="Aptos"/>
                <a:ea typeface="Calibri"/>
              </a:rPr>
              <a:t>60</a:t>
            </a:r>
            <a:r>
              <a:rPr b="0" lang="ko-KR" sz="1080" spc="-1" strike="noStrike">
                <a:solidFill>
                  <a:srgbClr val="4c6177"/>
                </a:solidFill>
                <a:latin typeface="Aptos"/>
                <a:ea typeface="Calibri"/>
              </a:rPr>
              <a:t>초 동안만 남깁니다</a:t>
            </a:r>
            <a:r>
              <a:rPr b="0" lang="en-US" sz="1080" spc="-1" strike="noStrike">
                <a:solidFill>
                  <a:srgbClr val="4c6177"/>
                </a:solidFill>
                <a:latin typeface="Aptos"/>
                <a:ea typeface="Calibri"/>
              </a:rPr>
              <a:t>.</a:t>
            </a:r>
            <a:endParaRPr b="0" lang="en-US" sz="108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6" name="Rectangle 15"/>
          <p:cNvSpPr/>
          <p:nvPr/>
        </p:nvSpPr>
        <p:spPr>
          <a:xfrm>
            <a:off x="713160" y="4680000"/>
            <a:ext cx="57600" cy="1253880"/>
          </a:xfrm>
          <a:prstGeom prst="rect">
            <a:avLst/>
          </a:prstGeom>
          <a:solidFill>
            <a:srgbClr val="006cbe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17" name="TextBox 16"/>
          <p:cNvSpPr/>
          <p:nvPr/>
        </p:nvSpPr>
        <p:spPr>
          <a:xfrm>
            <a:off x="900000" y="4860000"/>
            <a:ext cx="3834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ko-KR" sz="1450" spc="-1" strike="noStrike">
                <a:solidFill>
                  <a:srgbClr val="00233e"/>
                </a:solidFill>
                <a:latin typeface="Aptos"/>
                <a:ea typeface="Calibri"/>
              </a:rPr>
              <a:t>정책 요약</a:t>
            </a:r>
            <a:endParaRPr b="0" lang="en-US" sz="14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8" name="TextBox 17"/>
          <p:cNvSpPr/>
          <p:nvPr/>
        </p:nvSpPr>
        <p:spPr>
          <a:xfrm>
            <a:off x="1019880" y="5190840"/>
            <a:ext cx="3834000" cy="56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4c6177"/>
                </a:solidFill>
                <a:latin typeface="Aptos"/>
                <a:ea typeface="Calibri"/>
              </a:rPr>
              <a:t>active</a:t>
            </a:r>
            <a:r>
              <a:rPr b="0" lang="ko-KR" sz="1050" spc="-1" strike="noStrike">
                <a:solidFill>
                  <a:srgbClr val="4c6177"/>
                </a:solidFill>
                <a:latin typeface="Aptos"/>
                <a:ea typeface="Calibri"/>
              </a:rPr>
              <a:t>는 장애가 지속되는 동안 유지</a:t>
            </a:r>
            <a:endParaRPr b="0" lang="en-US" sz="1050" spc="-1" strike="noStrike">
              <a:solidFill>
                <a:srgbClr val="000000"/>
              </a:solidFill>
              <a:latin typeface="Noto Sans CJK KR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4c6177"/>
                </a:solidFill>
                <a:latin typeface="Aptos"/>
                <a:ea typeface="Calibri"/>
              </a:rPr>
              <a:t>resolved</a:t>
            </a:r>
            <a:r>
              <a:rPr b="0" lang="ko-KR" sz="1050" spc="-1" strike="noStrike">
                <a:solidFill>
                  <a:srgbClr val="4c6177"/>
                </a:solidFill>
                <a:latin typeface="Aptos"/>
                <a:ea typeface="Calibri"/>
              </a:rPr>
              <a:t>는 </a:t>
            </a:r>
            <a:r>
              <a:rPr b="0" lang="en-US" sz="1050" spc="-1" strike="noStrike">
                <a:solidFill>
                  <a:srgbClr val="4c6177"/>
                </a:solidFill>
                <a:latin typeface="Aptos"/>
                <a:ea typeface="Calibri"/>
              </a:rPr>
              <a:t>60</a:t>
            </a:r>
            <a:r>
              <a:rPr b="0" lang="ko-KR" sz="1050" spc="-1" strike="noStrike">
                <a:solidFill>
                  <a:srgbClr val="4c6177"/>
                </a:solidFill>
                <a:latin typeface="Aptos"/>
                <a:ea typeface="Calibri"/>
              </a:rPr>
              <a:t>초 동안 보관</a:t>
            </a:r>
            <a:endParaRPr b="0" lang="en-US" sz="1050" spc="-1" strike="noStrike">
              <a:solidFill>
                <a:srgbClr val="000000"/>
              </a:solidFill>
              <a:latin typeface="Noto Sans CJK KR"/>
            </a:endParaRPr>
          </a:p>
          <a:p>
            <a:pPr>
              <a:lnSpc>
                <a:spcPct val="100000"/>
              </a:lnSpc>
            </a:pPr>
            <a:r>
              <a:rPr b="0" lang="ko-KR" sz="1050" spc="-1" strike="noStrike">
                <a:solidFill>
                  <a:srgbClr val="4c6177"/>
                </a:solidFill>
                <a:latin typeface="Aptos"/>
                <a:ea typeface="Calibri"/>
              </a:rPr>
              <a:t>재발 시 기존 </a:t>
            </a:r>
            <a:r>
              <a:rPr b="0" lang="en-US" sz="1050" spc="-1" strike="noStrike">
                <a:solidFill>
                  <a:srgbClr val="4c6177"/>
                </a:solidFill>
                <a:latin typeface="Aptos"/>
                <a:ea typeface="Calibri"/>
              </a:rPr>
              <a:t>Alert</a:t>
            </a:r>
            <a:r>
              <a:rPr b="0" lang="ko-KR" sz="1050" spc="-1" strike="noStrike">
                <a:solidFill>
                  <a:srgbClr val="4c6177"/>
                </a:solidFill>
                <a:latin typeface="Aptos"/>
                <a:ea typeface="Calibri"/>
              </a:rPr>
              <a:t>를 </a:t>
            </a:r>
            <a:r>
              <a:rPr b="0" lang="en-US" sz="1050" spc="-1" strike="noStrike">
                <a:solidFill>
                  <a:srgbClr val="4c6177"/>
                </a:solidFill>
                <a:latin typeface="Aptos"/>
                <a:ea typeface="Calibri"/>
              </a:rPr>
              <a:t>active</a:t>
            </a:r>
            <a:r>
              <a:rPr b="0" lang="ko-KR" sz="1050" spc="-1" strike="noStrike">
                <a:solidFill>
                  <a:srgbClr val="4c6177"/>
                </a:solidFill>
                <a:latin typeface="Aptos"/>
                <a:ea typeface="Calibri"/>
              </a:rPr>
              <a:t>로 전환</a:t>
            </a:r>
            <a:endParaRPr b="0" lang="en-US" sz="10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9" name="TextBox 18"/>
          <p:cNvSpPr/>
          <p:nvPr/>
        </p:nvSpPr>
        <p:spPr>
          <a:xfrm>
            <a:off x="5440680" y="1499760"/>
            <a:ext cx="291960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ko-KR" sz="1150" spc="-1" strike="noStrike">
                <a:solidFill>
                  <a:srgbClr val="002d4e"/>
                </a:solidFill>
                <a:latin typeface="Aptos"/>
                <a:ea typeface="Calibri"/>
              </a:rPr>
              <a:t>장애 발생 중</a:t>
            </a:r>
            <a:r>
              <a:rPr b="1" lang="en-US" sz="1150" spc="-1" strike="noStrike">
                <a:solidFill>
                  <a:srgbClr val="002d4e"/>
                </a:solidFill>
                <a:latin typeface="Aptos"/>
                <a:ea typeface="Calibri"/>
              </a:rPr>
              <a:t>: </a:t>
            </a:r>
            <a:r>
              <a:rPr b="1" lang="ko-KR" sz="1150" spc="-1" strike="noStrike">
                <a:solidFill>
                  <a:srgbClr val="002d4e"/>
                </a:solidFill>
                <a:latin typeface="Aptos"/>
                <a:ea typeface="Calibri"/>
              </a:rPr>
              <a:t>현재 </a:t>
            </a:r>
            <a:r>
              <a:rPr b="1" lang="en-US" sz="1150" spc="-1" strike="noStrike">
                <a:solidFill>
                  <a:srgbClr val="002d4e"/>
                </a:solidFill>
                <a:latin typeface="Aptos"/>
                <a:ea typeface="Calibri"/>
              </a:rPr>
              <a:t>Alert</a:t>
            </a:r>
            <a:endParaRPr b="0" lang="en-US" sz="115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220" name="Picture 19" descr="f9ce5687-c7cb-4d53-9f64-706c61919ae1.png"/>
          <p:cNvPicPr/>
          <p:nvPr/>
        </p:nvPicPr>
        <p:blipFill>
          <a:blip r:embed="rId1"/>
          <a:stretch/>
        </p:blipFill>
        <p:spPr>
          <a:xfrm>
            <a:off x="5440680" y="1764720"/>
            <a:ext cx="6028560" cy="2055240"/>
          </a:xfrm>
          <a:prstGeom prst="rect">
            <a:avLst/>
          </a:prstGeom>
          <a:ln w="0">
            <a:noFill/>
          </a:ln>
        </p:spPr>
      </p:pic>
      <p:sp>
        <p:nvSpPr>
          <p:cNvPr id="221" name="Rectangle 20"/>
          <p:cNvSpPr/>
          <p:nvPr/>
        </p:nvSpPr>
        <p:spPr>
          <a:xfrm>
            <a:off x="5440680" y="1764720"/>
            <a:ext cx="6028560" cy="2055240"/>
          </a:xfrm>
          <a:prstGeom prst="rect">
            <a:avLst/>
          </a:prstGeom>
          <a:noFill/>
          <a:ln w="12600">
            <a:solidFill>
              <a:srgbClr val="cdd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22" name="TextBox 21"/>
          <p:cNvSpPr/>
          <p:nvPr/>
        </p:nvSpPr>
        <p:spPr>
          <a:xfrm>
            <a:off x="5440680" y="3875040"/>
            <a:ext cx="291960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ko-KR" sz="1150" spc="-1" strike="noStrike">
                <a:solidFill>
                  <a:srgbClr val="002d4e"/>
                </a:solidFill>
                <a:latin typeface="Aptos"/>
                <a:ea typeface="Calibri"/>
              </a:rPr>
              <a:t>해결 후</a:t>
            </a:r>
            <a:r>
              <a:rPr b="1" lang="en-US" sz="1150" spc="-1" strike="noStrike">
                <a:solidFill>
                  <a:srgbClr val="002d4e"/>
                </a:solidFill>
                <a:latin typeface="Aptos"/>
                <a:ea typeface="Calibri"/>
              </a:rPr>
              <a:t>: </a:t>
            </a:r>
            <a:r>
              <a:rPr b="1" lang="ko-KR" sz="1150" spc="-1" strike="noStrike">
                <a:solidFill>
                  <a:srgbClr val="002d4e"/>
                </a:solidFill>
                <a:latin typeface="Aptos"/>
                <a:ea typeface="Calibri"/>
              </a:rPr>
              <a:t>이전 </a:t>
            </a:r>
            <a:r>
              <a:rPr b="1" lang="en-US" sz="1150" spc="-1" strike="noStrike">
                <a:solidFill>
                  <a:srgbClr val="002d4e"/>
                </a:solidFill>
                <a:latin typeface="Aptos"/>
                <a:ea typeface="Calibri"/>
              </a:rPr>
              <a:t>Alert</a:t>
            </a:r>
            <a:endParaRPr b="0" lang="en-US" sz="115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223" name="Picture 22" descr="b96b9ba0-d3ea-4188-9e0f-1f3b5e065d65.png"/>
          <p:cNvPicPr/>
          <p:nvPr/>
        </p:nvPicPr>
        <p:blipFill>
          <a:blip r:embed="rId2"/>
          <a:stretch/>
        </p:blipFill>
        <p:spPr>
          <a:xfrm>
            <a:off x="5440680" y="4238640"/>
            <a:ext cx="6028560" cy="2055240"/>
          </a:xfrm>
          <a:prstGeom prst="rect">
            <a:avLst/>
          </a:prstGeom>
          <a:ln w="0">
            <a:noFill/>
          </a:ln>
        </p:spPr>
      </p:pic>
      <p:sp>
        <p:nvSpPr>
          <p:cNvPr id="224" name="Rectangle 23"/>
          <p:cNvSpPr/>
          <p:nvPr/>
        </p:nvSpPr>
        <p:spPr>
          <a:xfrm>
            <a:off x="5440680" y="4238640"/>
            <a:ext cx="6028560" cy="2055240"/>
          </a:xfrm>
          <a:prstGeom prst="rect">
            <a:avLst/>
          </a:prstGeom>
          <a:noFill/>
          <a:ln w="12600">
            <a:solidFill>
              <a:srgbClr val="cdd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25" name="Rectangle 24"/>
          <p:cNvSpPr/>
          <p:nvPr/>
        </p:nvSpPr>
        <p:spPr>
          <a:xfrm>
            <a:off x="621720" y="6437520"/>
            <a:ext cx="10966320" cy="2520"/>
          </a:xfrm>
          <a:prstGeom prst="rect">
            <a:avLst/>
          </a:prstGeom>
          <a:solidFill>
            <a:srgbClr val="cddae6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26" name="TextBox 25"/>
          <p:cNvSpPr/>
          <p:nvPr/>
        </p:nvSpPr>
        <p:spPr>
          <a:xfrm>
            <a:off x="685800" y="6473880"/>
            <a:ext cx="84974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ko-KR" sz="650" spc="-1" strike="noStrike">
                <a:solidFill>
                  <a:srgbClr val="646f7a"/>
                </a:solidFill>
                <a:latin typeface="Aptos"/>
                <a:ea typeface="Calibri"/>
              </a:rPr>
              <a:t>실제 화면</a:t>
            </a:r>
            <a:r>
              <a:rPr b="0" lang="en-US" sz="650" spc="-1" strike="noStrike">
                <a:solidFill>
                  <a:srgbClr val="646f7a"/>
                </a:solidFill>
                <a:latin typeface="Aptos"/>
                <a:ea typeface="Calibri"/>
              </a:rPr>
              <a:t>: Alerts · </a:t>
            </a:r>
            <a:r>
              <a:rPr b="0" lang="ko-KR" sz="650" spc="-1" strike="noStrike">
                <a:solidFill>
                  <a:srgbClr val="646f7a"/>
                </a:solidFill>
                <a:latin typeface="Aptos"/>
                <a:ea typeface="Calibri"/>
              </a:rPr>
              <a:t>현재 </a:t>
            </a:r>
            <a:r>
              <a:rPr b="0" lang="en-US" sz="650" spc="-1" strike="noStrike">
                <a:solidFill>
                  <a:srgbClr val="646f7a"/>
                </a:solidFill>
                <a:latin typeface="Aptos"/>
                <a:ea typeface="Calibri"/>
              </a:rPr>
              <a:t>Alert / </a:t>
            </a:r>
            <a:r>
              <a:rPr b="0" lang="ko-KR" sz="650" spc="-1" strike="noStrike">
                <a:solidFill>
                  <a:srgbClr val="646f7a"/>
                </a:solidFill>
                <a:latin typeface="Aptos"/>
                <a:ea typeface="Calibri"/>
              </a:rPr>
              <a:t>이전 </a:t>
            </a:r>
            <a:r>
              <a:rPr b="0" lang="en-US" sz="650" spc="-1" strike="noStrike">
                <a:solidFill>
                  <a:srgbClr val="646f7a"/>
                </a:solidFill>
                <a:latin typeface="Aptos"/>
                <a:ea typeface="Calibri"/>
              </a:rPr>
              <a:t>Alert · active/resolved </a:t>
            </a:r>
            <a:r>
              <a:rPr b="0" lang="ko-KR" sz="650" spc="-1" strike="noStrike">
                <a:solidFill>
                  <a:srgbClr val="646f7a"/>
                </a:solidFill>
                <a:latin typeface="Aptos"/>
                <a:ea typeface="Calibri"/>
              </a:rPr>
              <a:t>구분</a:t>
            </a:r>
            <a:endParaRPr b="0" lang="en-US" sz="6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7" name="Rectangle 4"/>
          <p:cNvSpPr/>
          <p:nvPr/>
        </p:nvSpPr>
        <p:spPr>
          <a:xfrm>
            <a:off x="720000" y="1800000"/>
            <a:ext cx="3773880" cy="1073880"/>
          </a:xfrm>
          <a:prstGeom prst="rect">
            <a:avLst/>
          </a:prstGeom>
          <a:noFill/>
          <a:ln w="12600">
            <a:solidFill>
              <a:srgbClr val="cdd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28" name="Rectangle 13"/>
          <p:cNvSpPr/>
          <p:nvPr/>
        </p:nvSpPr>
        <p:spPr>
          <a:xfrm>
            <a:off x="720000" y="3182400"/>
            <a:ext cx="3773880" cy="1073880"/>
          </a:xfrm>
          <a:prstGeom prst="rect">
            <a:avLst/>
          </a:prstGeom>
          <a:noFill/>
          <a:ln w="12600">
            <a:solidFill>
              <a:srgbClr val="cdd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29" name="Rectangle 16"/>
          <p:cNvSpPr/>
          <p:nvPr/>
        </p:nvSpPr>
        <p:spPr>
          <a:xfrm>
            <a:off x="713160" y="4680000"/>
            <a:ext cx="3773880" cy="1253880"/>
          </a:xfrm>
          <a:prstGeom prst="rect">
            <a:avLst/>
          </a:prstGeom>
          <a:noFill/>
          <a:ln w="12600">
            <a:solidFill>
              <a:srgbClr val="cdda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Rectangle 1"/>
          <p:cNvSpPr/>
          <p:nvPr/>
        </p:nvSpPr>
        <p:spPr>
          <a:xfrm>
            <a:off x="0" y="0"/>
            <a:ext cx="12183840" cy="64800"/>
          </a:xfrm>
          <a:prstGeom prst="rect">
            <a:avLst/>
          </a:prstGeom>
          <a:solidFill>
            <a:srgbClr val="009488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31" name="TextBox 2"/>
          <p:cNvSpPr/>
          <p:nvPr/>
        </p:nvSpPr>
        <p:spPr>
          <a:xfrm>
            <a:off x="821160" y="146160"/>
            <a:ext cx="787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007bbe"/>
                </a:solidFill>
                <a:latin typeface="Calibri"/>
                <a:ea typeface="Calibri"/>
              </a:rPr>
              <a:t>MONITORING</a:t>
            </a:r>
            <a:endParaRPr b="0" lang="en-US" sz="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2" name="TextBox 3"/>
          <p:cNvSpPr/>
          <p:nvPr/>
        </p:nvSpPr>
        <p:spPr>
          <a:xfrm>
            <a:off x="11161800" y="297360"/>
            <a:ext cx="3060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r">
              <a:lnSpc>
                <a:spcPct val="100000"/>
              </a:lnSpc>
            </a:pPr>
            <a:r>
              <a:rPr b="1" lang="en-US" sz="850" spc="-1" strike="noStrike">
                <a:solidFill>
                  <a:srgbClr val="5b6e7d"/>
                </a:solidFill>
                <a:latin typeface="Malgun Gothic"/>
                <a:ea typeface="Calibri"/>
              </a:rPr>
              <a:t>08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3" name="TextBox 4"/>
          <p:cNvSpPr/>
          <p:nvPr/>
        </p:nvSpPr>
        <p:spPr>
          <a:xfrm>
            <a:off x="2700000" y="360000"/>
            <a:ext cx="62100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061f33"/>
                </a:solidFill>
                <a:latin typeface="Calibri"/>
                <a:ea typeface="Calibri"/>
              </a:rPr>
              <a:t>Topic</a:t>
            </a:r>
            <a:r>
              <a:rPr b="1" lang="ko-KR" sz="2100" spc="-1" strike="noStrike">
                <a:solidFill>
                  <a:srgbClr val="061f33"/>
                </a:solidFill>
                <a:latin typeface="Calibri"/>
                <a:ea typeface="Calibri"/>
              </a:rPr>
              <a:t>은 </a:t>
            </a:r>
            <a:r>
              <a:rPr b="1" lang="en-US" sz="2100" spc="-1" strike="noStrike">
                <a:solidFill>
                  <a:srgbClr val="061f33"/>
                </a:solidFill>
                <a:latin typeface="Calibri"/>
                <a:ea typeface="Calibri"/>
              </a:rPr>
              <a:t>latest · Hz · stale</a:t>
            </a:r>
            <a:r>
              <a:rPr b="1" lang="ko-KR" sz="2100" spc="-1" strike="noStrike">
                <a:solidFill>
                  <a:srgbClr val="061f33"/>
                </a:solidFill>
                <a:latin typeface="Calibri"/>
                <a:ea typeface="Calibri"/>
              </a:rPr>
              <a:t>을 실시간으로 확인합니다</a:t>
            </a:r>
            <a:endParaRPr b="0" lang="en-US" sz="2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4" name="TextBox 5"/>
          <p:cNvSpPr/>
          <p:nvPr/>
        </p:nvSpPr>
        <p:spPr>
          <a:xfrm>
            <a:off x="3434760" y="822960"/>
            <a:ext cx="48326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Backend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가 지원 타입을 자동 구독하고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, 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수신 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callback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으로 최신값과 수신 속도를 갱신합니다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.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5" name="Rounded Rectangle 9"/>
          <p:cNvSpPr/>
          <p:nvPr/>
        </p:nvSpPr>
        <p:spPr>
          <a:xfrm>
            <a:off x="777240" y="5879520"/>
            <a:ext cx="3417840" cy="28440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 w="12600">
            <a:solidFill>
              <a:srgbClr val="00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09488"/>
                </a:solidFill>
                <a:latin typeface="Calibri"/>
                <a:ea typeface="Calibri"/>
              </a:rPr>
              <a:t>Publisher / Subscriber </a:t>
            </a:r>
            <a:r>
              <a:rPr b="1" lang="ko-KR" sz="850" spc="-1" strike="noStrike">
                <a:solidFill>
                  <a:srgbClr val="009488"/>
                </a:solidFill>
                <a:latin typeface="Calibri"/>
                <a:ea typeface="Calibri"/>
              </a:rPr>
              <a:t>수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6" name="Rounded Rectangle 10"/>
          <p:cNvSpPr/>
          <p:nvPr/>
        </p:nvSpPr>
        <p:spPr>
          <a:xfrm>
            <a:off x="4367880" y="5879520"/>
            <a:ext cx="3417840" cy="28440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 w="12600">
            <a:solidFill>
              <a:srgbClr val="007b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07bbe"/>
                </a:solidFill>
                <a:latin typeface="Calibri"/>
                <a:ea typeface="Calibri"/>
              </a:rPr>
              <a:t>Hz</a:t>
            </a:r>
            <a:r>
              <a:rPr b="1" lang="ko-KR" sz="850" spc="-1" strike="noStrike">
                <a:solidFill>
                  <a:srgbClr val="007bbe"/>
                </a:solidFill>
                <a:latin typeface="Calibri"/>
                <a:ea typeface="Calibri"/>
              </a:rPr>
              <a:t>와 최신 데이터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7" name="Rounded Rectangle 11"/>
          <p:cNvSpPr/>
          <p:nvPr/>
        </p:nvSpPr>
        <p:spPr>
          <a:xfrm>
            <a:off x="7958160" y="5879520"/>
            <a:ext cx="3417840" cy="28440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 w="12600">
            <a:solidFill>
              <a:srgbClr val="f0aa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850" spc="-1" strike="noStrike">
                <a:solidFill>
                  <a:srgbClr val="f0aa3c"/>
                </a:solidFill>
                <a:latin typeface="Calibri"/>
                <a:ea typeface="Calibri"/>
              </a:rPr>
              <a:t>발행자 대기 </a:t>
            </a:r>
            <a:r>
              <a:rPr b="1" lang="en-US" sz="850" spc="-1" strike="noStrike">
                <a:solidFill>
                  <a:srgbClr val="f0aa3c"/>
                </a:solidFill>
                <a:latin typeface="Calibri"/>
                <a:ea typeface="Calibri"/>
              </a:rPr>
              <a:t>· </a:t>
            </a:r>
            <a:r>
              <a:rPr b="1" lang="ko-KR" sz="850" spc="-1" strike="noStrike">
                <a:solidFill>
                  <a:srgbClr val="f0aa3c"/>
                </a:solidFill>
                <a:latin typeface="Calibri"/>
                <a:ea typeface="Calibri"/>
              </a:rPr>
              <a:t>미수신 상태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8" name="TextBox 12"/>
          <p:cNvSpPr/>
          <p:nvPr/>
        </p:nvSpPr>
        <p:spPr>
          <a:xfrm>
            <a:off x="457200" y="6565320"/>
            <a:ext cx="1123884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실제 화면</a:t>
            </a:r>
            <a:r>
              <a:rPr b="0" lang="en-US" sz="620" spc="-1" strike="noStrike">
                <a:solidFill>
                  <a:srgbClr val="526979"/>
                </a:solidFill>
                <a:latin typeface="Calibri"/>
                <a:ea typeface="Calibri"/>
              </a:rPr>
              <a:t>: Topics table / Hz / latest preview / </a:t>
            </a: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상세 패널</a:t>
            </a:r>
            <a:endParaRPr b="0" lang="en-US" sz="62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239" name="" descr=""/>
          <p:cNvPicPr/>
          <p:nvPr/>
        </p:nvPicPr>
        <p:blipFill>
          <a:blip r:embed="rId1"/>
          <a:stretch/>
        </p:blipFill>
        <p:spPr>
          <a:xfrm>
            <a:off x="360000" y="1800000"/>
            <a:ext cx="11520000" cy="3095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Rectangle 1"/>
          <p:cNvSpPr/>
          <p:nvPr/>
        </p:nvSpPr>
        <p:spPr>
          <a:xfrm>
            <a:off x="0" y="0"/>
            <a:ext cx="12183840" cy="64800"/>
          </a:xfrm>
          <a:prstGeom prst="rect">
            <a:avLst/>
          </a:prstGeom>
          <a:solidFill>
            <a:srgbClr val="009488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41" name="TextBox 2"/>
          <p:cNvSpPr/>
          <p:nvPr/>
        </p:nvSpPr>
        <p:spPr>
          <a:xfrm>
            <a:off x="821160" y="146160"/>
            <a:ext cx="787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007bbe"/>
                </a:solidFill>
                <a:latin typeface="Calibri"/>
                <a:ea typeface="Calibri"/>
              </a:rPr>
              <a:t>MONITORING</a:t>
            </a:r>
            <a:endParaRPr b="0" lang="en-US" sz="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2" name="TextBox 3"/>
          <p:cNvSpPr/>
          <p:nvPr/>
        </p:nvSpPr>
        <p:spPr>
          <a:xfrm>
            <a:off x="11161800" y="297360"/>
            <a:ext cx="3060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r">
              <a:lnSpc>
                <a:spcPct val="100000"/>
              </a:lnSpc>
            </a:pPr>
            <a:r>
              <a:rPr b="1" lang="en-US" sz="850" spc="-1" strike="noStrike">
                <a:solidFill>
                  <a:srgbClr val="5b6e7d"/>
                </a:solidFill>
                <a:latin typeface="Malgun Gothic"/>
                <a:ea typeface="Calibri"/>
              </a:rPr>
              <a:t>09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3" name="TextBox 4"/>
          <p:cNvSpPr/>
          <p:nvPr/>
        </p:nvSpPr>
        <p:spPr>
          <a:xfrm>
            <a:off x="2734560" y="384120"/>
            <a:ext cx="65620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061f33"/>
                </a:solidFill>
                <a:latin typeface="Calibri"/>
                <a:ea typeface="Calibri"/>
              </a:rPr>
              <a:t>Service</a:t>
            </a:r>
            <a:r>
              <a:rPr b="1" lang="ko-KR" sz="2100" spc="-1" strike="noStrike">
                <a:solidFill>
                  <a:srgbClr val="061f33"/>
                </a:solidFill>
                <a:latin typeface="Calibri"/>
                <a:ea typeface="Calibri"/>
              </a:rPr>
              <a:t>는 목록 수집과 실제 호출 가능 여부를 분리합니다</a:t>
            </a:r>
            <a:endParaRPr b="0" lang="en-US" sz="2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4" name="TextBox 5"/>
          <p:cNvSpPr/>
          <p:nvPr/>
        </p:nvSpPr>
        <p:spPr>
          <a:xfrm>
            <a:off x="2803680" y="822960"/>
            <a:ext cx="60912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ko-KR" sz="1000" spc="-1" strike="noStrike">
                <a:solidFill>
                  <a:srgbClr val="526979"/>
                </a:solidFill>
                <a:latin typeface="Calibri"/>
                <a:ea typeface="Calibri"/>
              </a:rPr>
              <a:t>존재 여부를 자동으로 관찰하고</a:t>
            </a:r>
            <a:r>
              <a:rPr b="0" lang="en-US" sz="1000" spc="-1" strike="noStrike">
                <a:solidFill>
                  <a:srgbClr val="526979"/>
                </a:solidFill>
                <a:latin typeface="Calibri"/>
                <a:ea typeface="Calibri"/>
              </a:rPr>
              <a:t>, </a:t>
            </a:r>
            <a:r>
              <a:rPr b="0" lang="ko-KR" sz="1000" spc="-1" strike="noStrike">
                <a:solidFill>
                  <a:srgbClr val="526979"/>
                </a:solidFill>
                <a:latin typeface="Calibri"/>
                <a:ea typeface="Calibri"/>
              </a:rPr>
              <a:t>응답 시간과 결과는 요청이 있을 때만 발생하며 사용자가 호출했을 때 기록됩니다</a:t>
            </a:r>
            <a:r>
              <a:rPr b="0" lang="en-US" sz="1000" spc="-1" strike="noStrike">
                <a:solidFill>
                  <a:srgbClr val="526979"/>
                </a:solidFill>
                <a:latin typeface="Calibri"/>
                <a:ea typeface="Calibri"/>
              </a:rPr>
              <a:t>.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5" name="Rounded Rectangle 9"/>
          <p:cNvSpPr/>
          <p:nvPr/>
        </p:nvSpPr>
        <p:spPr>
          <a:xfrm>
            <a:off x="777240" y="5879520"/>
            <a:ext cx="3417840" cy="28440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 w="12600">
            <a:solidFill>
              <a:srgbClr val="00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09488"/>
                </a:solidFill>
                <a:latin typeface="Calibri"/>
                <a:ea typeface="Calibri"/>
              </a:rPr>
              <a:t>Server / Client </a:t>
            </a:r>
            <a:r>
              <a:rPr b="1" lang="ko-KR" sz="850" spc="-1" strike="noStrike">
                <a:solidFill>
                  <a:srgbClr val="009488"/>
                </a:solidFill>
                <a:latin typeface="Calibri"/>
                <a:ea typeface="Calibri"/>
              </a:rPr>
              <a:t>관계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6" name="Rounded Rectangle 10"/>
          <p:cNvSpPr/>
          <p:nvPr/>
        </p:nvSpPr>
        <p:spPr>
          <a:xfrm>
            <a:off x="4367880" y="5879520"/>
            <a:ext cx="3417840" cy="28440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 w="12600">
            <a:solidFill>
              <a:srgbClr val="007b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850" spc="-1" strike="noStrike">
                <a:solidFill>
                  <a:srgbClr val="007bbe"/>
                </a:solidFill>
                <a:latin typeface="Calibri"/>
                <a:ea typeface="Calibri"/>
              </a:rPr>
              <a:t>호출 가능 여부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7" name="Rounded Rectangle 11"/>
          <p:cNvSpPr/>
          <p:nvPr/>
        </p:nvSpPr>
        <p:spPr>
          <a:xfrm>
            <a:off x="7958160" y="5879520"/>
            <a:ext cx="3417840" cy="28440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 w="12600">
            <a:solidFill>
              <a:srgbClr val="f0aa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850" spc="-1" strike="noStrike">
                <a:solidFill>
                  <a:srgbClr val="f0aa3c"/>
                </a:solidFill>
                <a:latin typeface="Calibri"/>
                <a:ea typeface="Calibri"/>
              </a:rPr>
              <a:t>마지막 요청</a:t>
            </a:r>
            <a:r>
              <a:rPr b="1" lang="en-US" sz="850" spc="-1" strike="noStrike">
                <a:solidFill>
                  <a:srgbClr val="f0aa3c"/>
                </a:solidFill>
                <a:latin typeface="Calibri"/>
                <a:ea typeface="Calibri"/>
              </a:rPr>
              <a:t>·</a:t>
            </a:r>
            <a:r>
              <a:rPr b="1" lang="ko-KR" sz="850" spc="-1" strike="noStrike">
                <a:solidFill>
                  <a:srgbClr val="f0aa3c"/>
                </a:solidFill>
                <a:latin typeface="Calibri"/>
                <a:ea typeface="Calibri"/>
              </a:rPr>
              <a:t>응답과 응답 시간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8" name="TextBox 12"/>
          <p:cNvSpPr/>
          <p:nvPr/>
        </p:nvSpPr>
        <p:spPr>
          <a:xfrm>
            <a:off x="457200" y="6565320"/>
            <a:ext cx="1123884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실제 화면</a:t>
            </a:r>
            <a:r>
              <a:rPr b="0" lang="en-US" sz="620" spc="-1" strike="noStrike">
                <a:solidFill>
                  <a:srgbClr val="526979"/>
                </a:solidFill>
                <a:latin typeface="Calibri"/>
                <a:ea typeface="Calibri"/>
              </a:rPr>
              <a:t>: Services table / </a:t>
            </a: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응답 측정 </a:t>
            </a:r>
            <a:r>
              <a:rPr b="0" lang="en-US" sz="620" spc="-1" strike="noStrike">
                <a:solidFill>
                  <a:srgbClr val="526979"/>
                </a:solidFill>
                <a:latin typeface="Calibri"/>
                <a:ea typeface="Calibri"/>
              </a:rPr>
              <a:t>/ Service </a:t>
            </a: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상세</a:t>
            </a:r>
            <a:endParaRPr b="0" lang="en-US" sz="62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249" name="" descr=""/>
          <p:cNvPicPr/>
          <p:nvPr/>
        </p:nvPicPr>
        <p:blipFill>
          <a:blip r:embed="rId1"/>
          <a:stretch/>
        </p:blipFill>
        <p:spPr>
          <a:xfrm>
            <a:off x="180000" y="1645560"/>
            <a:ext cx="11831400" cy="3934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Rectangle 1"/>
          <p:cNvSpPr/>
          <p:nvPr/>
        </p:nvSpPr>
        <p:spPr>
          <a:xfrm>
            <a:off x="0" y="0"/>
            <a:ext cx="12183840" cy="64800"/>
          </a:xfrm>
          <a:prstGeom prst="rect">
            <a:avLst/>
          </a:prstGeom>
          <a:solidFill>
            <a:srgbClr val="009488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51" name="TextBox 2"/>
          <p:cNvSpPr/>
          <p:nvPr/>
        </p:nvSpPr>
        <p:spPr>
          <a:xfrm>
            <a:off x="821160" y="146160"/>
            <a:ext cx="787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007bbe"/>
                </a:solidFill>
                <a:latin typeface="Calibri"/>
                <a:ea typeface="Calibri"/>
              </a:rPr>
              <a:t>MONITORING</a:t>
            </a:r>
            <a:endParaRPr b="0" lang="en-US" sz="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2" name="TextBox 3"/>
          <p:cNvSpPr/>
          <p:nvPr/>
        </p:nvSpPr>
        <p:spPr>
          <a:xfrm>
            <a:off x="11161800" y="297360"/>
            <a:ext cx="3060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r">
              <a:lnSpc>
                <a:spcPct val="100000"/>
              </a:lnSpc>
            </a:pPr>
            <a:r>
              <a:rPr b="1" lang="en-US" sz="850" spc="-1" strike="noStrike">
                <a:solidFill>
                  <a:srgbClr val="5b6e7d"/>
                </a:solidFill>
                <a:latin typeface="Malgun Gothic"/>
                <a:ea typeface="Calibri"/>
              </a:rPr>
              <a:t>10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3" name="TextBox 4"/>
          <p:cNvSpPr/>
          <p:nvPr/>
        </p:nvSpPr>
        <p:spPr>
          <a:xfrm>
            <a:off x="2718000" y="384120"/>
            <a:ext cx="65955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061f33"/>
                </a:solidFill>
                <a:latin typeface="Calibri"/>
                <a:ea typeface="Calibri"/>
              </a:rPr>
              <a:t>Action</a:t>
            </a:r>
            <a:r>
              <a:rPr b="1" lang="ko-KR" sz="2100" spc="-1" strike="noStrike">
                <a:solidFill>
                  <a:srgbClr val="061f33"/>
                </a:solidFill>
                <a:latin typeface="Calibri"/>
                <a:ea typeface="Calibri"/>
              </a:rPr>
              <a:t>은 </a:t>
            </a:r>
            <a:r>
              <a:rPr b="1" lang="en-US" sz="2100" spc="-1" strike="noStrike">
                <a:solidFill>
                  <a:srgbClr val="061f33"/>
                </a:solidFill>
                <a:latin typeface="Calibri"/>
                <a:ea typeface="Calibri"/>
              </a:rPr>
              <a:t>Goal · Feedback · Result </a:t>
            </a:r>
            <a:r>
              <a:rPr b="1" lang="ko-KR" sz="2100" spc="-1" strike="noStrike">
                <a:solidFill>
                  <a:srgbClr val="061f33"/>
                </a:solidFill>
                <a:latin typeface="Calibri"/>
                <a:ea typeface="Calibri"/>
              </a:rPr>
              <a:t>상태를 관찰합니다</a:t>
            </a:r>
            <a:endParaRPr b="0" lang="en-US" sz="2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4" name="TextBox 5"/>
          <p:cNvSpPr/>
          <p:nvPr/>
        </p:nvSpPr>
        <p:spPr>
          <a:xfrm>
            <a:off x="3514680" y="822960"/>
            <a:ext cx="467280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모니터링은 새 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Goal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을 만들지 않고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, 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관찰된 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Goal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의 진행과 종료 상태를 화면에 보여줍니다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.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5" name="Rounded Rectangle 9"/>
          <p:cNvSpPr/>
          <p:nvPr/>
        </p:nvSpPr>
        <p:spPr>
          <a:xfrm>
            <a:off x="777240" y="5879520"/>
            <a:ext cx="3417840" cy="28440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 w="12600">
            <a:solidFill>
              <a:srgbClr val="00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09488"/>
                </a:solidFill>
                <a:latin typeface="Calibri"/>
                <a:ea typeface="Calibri"/>
              </a:rPr>
              <a:t>Goal </a:t>
            </a:r>
            <a:r>
              <a:rPr b="1" lang="ko-KR" sz="850" spc="-1" strike="noStrike">
                <a:solidFill>
                  <a:srgbClr val="009488"/>
                </a:solidFill>
                <a:latin typeface="Calibri"/>
                <a:ea typeface="Calibri"/>
              </a:rPr>
              <a:t>상태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6" name="Rounded Rectangle 10"/>
          <p:cNvSpPr/>
          <p:nvPr/>
        </p:nvSpPr>
        <p:spPr>
          <a:xfrm>
            <a:off x="4367880" y="5879520"/>
            <a:ext cx="3417840" cy="28440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 w="12600">
            <a:solidFill>
              <a:srgbClr val="007b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07bbe"/>
                </a:solidFill>
                <a:latin typeface="Calibri"/>
                <a:ea typeface="Calibri"/>
              </a:rPr>
              <a:t>Feedback </a:t>
            </a:r>
            <a:r>
              <a:rPr b="1" lang="ko-KR" sz="850" spc="-1" strike="noStrike">
                <a:solidFill>
                  <a:srgbClr val="007bbe"/>
                </a:solidFill>
                <a:latin typeface="Calibri"/>
                <a:ea typeface="Calibri"/>
              </a:rPr>
              <a:t>수신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7" name="Rounded Rectangle 11"/>
          <p:cNvSpPr/>
          <p:nvPr/>
        </p:nvSpPr>
        <p:spPr>
          <a:xfrm>
            <a:off x="7958160" y="5879520"/>
            <a:ext cx="3417840" cy="28440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 w="12600">
            <a:solidFill>
              <a:srgbClr val="f0aa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0aa3c"/>
                </a:solidFill>
                <a:latin typeface="Calibri"/>
                <a:ea typeface="Calibri"/>
              </a:rPr>
              <a:t>Result</a:t>
            </a:r>
            <a:r>
              <a:rPr b="1" lang="ko-KR" sz="850" spc="-1" strike="noStrike">
                <a:solidFill>
                  <a:srgbClr val="f0aa3c"/>
                </a:solidFill>
                <a:latin typeface="Calibri"/>
                <a:ea typeface="Calibri"/>
              </a:rPr>
              <a:t>와 실행 시간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8" name="TextBox 12"/>
          <p:cNvSpPr/>
          <p:nvPr/>
        </p:nvSpPr>
        <p:spPr>
          <a:xfrm>
            <a:off x="457200" y="6565320"/>
            <a:ext cx="1123884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실제 화면</a:t>
            </a:r>
            <a:r>
              <a:rPr b="0" lang="en-US" sz="620" spc="-1" strike="noStrike">
                <a:solidFill>
                  <a:srgbClr val="526979"/>
                </a:solidFill>
                <a:latin typeface="Calibri"/>
                <a:ea typeface="Calibri"/>
              </a:rPr>
              <a:t>: Actions table / Feedback / Result / </a:t>
            </a: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관찰 </a:t>
            </a:r>
            <a:r>
              <a:rPr b="0" lang="en-US" sz="620" spc="-1" strike="noStrike">
                <a:solidFill>
                  <a:srgbClr val="526979"/>
                </a:solidFill>
                <a:latin typeface="Calibri"/>
                <a:ea typeface="Calibri"/>
              </a:rPr>
              <a:t>Goal</a:t>
            </a:r>
            <a:endParaRPr b="0" lang="en-US" sz="62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259" name="" descr=""/>
          <p:cNvPicPr/>
          <p:nvPr/>
        </p:nvPicPr>
        <p:blipFill>
          <a:blip r:embed="rId1"/>
          <a:stretch/>
        </p:blipFill>
        <p:spPr>
          <a:xfrm>
            <a:off x="222480" y="1620000"/>
            <a:ext cx="11657520" cy="396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ectangle 1"/>
          <p:cNvSpPr/>
          <p:nvPr/>
        </p:nvSpPr>
        <p:spPr>
          <a:xfrm>
            <a:off x="0" y="0"/>
            <a:ext cx="12184920" cy="56880"/>
          </a:xfrm>
          <a:prstGeom prst="rect">
            <a:avLst/>
          </a:prstGeom>
          <a:solidFill>
            <a:srgbClr val="008c84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61" name="TextBox 2"/>
          <p:cNvSpPr/>
          <p:nvPr/>
        </p:nvSpPr>
        <p:spPr>
          <a:xfrm>
            <a:off x="685800" y="311040"/>
            <a:ext cx="1181520" cy="1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002b4a"/>
                </a:solidFill>
                <a:latin typeface="Aptos"/>
                <a:ea typeface="Calibri"/>
              </a:rPr>
              <a:t>MONITORING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2" name="TextBox 3"/>
          <p:cNvSpPr/>
          <p:nvPr/>
        </p:nvSpPr>
        <p:spPr>
          <a:xfrm>
            <a:off x="11251800" y="340920"/>
            <a:ext cx="126000" cy="12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>
              <a:lnSpc>
                <a:spcPct val="100000"/>
              </a:lnSpc>
            </a:pPr>
            <a:r>
              <a:rPr b="1" lang="en-US" sz="850" spc="-1" strike="noStrike">
                <a:solidFill>
                  <a:srgbClr val="5b6e7d"/>
                </a:solidFill>
                <a:latin typeface="Malgun Gothic"/>
                <a:ea typeface="Calibri"/>
              </a:rPr>
              <a:t>11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3" name="TextBox 4"/>
          <p:cNvSpPr/>
          <p:nvPr/>
        </p:nvSpPr>
        <p:spPr>
          <a:xfrm>
            <a:off x="685800" y="594360"/>
            <a:ext cx="1059984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002b4a"/>
                </a:solidFill>
                <a:latin typeface="Aptos"/>
                <a:ea typeface="Calibri"/>
              </a:rPr>
              <a:t>Node </a:t>
            </a:r>
            <a:r>
              <a:rPr b="1" lang="ko-KR" sz="2600" spc="-1" strike="noStrike">
                <a:solidFill>
                  <a:srgbClr val="002b4a"/>
                </a:solidFill>
                <a:latin typeface="Aptos"/>
                <a:ea typeface="Calibri"/>
              </a:rPr>
              <a:t>화면은 실행 단위의 통신 참여 관계를 보여줍니다</a:t>
            </a:r>
            <a:endParaRPr b="0" lang="en-US" sz="2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4" name="TextBox 5"/>
          <p:cNvSpPr/>
          <p:nvPr/>
        </p:nvSpPr>
        <p:spPr>
          <a:xfrm>
            <a:off x="685800" y="1051560"/>
            <a:ext cx="106912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475569"/>
                </a:solidFill>
                <a:latin typeface="Aptos"/>
                <a:ea typeface="Calibri"/>
              </a:rPr>
              <a:t>Node </a:t>
            </a:r>
            <a:r>
              <a:rPr b="0" lang="ko-KR" sz="1400" spc="-1" strike="noStrike">
                <a:solidFill>
                  <a:srgbClr val="475569"/>
                </a:solidFill>
                <a:latin typeface="Aptos"/>
                <a:ea typeface="Calibri"/>
              </a:rPr>
              <a:t>하나를 선택하면 발행</a:t>
            </a:r>
            <a:r>
              <a:rPr b="0" lang="en-US" sz="1400" spc="-1" strike="noStrike">
                <a:solidFill>
                  <a:srgbClr val="475569"/>
                </a:solidFill>
                <a:latin typeface="Aptos"/>
                <a:ea typeface="Calibri"/>
              </a:rPr>
              <a:t>·</a:t>
            </a:r>
            <a:r>
              <a:rPr b="0" lang="ko-KR" sz="1400" spc="-1" strike="noStrike">
                <a:solidFill>
                  <a:srgbClr val="475569"/>
                </a:solidFill>
                <a:latin typeface="Aptos"/>
                <a:ea typeface="Calibri"/>
              </a:rPr>
              <a:t>구독 </a:t>
            </a:r>
            <a:r>
              <a:rPr b="0" lang="en-US" sz="1400" spc="-1" strike="noStrike">
                <a:solidFill>
                  <a:srgbClr val="475569"/>
                </a:solidFill>
                <a:latin typeface="Aptos"/>
                <a:ea typeface="Calibri"/>
              </a:rPr>
              <a:t>Topic, </a:t>
            </a:r>
            <a:r>
              <a:rPr b="0" lang="ko-KR" sz="1400" spc="-1" strike="noStrike">
                <a:solidFill>
                  <a:srgbClr val="475569"/>
                </a:solidFill>
                <a:latin typeface="Aptos"/>
                <a:ea typeface="Calibri"/>
              </a:rPr>
              <a:t>응답</a:t>
            </a:r>
            <a:r>
              <a:rPr b="0" lang="en-US" sz="1400" spc="-1" strike="noStrike">
                <a:solidFill>
                  <a:srgbClr val="475569"/>
                </a:solidFill>
                <a:latin typeface="Aptos"/>
                <a:ea typeface="Calibri"/>
              </a:rPr>
              <a:t>·</a:t>
            </a:r>
            <a:r>
              <a:rPr b="0" lang="ko-KR" sz="1400" spc="-1" strike="noStrike">
                <a:solidFill>
                  <a:srgbClr val="475569"/>
                </a:solidFill>
                <a:latin typeface="Aptos"/>
                <a:ea typeface="Calibri"/>
              </a:rPr>
              <a:t>요청 </a:t>
            </a:r>
            <a:r>
              <a:rPr b="0" lang="en-US" sz="1400" spc="-1" strike="noStrike">
                <a:solidFill>
                  <a:srgbClr val="475569"/>
                </a:solidFill>
                <a:latin typeface="Aptos"/>
                <a:ea typeface="Calibri"/>
              </a:rPr>
              <a:t>Service, Action </a:t>
            </a:r>
            <a:r>
              <a:rPr b="0" lang="ko-KR" sz="1400" spc="-1" strike="noStrike">
                <a:solidFill>
                  <a:srgbClr val="475569"/>
                </a:solidFill>
                <a:latin typeface="Aptos"/>
                <a:ea typeface="Calibri"/>
              </a:rPr>
              <a:t>관계를 함께 확인합니다</a:t>
            </a:r>
            <a:r>
              <a:rPr b="0" lang="en-US" sz="1400" spc="-1" strike="noStrike">
                <a:solidFill>
                  <a:srgbClr val="475569"/>
                </a:solidFill>
                <a:latin typeface="Aptos"/>
                <a:ea typeface="Calibri"/>
              </a:rPr>
              <a:t>.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5" name="Rounded Rectangle 7"/>
          <p:cNvSpPr/>
          <p:nvPr/>
        </p:nvSpPr>
        <p:spPr>
          <a:xfrm>
            <a:off x="685800" y="2880360"/>
            <a:ext cx="2141640" cy="285480"/>
          </a:xfrm>
          <a:prstGeom prst="roundRect">
            <a:avLst>
              <a:gd name="adj" fmla="val 16667"/>
            </a:avLst>
          </a:prstGeom>
          <a:solidFill>
            <a:srgbClr val="eaf4f4"/>
          </a:solidFill>
          <a:ln w="10080">
            <a:solidFill>
              <a:srgbClr val="b7d8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002b4a"/>
                </a:solidFill>
                <a:latin typeface="Aptos"/>
                <a:ea typeface="Calibri"/>
              </a:rPr>
              <a:t>1. Node </a:t>
            </a:r>
            <a:r>
              <a:rPr b="1" lang="ko-KR" sz="1100" spc="-1" strike="noStrike">
                <a:solidFill>
                  <a:srgbClr val="002b4a"/>
                </a:solidFill>
                <a:latin typeface="Aptos"/>
                <a:ea typeface="Calibri"/>
              </a:rPr>
              <a:t>목록</a:t>
            </a:r>
            <a:r>
              <a:rPr b="1" lang="en-US" sz="1100" spc="-1" strike="noStrike">
                <a:solidFill>
                  <a:srgbClr val="002b4a"/>
                </a:solidFill>
                <a:latin typeface="Aptos"/>
                <a:ea typeface="Calibri"/>
              </a:rPr>
              <a:t>: </a:t>
            </a:r>
            <a:r>
              <a:rPr b="1" lang="ko-KR" sz="1100" spc="-1" strike="noStrike">
                <a:solidFill>
                  <a:srgbClr val="002b4a"/>
                </a:solidFill>
                <a:latin typeface="Aptos"/>
                <a:ea typeface="Calibri"/>
              </a:rPr>
              <a:t>참여 수 요약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6" name="Rounded Rectangle 8"/>
          <p:cNvSpPr/>
          <p:nvPr/>
        </p:nvSpPr>
        <p:spPr>
          <a:xfrm>
            <a:off x="3286080" y="2880000"/>
            <a:ext cx="1410120" cy="285480"/>
          </a:xfrm>
          <a:prstGeom prst="roundRect">
            <a:avLst>
              <a:gd name="adj" fmla="val 16667"/>
            </a:avLst>
          </a:prstGeom>
          <a:solidFill>
            <a:srgbClr val="e8f2ff"/>
          </a:solidFill>
          <a:ln w="10080">
            <a:solidFill>
              <a:srgbClr val="bdd7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002b4a"/>
                </a:solidFill>
                <a:latin typeface="Aptos"/>
                <a:ea typeface="Calibri"/>
              </a:rPr>
              <a:t>2. Node </a:t>
            </a:r>
            <a:r>
              <a:rPr b="1" lang="ko-KR" sz="1100" spc="-1" strike="noStrike">
                <a:solidFill>
                  <a:srgbClr val="002b4a"/>
                </a:solidFill>
                <a:latin typeface="Aptos"/>
                <a:ea typeface="Calibri"/>
              </a:rPr>
              <a:t>상세정보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7" name="Rounded Rectangle 9"/>
          <p:cNvSpPr/>
          <p:nvPr/>
        </p:nvSpPr>
        <p:spPr>
          <a:xfrm>
            <a:off x="7362000" y="2880000"/>
            <a:ext cx="1474200" cy="285480"/>
          </a:xfrm>
          <a:prstGeom prst="roundRect">
            <a:avLst>
              <a:gd name="adj" fmla="val 16667"/>
            </a:avLst>
          </a:prstGeom>
          <a:solidFill>
            <a:srgbClr val="e8f2ff"/>
          </a:solidFill>
          <a:ln w="10080">
            <a:solidFill>
              <a:srgbClr val="bdd7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002b4a"/>
                </a:solidFill>
                <a:latin typeface="Aptos"/>
                <a:ea typeface="Calibri"/>
              </a:rPr>
              <a:t>4. Service </a:t>
            </a:r>
            <a:r>
              <a:rPr b="1" lang="ko-KR" sz="1100" spc="-1" strike="noStrike">
                <a:solidFill>
                  <a:srgbClr val="002b4a"/>
                </a:solidFill>
                <a:latin typeface="Aptos"/>
                <a:ea typeface="Calibri"/>
              </a:rPr>
              <a:t>관계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8" name="Rounded Rectangle 13"/>
          <p:cNvSpPr/>
          <p:nvPr/>
        </p:nvSpPr>
        <p:spPr>
          <a:xfrm>
            <a:off x="9280080" y="3514320"/>
            <a:ext cx="2233080" cy="2598840"/>
          </a:xfrm>
          <a:prstGeom prst="roundRect">
            <a:avLst>
              <a:gd name="adj" fmla="val 16667"/>
            </a:avLst>
          </a:prstGeom>
          <a:solidFill>
            <a:srgbClr val="eef8f7"/>
          </a:solidFill>
          <a:ln w="12600">
            <a:solidFill>
              <a:srgbClr val="b7d8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b="1" lang="ko-KR" sz="1300" spc="-1" strike="noStrike">
                <a:solidFill>
                  <a:srgbClr val="002b4a"/>
                </a:solidFill>
                <a:latin typeface="Aptos"/>
                <a:ea typeface="Calibri"/>
              </a:rPr>
              <a:t>핵심 포인트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1. </a:t>
            </a: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현재 </a:t>
            </a: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active </a:t>
            </a: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상태 확인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2. Topic·Service </a:t>
            </a: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연결 수 확인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3. </a:t>
            </a: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상세 패널에서 실제 이름과 타입 확인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br>
              <a:rPr sz="1100"/>
            </a:b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사라진 </a:t>
            </a: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Node</a:t>
            </a: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는 </a:t>
            </a: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timeout </a:t>
            </a: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동안 </a:t>
            </a: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stale</a:t>
            </a: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로 남겨 화면 흔들림을 줄입니다</a:t>
            </a: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9" name="Rectangle 14"/>
          <p:cNvSpPr/>
          <p:nvPr/>
        </p:nvSpPr>
        <p:spPr>
          <a:xfrm>
            <a:off x="540000" y="6660000"/>
            <a:ext cx="11057040" cy="1800"/>
          </a:xfrm>
          <a:prstGeom prst="rect">
            <a:avLst/>
          </a:prstGeom>
          <a:solidFill>
            <a:srgbClr val="cad5e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6000" bIns="-36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70" name="TextBox 15"/>
          <p:cNvSpPr/>
          <p:nvPr/>
        </p:nvSpPr>
        <p:spPr>
          <a:xfrm>
            <a:off x="685800" y="6473880"/>
            <a:ext cx="8679600" cy="1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pic>
        <p:nvPicPr>
          <p:cNvPr id="271" name="" descr=""/>
          <p:cNvPicPr/>
          <p:nvPr/>
        </p:nvPicPr>
        <p:blipFill>
          <a:blip r:embed="rId1"/>
          <a:stretch/>
        </p:blipFill>
        <p:spPr>
          <a:xfrm>
            <a:off x="3083040" y="3413520"/>
            <a:ext cx="1855080" cy="3053520"/>
          </a:xfrm>
          <a:prstGeom prst="rect">
            <a:avLst/>
          </a:prstGeom>
          <a:ln w="0">
            <a:noFill/>
          </a:ln>
        </p:spPr>
      </p:pic>
      <p:sp>
        <p:nvSpPr>
          <p:cNvPr id="272" name="Rounded Rectangle 1"/>
          <p:cNvSpPr/>
          <p:nvPr/>
        </p:nvSpPr>
        <p:spPr>
          <a:xfrm>
            <a:off x="5266080" y="2880000"/>
            <a:ext cx="1410120" cy="285480"/>
          </a:xfrm>
          <a:prstGeom prst="roundRect">
            <a:avLst>
              <a:gd name="adj" fmla="val 16667"/>
            </a:avLst>
          </a:prstGeom>
          <a:solidFill>
            <a:srgbClr val="e8f2ff"/>
          </a:solidFill>
          <a:ln w="10080">
            <a:solidFill>
              <a:srgbClr val="bdd7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002b4a"/>
                </a:solidFill>
                <a:latin typeface="Aptos"/>
                <a:ea typeface="Calibri"/>
              </a:rPr>
              <a:t>3. Topic </a:t>
            </a:r>
            <a:r>
              <a:rPr b="1" lang="ko-KR" sz="1100" spc="-1" strike="noStrike">
                <a:solidFill>
                  <a:srgbClr val="002b4a"/>
                </a:solidFill>
                <a:latin typeface="Aptos"/>
                <a:ea typeface="Calibri"/>
              </a:rPr>
              <a:t>관계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273" name="" descr=""/>
          <p:cNvPicPr/>
          <p:nvPr/>
        </p:nvPicPr>
        <p:blipFill>
          <a:blip r:embed="rId2"/>
          <a:stretch/>
        </p:blipFill>
        <p:spPr>
          <a:xfrm>
            <a:off x="5063040" y="3420000"/>
            <a:ext cx="1973160" cy="3047040"/>
          </a:xfrm>
          <a:prstGeom prst="rect">
            <a:avLst/>
          </a:prstGeom>
          <a:ln w="0">
            <a:noFill/>
          </a:ln>
        </p:spPr>
      </p:pic>
      <p:pic>
        <p:nvPicPr>
          <p:cNvPr id="274" name="" descr=""/>
          <p:cNvPicPr/>
          <p:nvPr/>
        </p:nvPicPr>
        <p:blipFill>
          <a:blip r:embed="rId3"/>
          <a:stretch/>
        </p:blipFill>
        <p:spPr>
          <a:xfrm>
            <a:off x="7223040" y="3420000"/>
            <a:ext cx="1770840" cy="3047040"/>
          </a:xfrm>
          <a:prstGeom prst="rect">
            <a:avLst/>
          </a:prstGeom>
          <a:ln w="0">
            <a:noFill/>
          </a:ln>
        </p:spPr>
      </p:pic>
      <p:sp>
        <p:nvSpPr>
          <p:cNvPr id="275" name="Rounded Rectangle 2"/>
          <p:cNvSpPr/>
          <p:nvPr/>
        </p:nvSpPr>
        <p:spPr>
          <a:xfrm>
            <a:off x="720000" y="3420000"/>
            <a:ext cx="2130120" cy="2873160"/>
          </a:xfrm>
          <a:prstGeom prst="roundRect">
            <a:avLst>
              <a:gd name="adj" fmla="val 16667"/>
            </a:avLst>
          </a:prstGeom>
          <a:solidFill>
            <a:srgbClr val="e8f2ff"/>
          </a:solidFill>
          <a:ln w="10080">
            <a:solidFill>
              <a:srgbClr val="bdd7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18360" bIns="18360" anchor="ctr">
            <a:noAutofit/>
          </a:bodyPr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b="1" lang="ko-KR" sz="1300" spc="-1" strike="noStrike">
                <a:solidFill>
                  <a:srgbClr val="002b4a"/>
                </a:solidFill>
                <a:latin typeface="Aptos"/>
                <a:ea typeface="Calibri"/>
              </a:rPr>
              <a:t>목록에서 보는 값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· </a:t>
            </a: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발행 </a:t>
            </a: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Topic </a:t>
            </a: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수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· </a:t>
            </a: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구독 </a:t>
            </a: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Topic </a:t>
            </a: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수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· Service </a:t>
            </a: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서버</a:t>
            </a: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/</a:t>
            </a: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클라이언트 수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· Action </a:t>
            </a: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서버</a:t>
            </a: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/</a:t>
            </a: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클라이언트 수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  <a:p>
            <a:pPr>
              <a:lnSpc>
                <a:spcPct val="100000"/>
              </a:lnSpc>
              <a:spcAft>
                <a:spcPts val="300"/>
              </a:spcAft>
            </a:pPr>
            <a:br>
              <a:rPr sz="1100"/>
            </a:b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Node </a:t>
            </a:r>
            <a:r>
              <a:rPr b="0" lang="ko-KR" sz="1100" spc="-1" strike="noStrike">
                <a:solidFill>
                  <a:srgbClr val="334155"/>
                </a:solidFill>
                <a:latin typeface="Aptos"/>
                <a:ea typeface="Calibri"/>
              </a:rPr>
              <a:t>이름만이 아니라 통신 참여 관계를 함께 봅니다</a:t>
            </a:r>
            <a:r>
              <a:rPr b="0" lang="en-US" sz="1100" spc="-1" strike="noStrike">
                <a:solidFill>
                  <a:srgbClr val="334155"/>
                </a:solidFill>
                <a:latin typeface="Aptos"/>
                <a:ea typeface="Calibri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276" name="" descr=""/>
          <p:cNvPicPr/>
          <p:nvPr/>
        </p:nvPicPr>
        <p:blipFill>
          <a:blip r:embed="rId4"/>
          <a:stretch/>
        </p:blipFill>
        <p:spPr>
          <a:xfrm>
            <a:off x="360000" y="1260000"/>
            <a:ext cx="11338560" cy="1215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Rectangle 1"/>
          <p:cNvSpPr/>
          <p:nvPr/>
        </p:nvSpPr>
        <p:spPr>
          <a:xfrm>
            <a:off x="0" y="0"/>
            <a:ext cx="12183840" cy="64800"/>
          </a:xfrm>
          <a:prstGeom prst="rect">
            <a:avLst/>
          </a:prstGeom>
          <a:solidFill>
            <a:srgbClr val="009488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278" name="TextBox 2"/>
          <p:cNvSpPr/>
          <p:nvPr/>
        </p:nvSpPr>
        <p:spPr>
          <a:xfrm>
            <a:off x="821160" y="146160"/>
            <a:ext cx="78768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007bbe"/>
                </a:solidFill>
                <a:latin typeface="Calibri"/>
                <a:ea typeface="Calibri"/>
              </a:rPr>
              <a:t>MONITORING</a:t>
            </a:r>
            <a:endParaRPr b="0" lang="en-US" sz="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9" name="TextBox 3"/>
          <p:cNvSpPr/>
          <p:nvPr/>
        </p:nvSpPr>
        <p:spPr>
          <a:xfrm>
            <a:off x="11161800" y="297360"/>
            <a:ext cx="3060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r">
              <a:lnSpc>
                <a:spcPct val="100000"/>
              </a:lnSpc>
            </a:pPr>
            <a:r>
              <a:rPr b="1" lang="en-US" sz="850" spc="-1" strike="noStrike">
                <a:solidFill>
                  <a:srgbClr val="5b6e7d"/>
                </a:solidFill>
                <a:latin typeface="Malgun Gothic"/>
                <a:ea typeface="Calibri"/>
              </a:rPr>
              <a:t>12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0" name="TextBox 4"/>
          <p:cNvSpPr/>
          <p:nvPr/>
        </p:nvSpPr>
        <p:spPr>
          <a:xfrm>
            <a:off x="2284920" y="384120"/>
            <a:ext cx="74613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061f33"/>
                </a:solidFill>
                <a:latin typeface="Calibri"/>
                <a:ea typeface="Calibri"/>
              </a:rPr>
              <a:t>Visualization</a:t>
            </a:r>
            <a:r>
              <a:rPr b="1" lang="ko-KR" sz="2100" spc="-1" strike="noStrike">
                <a:solidFill>
                  <a:srgbClr val="061f33"/>
                </a:solidFill>
                <a:latin typeface="Calibri"/>
                <a:ea typeface="Calibri"/>
              </a:rPr>
              <a:t>은 </a:t>
            </a:r>
            <a:r>
              <a:rPr b="1" lang="en-US" sz="2100" spc="-1" strike="noStrike">
                <a:solidFill>
                  <a:srgbClr val="061f33"/>
                </a:solidFill>
                <a:latin typeface="Calibri"/>
                <a:ea typeface="Calibri"/>
              </a:rPr>
              <a:t>Node </a:t>
            </a:r>
            <a:r>
              <a:rPr b="1" lang="ko-KR" sz="2100" spc="-1" strike="noStrike">
                <a:solidFill>
                  <a:srgbClr val="061f33"/>
                </a:solidFill>
                <a:latin typeface="Calibri"/>
                <a:ea typeface="Calibri"/>
              </a:rPr>
              <a:t>중심의 통신 관계를 그래프로 보여줍니다</a:t>
            </a:r>
            <a:endParaRPr b="0" lang="en-US" sz="2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1" name="TextBox 5"/>
          <p:cNvSpPr/>
          <p:nvPr/>
        </p:nvSpPr>
        <p:spPr>
          <a:xfrm>
            <a:off x="3578760" y="822960"/>
            <a:ext cx="454464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기존 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REST 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데이터를 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Frontend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에서 조합해 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React Flow nodes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와 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edges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로 변환합니다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.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2" name="Rounded Rectangle 9"/>
          <p:cNvSpPr/>
          <p:nvPr/>
        </p:nvSpPr>
        <p:spPr>
          <a:xfrm>
            <a:off x="777240" y="5879520"/>
            <a:ext cx="3417840" cy="28440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 w="12600">
            <a:solidFill>
              <a:srgbClr val="00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850" spc="-1" strike="noStrike">
                <a:solidFill>
                  <a:srgbClr val="009488"/>
                </a:solidFill>
                <a:latin typeface="Calibri"/>
                <a:ea typeface="Calibri"/>
              </a:rPr>
              <a:t>선택 </a:t>
            </a:r>
            <a:r>
              <a:rPr b="1" lang="en-US" sz="850" spc="-1" strike="noStrike">
                <a:solidFill>
                  <a:srgbClr val="009488"/>
                </a:solidFill>
                <a:latin typeface="Calibri"/>
                <a:ea typeface="Calibri"/>
              </a:rPr>
              <a:t>Node </a:t>
            </a:r>
            <a:r>
              <a:rPr b="1" lang="ko-KR" sz="850" spc="-1" strike="noStrike">
                <a:solidFill>
                  <a:srgbClr val="009488"/>
                </a:solidFill>
                <a:latin typeface="Calibri"/>
                <a:ea typeface="Calibri"/>
              </a:rPr>
              <a:t>중심 </a:t>
            </a:r>
            <a:r>
              <a:rPr b="1" lang="en-US" sz="850" spc="-1" strike="noStrike">
                <a:solidFill>
                  <a:srgbClr val="009488"/>
                </a:solidFill>
                <a:latin typeface="Calibri"/>
                <a:ea typeface="Calibri"/>
              </a:rPr>
              <a:t>1-hop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3" name="Rounded Rectangle 10"/>
          <p:cNvSpPr/>
          <p:nvPr/>
        </p:nvSpPr>
        <p:spPr>
          <a:xfrm>
            <a:off x="4367880" y="5879520"/>
            <a:ext cx="3417840" cy="28440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 w="12600">
            <a:solidFill>
              <a:srgbClr val="007b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07bbe"/>
                </a:solidFill>
                <a:latin typeface="Calibri"/>
                <a:ea typeface="Calibri"/>
              </a:rPr>
              <a:t>Topic · Service · Action </a:t>
            </a:r>
            <a:r>
              <a:rPr b="1" lang="ko-KR" sz="850" spc="-1" strike="noStrike">
                <a:solidFill>
                  <a:srgbClr val="007bbe"/>
                </a:solidFill>
                <a:latin typeface="Calibri"/>
                <a:ea typeface="Calibri"/>
              </a:rPr>
              <a:t>연결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4" name="Rounded Rectangle 11"/>
          <p:cNvSpPr/>
          <p:nvPr/>
        </p:nvSpPr>
        <p:spPr>
          <a:xfrm>
            <a:off x="7958160" y="5879520"/>
            <a:ext cx="3417840" cy="28440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 w="12600">
            <a:solidFill>
              <a:srgbClr val="f0aa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850" spc="-1" strike="noStrike">
                <a:solidFill>
                  <a:srgbClr val="f0aa3c"/>
                </a:solidFill>
                <a:latin typeface="Calibri"/>
                <a:ea typeface="Calibri"/>
              </a:rPr>
              <a:t>전체 </a:t>
            </a:r>
            <a:r>
              <a:rPr b="1" lang="en-US" sz="850" spc="-1" strike="noStrike">
                <a:solidFill>
                  <a:srgbClr val="f0aa3c"/>
                </a:solidFill>
                <a:latin typeface="Calibri"/>
                <a:ea typeface="Calibri"/>
              </a:rPr>
              <a:t>Graph</a:t>
            </a:r>
            <a:r>
              <a:rPr b="1" lang="ko-KR" sz="850" spc="-1" strike="noStrike">
                <a:solidFill>
                  <a:srgbClr val="f0aa3c"/>
                </a:solidFill>
                <a:latin typeface="Calibri"/>
                <a:ea typeface="Calibri"/>
              </a:rPr>
              <a:t>와 배치 초기화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5" name="TextBox 12"/>
          <p:cNvSpPr/>
          <p:nvPr/>
        </p:nvSpPr>
        <p:spPr>
          <a:xfrm>
            <a:off x="457200" y="6565320"/>
            <a:ext cx="1123884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실제 화면</a:t>
            </a:r>
            <a:r>
              <a:rPr b="0" lang="en-US" sz="620" spc="-1" strike="noStrike">
                <a:solidFill>
                  <a:srgbClr val="526979"/>
                </a:solidFill>
                <a:latin typeface="Calibri"/>
                <a:ea typeface="Calibri"/>
              </a:rPr>
              <a:t>: Visualization / React Flow graph / Node </a:t>
            </a: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중심 관계</a:t>
            </a:r>
            <a:endParaRPr b="0" lang="en-US" sz="62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286" name="Picture 13" descr="viz_clean_top_crop.png"/>
          <p:cNvPicPr/>
          <p:nvPr/>
        </p:nvPicPr>
        <p:blipFill>
          <a:blip r:embed="rId1"/>
          <a:srcRect l="1936" t="0" r="3252" b="0"/>
          <a:stretch/>
        </p:blipFill>
        <p:spPr>
          <a:xfrm>
            <a:off x="720360" y="1143000"/>
            <a:ext cx="10611720" cy="4512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"/>
          <p:cNvSpPr/>
          <p:nvPr/>
        </p:nvSpPr>
        <p:spPr>
          <a:xfrm>
            <a:off x="609480" y="266760"/>
            <a:ext cx="208728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8b8b"/>
                </a:solidFill>
                <a:latin typeface="Calibri"/>
                <a:ea typeface="Calibri"/>
              </a:rPr>
              <a:t>INTERFACE LAB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8" name=""/>
          <p:cNvSpPr/>
          <p:nvPr/>
        </p:nvSpPr>
        <p:spPr>
          <a:xfrm>
            <a:off x="609480" y="552600"/>
            <a:ext cx="1027872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2550" spc="-1" strike="noStrike">
                <a:solidFill>
                  <a:srgbClr val="12304a"/>
                </a:solidFill>
                <a:latin typeface="Calibri"/>
                <a:ea typeface="Calibri"/>
              </a:rPr>
              <a:t>자동 모니터링은 관찰</a:t>
            </a:r>
            <a:r>
              <a:rPr b="1" lang="en-US" sz="2550" spc="-1" strike="noStrike">
                <a:solidFill>
                  <a:srgbClr val="12304a"/>
                </a:solidFill>
                <a:latin typeface="Calibri"/>
                <a:ea typeface="Calibri"/>
              </a:rPr>
              <a:t>, Interface Lab</a:t>
            </a:r>
            <a:r>
              <a:rPr b="1" lang="ko-KR" sz="2550" spc="-1" strike="noStrike">
                <a:solidFill>
                  <a:srgbClr val="12304a"/>
                </a:solidFill>
                <a:latin typeface="Calibri"/>
                <a:ea typeface="Calibri"/>
              </a:rPr>
              <a:t>은 사용자 실행입니다</a:t>
            </a:r>
            <a:endParaRPr b="0" lang="en-US" sz="25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9" name=""/>
          <p:cNvSpPr/>
          <p:nvPr/>
        </p:nvSpPr>
        <p:spPr>
          <a:xfrm>
            <a:off x="609480" y="1047600"/>
            <a:ext cx="10469160" cy="39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두 영역은 목적과 실행 시점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, 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저장하는 결과가 다릅니다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.</a:t>
            </a:r>
            <a:endParaRPr b="0" lang="en-US" sz="13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0" name=""/>
          <p:cNvSpPr/>
          <p:nvPr/>
        </p:nvSpPr>
        <p:spPr>
          <a:xfrm>
            <a:off x="11064240" y="292680"/>
            <a:ext cx="49824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r">
              <a:lnSpc>
                <a:spcPct val="100000"/>
              </a:lnSpc>
            </a:pPr>
            <a:r>
              <a:rPr b="1" lang="en-US" sz="850" spc="-1" strike="noStrike">
                <a:solidFill>
                  <a:srgbClr val="5b6e7d"/>
                </a:solidFill>
                <a:latin typeface="Malgun Gothic"/>
                <a:ea typeface="Calibri"/>
              </a:rPr>
              <a:t>13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1" name=""/>
          <p:cNvSpPr/>
          <p:nvPr/>
        </p:nvSpPr>
        <p:spPr>
          <a:xfrm>
            <a:off x="666720" y="1752480"/>
            <a:ext cx="5040000" cy="3516120"/>
          </a:xfrm>
          <a:prstGeom prst="roundRect">
            <a:avLst>
              <a:gd name="adj" fmla="val 2162"/>
            </a:avLst>
          </a:prstGeom>
          <a:solidFill>
            <a:srgbClr val="eaf2fb"/>
          </a:solidFill>
          <a:ln w="9360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292" name=""/>
          <p:cNvSpPr/>
          <p:nvPr/>
        </p:nvSpPr>
        <p:spPr>
          <a:xfrm>
            <a:off x="933480" y="2019240"/>
            <a:ext cx="332532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2304a"/>
                </a:solidFill>
                <a:latin typeface="Calibri"/>
                <a:ea typeface="Calibri"/>
              </a:rPr>
              <a:t>AUTOMATIC MONITORING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3" name=""/>
          <p:cNvSpPr/>
          <p:nvPr/>
        </p:nvSpPr>
        <p:spPr>
          <a:xfrm>
            <a:off x="952560" y="2495520"/>
            <a:ext cx="418284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500" spc="-1" strike="noStrike">
                <a:solidFill>
                  <a:srgbClr val="172b3a"/>
                </a:solidFill>
                <a:latin typeface="Calibri"/>
                <a:ea typeface="Calibri"/>
              </a:rPr>
              <a:t>현재 </a:t>
            </a:r>
            <a:r>
              <a:rPr b="1" lang="en-US" sz="1500" spc="-1" strike="noStrike">
                <a:solidFill>
                  <a:srgbClr val="172b3a"/>
                </a:solidFill>
                <a:latin typeface="Calibri"/>
                <a:ea typeface="Calibri"/>
              </a:rPr>
              <a:t>ROS2 </a:t>
            </a:r>
            <a:r>
              <a:rPr b="1" lang="ko-KR" sz="1500" spc="-1" strike="noStrike">
                <a:solidFill>
                  <a:srgbClr val="172b3a"/>
                </a:solidFill>
                <a:latin typeface="Calibri"/>
                <a:ea typeface="Calibri"/>
              </a:rPr>
              <a:t>시스템을 자동으로 관찰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4" name=""/>
          <p:cNvSpPr/>
          <p:nvPr/>
        </p:nvSpPr>
        <p:spPr>
          <a:xfrm>
            <a:off x="1009800" y="3048120"/>
            <a:ext cx="4087440" cy="159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• 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Graph discovery</a:t>
            </a:r>
            <a:endParaRPr b="0" lang="en-US" sz="135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• 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상태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·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수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·latest·Hz·stale</a:t>
            </a:r>
            <a:endParaRPr b="0" lang="en-US" sz="135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• 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Runtime cache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와 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snapshot</a:t>
            </a:r>
            <a:endParaRPr b="0" lang="en-US" sz="135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• 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새 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Call / Goal 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자동 실행 안 함</a:t>
            </a:r>
            <a:endParaRPr b="0" lang="en-US" sz="13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5" name=""/>
          <p:cNvSpPr/>
          <p:nvPr/>
        </p:nvSpPr>
        <p:spPr>
          <a:xfrm>
            <a:off x="6477120" y="1752480"/>
            <a:ext cx="5040000" cy="3516120"/>
          </a:xfrm>
          <a:prstGeom prst="roundRect">
            <a:avLst>
              <a:gd name="adj" fmla="val 2162"/>
            </a:avLst>
          </a:prstGeom>
          <a:solidFill>
            <a:srgbClr val="e6f6f3"/>
          </a:solidFill>
          <a:ln w="9360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296" name=""/>
          <p:cNvSpPr/>
          <p:nvPr/>
        </p:nvSpPr>
        <p:spPr>
          <a:xfrm>
            <a:off x="6743880" y="2019240"/>
            <a:ext cx="265860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8b8b"/>
                </a:solidFill>
                <a:latin typeface="Calibri"/>
                <a:ea typeface="Calibri"/>
              </a:rPr>
              <a:t>INTERFACE LAB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7" name=""/>
          <p:cNvSpPr/>
          <p:nvPr/>
        </p:nvSpPr>
        <p:spPr>
          <a:xfrm>
            <a:off x="6762600" y="2495520"/>
            <a:ext cx="418284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500" spc="-1" strike="noStrike">
                <a:solidFill>
                  <a:srgbClr val="172b3a"/>
                </a:solidFill>
                <a:latin typeface="Calibri"/>
                <a:ea typeface="Calibri"/>
              </a:rPr>
              <a:t>등록한 타입으로 통신을 직접 실행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8" name=""/>
          <p:cNvSpPr/>
          <p:nvPr/>
        </p:nvSpPr>
        <p:spPr>
          <a:xfrm>
            <a:off x="6819840" y="3048120"/>
            <a:ext cx="4087440" cy="159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• 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Interface 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등록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·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업로드</a:t>
            </a:r>
            <a:endParaRPr b="0" lang="en-US" sz="135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• 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Build / Apply / import 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확인</a:t>
            </a:r>
            <a:endParaRPr b="0" lang="en-US" sz="135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• 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Publish · Receive · Call · Goal</a:t>
            </a:r>
            <a:endParaRPr b="0" lang="en-US" sz="1350" spc="-1" strike="noStrike">
              <a:solidFill>
                <a:srgbClr val="000000"/>
              </a:solidFill>
              <a:latin typeface="Noto Sans CJK K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• 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결과와 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history 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확인</a:t>
            </a:r>
            <a:endParaRPr b="0" lang="en-US" sz="13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9" name=""/>
          <p:cNvSpPr/>
          <p:nvPr/>
        </p:nvSpPr>
        <p:spPr>
          <a:xfrm>
            <a:off x="4476600" y="5619600"/>
            <a:ext cx="142056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200" spc="-1" strike="noStrike">
                <a:solidFill>
                  <a:srgbClr val="12304a"/>
                </a:solidFill>
                <a:latin typeface="Calibri"/>
                <a:ea typeface="Calibri"/>
              </a:rPr>
              <a:t>관찰 결과를 보고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0" name=""/>
          <p:cNvSpPr/>
          <p:nvPr/>
        </p:nvSpPr>
        <p:spPr>
          <a:xfrm>
            <a:off x="5810040" y="5752800"/>
            <a:ext cx="571680" cy="360"/>
          </a:xfrm>
          <a:prstGeom prst="line">
            <a:avLst/>
          </a:prstGeom>
          <a:ln w="28440">
            <a:solidFill>
              <a:srgbClr val="008b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301" name=""/>
          <p:cNvSpPr/>
          <p:nvPr/>
        </p:nvSpPr>
        <p:spPr>
          <a:xfrm>
            <a:off x="6477120" y="5619600"/>
            <a:ext cx="170640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200" spc="-1" strike="noStrike">
                <a:solidFill>
                  <a:srgbClr val="008b8b"/>
                </a:solidFill>
                <a:latin typeface="Calibri"/>
                <a:ea typeface="Calibri"/>
              </a:rPr>
              <a:t>필요할 때 실행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2" name=""/>
          <p:cNvSpPr/>
          <p:nvPr/>
        </p:nvSpPr>
        <p:spPr>
          <a:xfrm>
            <a:off x="609480" y="6476760"/>
            <a:ext cx="10972800" cy="360"/>
          </a:xfrm>
          <a:prstGeom prst="line">
            <a:avLst/>
          </a:prstGeom>
          <a:ln w="9360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303" name=""/>
          <p:cNvSpPr/>
          <p:nvPr/>
        </p:nvSpPr>
        <p:spPr>
          <a:xfrm>
            <a:off x="609480" y="6534000"/>
            <a:ext cx="10964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750" spc="-1" strike="noStrike">
                <a:solidFill>
                  <a:srgbClr val="5b6b78"/>
                </a:solidFill>
                <a:latin typeface="Calibri"/>
                <a:ea typeface="Calibri"/>
              </a:rPr>
              <a:t>근거</a:t>
            </a:r>
            <a:r>
              <a:rPr b="0" lang="en-US" sz="750" spc="-1" strike="noStrike">
                <a:solidFill>
                  <a:srgbClr val="5b6b78"/>
                </a:solidFill>
                <a:latin typeface="Calibri"/>
                <a:ea typeface="Calibri"/>
              </a:rPr>
              <a:t>: AGENTS.md §12 · routers/interface_* · interface_lab/management · apply · execution</a:t>
            </a:r>
            <a:endParaRPr b="0" lang="en-US" sz="7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4" name="Rectangle 5"/>
          <p:cNvSpPr/>
          <p:nvPr/>
        </p:nvSpPr>
        <p:spPr>
          <a:xfrm>
            <a:off x="0" y="0"/>
            <a:ext cx="12183840" cy="64800"/>
          </a:xfrm>
          <a:prstGeom prst="rect">
            <a:avLst/>
          </a:prstGeom>
          <a:solidFill>
            <a:srgbClr val="009488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Rectangle 1"/>
          <p:cNvSpPr/>
          <p:nvPr/>
        </p:nvSpPr>
        <p:spPr>
          <a:xfrm>
            <a:off x="0" y="0"/>
            <a:ext cx="12183840" cy="64800"/>
          </a:xfrm>
          <a:prstGeom prst="rect">
            <a:avLst/>
          </a:prstGeom>
          <a:solidFill>
            <a:srgbClr val="009488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06" name="TextBox 2"/>
          <p:cNvSpPr/>
          <p:nvPr/>
        </p:nvSpPr>
        <p:spPr>
          <a:xfrm>
            <a:off x="790920" y="146160"/>
            <a:ext cx="84852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007bbe"/>
                </a:solidFill>
                <a:latin typeface="Calibri"/>
                <a:ea typeface="Calibri"/>
              </a:rPr>
              <a:t>INTERFACE LAB</a:t>
            </a:r>
            <a:endParaRPr b="0" lang="en-US" sz="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7" name="TextBox 3"/>
          <p:cNvSpPr/>
          <p:nvPr/>
        </p:nvSpPr>
        <p:spPr>
          <a:xfrm>
            <a:off x="11161800" y="297360"/>
            <a:ext cx="3060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r">
              <a:lnSpc>
                <a:spcPct val="100000"/>
              </a:lnSpc>
            </a:pPr>
            <a:r>
              <a:rPr b="1" lang="en-US" sz="850" spc="-1" strike="noStrike">
                <a:solidFill>
                  <a:srgbClr val="5b6e7d"/>
                </a:solidFill>
                <a:latin typeface="Malgun Gothic"/>
                <a:ea typeface="Calibri"/>
              </a:rPr>
              <a:t>14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8" name="TextBox 4"/>
          <p:cNvSpPr/>
          <p:nvPr/>
        </p:nvSpPr>
        <p:spPr>
          <a:xfrm>
            <a:off x="2593440" y="384120"/>
            <a:ext cx="67665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061f33"/>
                </a:solidFill>
                <a:latin typeface="Calibri"/>
                <a:ea typeface="Calibri"/>
              </a:rPr>
              <a:t>Interface</a:t>
            </a:r>
            <a:r>
              <a:rPr b="1" lang="ko-KR" sz="2100" spc="-1" strike="noStrike">
                <a:solidFill>
                  <a:srgbClr val="061f33"/>
                </a:solidFill>
                <a:latin typeface="Calibri"/>
                <a:ea typeface="Calibri"/>
              </a:rPr>
              <a:t>는 직접 작성하거나 업로드로 등록할 수 있습니다</a:t>
            </a:r>
            <a:endParaRPr b="0" lang="en-US" sz="2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9" name="TextBox 5"/>
          <p:cNvSpPr/>
          <p:nvPr/>
        </p:nvSpPr>
        <p:spPr>
          <a:xfrm>
            <a:off x="3680280" y="822960"/>
            <a:ext cx="43419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간단한 정의는 화면에서 작성하고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, 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실제 장비 타입은 원본 패키지 단위로 등록합니다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.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0" name="Rounded Rectangle 9"/>
          <p:cNvSpPr/>
          <p:nvPr/>
        </p:nvSpPr>
        <p:spPr>
          <a:xfrm>
            <a:off x="777240" y="5879520"/>
            <a:ext cx="3417840" cy="28440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 w="12600">
            <a:solidFill>
              <a:srgbClr val="00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09488"/>
                </a:solidFill>
                <a:latin typeface="Calibri"/>
                <a:ea typeface="Calibri"/>
              </a:rPr>
              <a:t>kind · type name </a:t>
            </a:r>
            <a:r>
              <a:rPr b="1" lang="ko-KR" sz="850" spc="-1" strike="noStrike">
                <a:solidFill>
                  <a:srgbClr val="009488"/>
                </a:solidFill>
                <a:latin typeface="Calibri"/>
                <a:ea typeface="Calibri"/>
              </a:rPr>
              <a:t>입력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1" name="Rounded Rectangle 10"/>
          <p:cNvSpPr/>
          <p:nvPr/>
        </p:nvSpPr>
        <p:spPr>
          <a:xfrm>
            <a:off x="4367880" y="5879520"/>
            <a:ext cx="3417840" cy="28440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 w="12600">
            <a:solidFill>
              <a:srgbClr val="007b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07bbe"/>
                </a:solidFill>
                <a:latin typeface="Calibri"/>
                <a:ea typeface="Calibri"/>
              </a:rPr>
              <a:t>msg / srv / action </a:t>
            </a:r>
            <a:r>
              <a:rPr b="1" lang="ko-KR" sz="850" spc="-1" strike="noStrike">
                <a:solidFill>
                  <a:srgbClr val="007bbe"/>
                </a:solidFill>
                <a:latin typeface="Calibri"/>
                <a:ea typeface="Calibri"/>
              </a:rPr>
              <a:t>정의 작성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2" name="Rounded Rectangle 11"/>
          <p:cNvSpPr/>
          <p:nvPr/>
        </p:nvSpPr>
        <p:spPr>
          <a:xfrm>
            <a:off x="7958160" y="5879520"/>
            <a:ext cx="3417840" cy="28440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 w="12600">
            <a:solidFill>
              <a:srgbClr val="f0aa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850" spc="-1" strike="noStrike">
                <a:solidFill>
                  <a:srgbClr val="f0aa3c"/>
                </a:solidFill>
                <a:latin typeface="Calibri"/>
                <a:ea typeface="Calibri"/>
              </a:rPr>
              <a:t>문법 검증 후 저장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3" name="TextBox 12"/>
          <p:cNvSpPr/>
          <p:nvPr/>
        </p:nvSpPr>
        <p:spPr>
          <a:xfrm>
            <a:off x="457200" y="6565320"/>
            <a:ext cx="1123884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실제 화면</a:t>
            </a:r>
            <a:r>
              <a:rPr b="0" lang="en-US" sz="620" spc="-1" strike="noStrike">
                <a:solidFill>
                  <a:srgbClr val="526979"/>
                </a:solidFill>
                <a:latin typeface="Calibri"/>
                <a:ea typeface="Calibri"/>
              </a:rPr>
              <a:t>: Interface </a:t>
            </a: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직접 작성 </a:t>
            </a:r>
            <a:r>
              <a:rPr b="0" lang="en-US" sz="620" spc="-1" strike="noStrike">
                <a:solidFill>
                  <a:srgbClr val="526979"/>
                </a:solidFill>
                <a:latin typeface="Calibri"/>
                <a:ea typeface="Calibri"/>
              </a:rPr>
              <a:t>/ </a:t>
            </a: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문법 검증 </a:t>
            </a:r>
            <a:r>
              <a:rPr b="0" lang="en-US" sz="620" spc="-1" strike="noStrike">
                <a:solidFill>
                  <a:srgbClr val="526979"/>
                </a:solidFill>
                <a:latin typeface="Calibri"/>
                <a:ea typeface="Calibri"/>
              </a:rPr>
              <a:t>/ </a:t>
            </a: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저장 위치</a:t>
            </a:r>
            <a:endParaRPr b="0" lang="en-US" sz="6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4" name="Rectangle 6"/>
          <p:cNvSpPr/>
          <p:nvPr/>
        </p:nvSpPr>
        <p:spPr>
          <a:xfrm>
            <a:off x="0" y="0"/>
            <a:ext cx="12183840" cy="64800"/>
          </a:xfrm>
          <a:prstGeom prst="rect">
            <a:avLst/>
          </a:prstGeom>
          <a:solidFill>
            <a:srgbClr val="009488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pic>
        <p:nvPicPr>
          <p:cNvPr id="315" name="" descr=""/>
          <p:cNvPicPr/>
          <p:nvPr/>
        </p:nvPicPr>
        <p:blipFill>
          <a:blip r:embed="rId1"/>
          <a:stretch/>
        </p:blipFill>
        <p:spPr>
          <a:xfrm>
            <a:off x="1080000" y="1271520"/>
            <a:ext cx="4318200" cy="4301640"/>
          </a:xfrm>
          <a:prstGeom prst="rect">
            <a:avLst/>
          </a:prstGeom>
          <a:ln w="0">
            <a:noFill/>
          </a:ln>
        </p:spPr>
      </p:pic>
      <p:pic>
        <p:nvPicPr>
          <p:cNvPr id="316" name="" descr=""/>
          <p:cNvPicPr/>
          <p:nvPr/>
        </p:nvPicPr>
        <p:blipFill>
          <a:blip r:embed="rId2"/>
          <a:stretch/>
        </p:blipFill>
        <p:spPr>
          <a:xfrm>
            <a:off x="5760000" y="1260000"/>
            <a:ext cx="5233320" cy="4313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Rectangle 1"/>
          <p:cNvSpPr/>
          <p:nvPr/>
        </p:nvSpPr>
        <p:spPr>
          <a:xfrm>
            <a:off x="0" y="0"/>
            <a:ext cx="12183840" cy="64800"/>
          </a:xfrm>
          <a:prstGeom prst="rect">
            <a:avLst/>
          </a:prstGeom>
          <a:solidFill>
            <a:srgbClr val="009488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18" name="TextBox 2"/>
          <p:cNvSpPr/>
          <p:nvPr/>
        </p:nvSpPr>
        <p:spPr>
          <a:xfrm>
            <a:off x="790920" y="146160"/>
            <a:ext cx="84852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007bbe"/>
                </a:solidFill>
                <a:latin typeface="Calibri"/>
                <a:ea typeface="Calibri"/>
              </a:rPr>
              <a:t>INTERFACE LAB</a:t>
            </a:r>
            <a:endParaRPr b="0" lang="en-US" sz="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9" name="TextBox 3"/>
          <p:cNvSpPr/>
          <p:nvPr/>
        </p:nvSpPr>
        <p:spPr>
          <a:xfrm>
            <a:off x="11161800" y="297360"/>
            <a:ext cx="3060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r">
              <a:lnSpc>
                <a:spcPct val="100000"/>
              </a:lnSpc>
            </a:pPr>
            <a:r>
              <a:rPr b="1" lang="en-US" sz="850" spc="-1" strike="noStrike">
                <a:solidFill>
                  <a:srgbClr val="5b6e7d"/>
                </a:solidFill>
                <a:latin typeface="Malgun Gothic"/>
                <a:ea typeface="Calibri"/>
              </a:rPr>
              <a:t>15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0" name="TextBox 4"/>
          <p:cNvSpPr/>
          <p:nvPr/>
        </p:nvSpPr>
        <p:spPr>
          <a:xfrm>
            <a:off x="2944800" y="384120"/>
            <a:ext cx="6141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061f33"/>
                </a:solidFill>
                <a:latin typeface="Calibri"/>
                <a:ea typeface="Calibri"/>
              </a:rPr>
              <a:t>Apply</a:t>
            </a:r>
            <a:r>
              <a:rPr b="1" lang="ko-KR" sz="2100" spc="-1" strike="noStrike">
                <a:solidFill>
                  <a:srgbClr val="061f33"/>
                </a:solidFill>
                <a:latin typeface="Calibri"/>
                <a:ea typeface="Calibri"/>
              </a:rPr>
              <a:t>는 패키지 빌드와 </a:t>
            </a:r>
            <a:r>
              <a:rPr b="1" lang="en-US" sz="2100" spc="-1" strike="noStrike">
                <a:solidFill>
                  <a:srgbClr val="061f33"/>
                </a:solidFill>
                <a:latin typeface="Calibri"/>
                <a:ea typeface="Calibri"/>
              </a:rPr>
              <a:t>import </a:t>
            </a:r>
            <a:r>
              <a:rPr b="1" lang="ko-KR" sz="2100" spc="-1" strike="noStrike">
                <a:solidFill>
                  <a:srgbClr val="061f33"/>
                </a:solidFill>
                <a:latin typeface="Calibri"/>
                <a:ea typeface="Calibri"/>
              </a:rPr>
              <a:t>확인까지 포함합니다</a:t>
            </a:r>
            <a:endParaRPr b="0" lang="en-US" sz="2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1" name="TextBox 5"/>
          <p:cNvSpPr/>
          <p:nvPr/>
        </p:nvSpPr>
        <p:spPr>
          <a:xfrm>
            <a:off x="2958480" y="822960"/>
            <a:ext cx="578520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업로드된 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ROS2 Interface 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패키지를 빌드하고 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Backend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가 실제 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Python 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타입을 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import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할 수 있는지 확인합니다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.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322" name="Picture 7" descr="package.png"/>
          <p:cNvPicPr/>
          <p:nvPr/>
        </p:nvPicPr>
        <p:blipFill>
          <a:blip r:embed="rId1"/>
          <a:stretch/>
        </p:blipFill>
        <p:spPr>
          <a:xfrm>
            <a:off x="502920" y="1341360"/>
            <a:ext cx="11193120" cy="4176000"/>
          </a:xfrm>
          <a:prstGeom prst="rect">
            <a:avLst/>
          </a:prstGeom>
          <a:ln w="0">
            <a:noFill/>
          </a:ln>
        </p:spPr>
      </p:pic>
      <p:sp>
        <p:nvSpPr>
          <p:cNvPr id="323" name="Rounded Rectangle 9"/>
          <p:cNvSpPr/>
          <p:nvPr/>
        </p:nvSpPr>
        <p:spPr>
          <a:xfrm>
            <a:off x="777240" y="5879520"/>
            <a:ext cx="3417840" cy="28440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 w="12600">
            <a:solidFill>
              <a:srgbClr val="00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850" spc="-1" strike="noStrike">
                <a:solidFill>
                  <a:srgbClr val="009488"/>
                </a:solidFill>
                <a:latin typeface="Calibri"/>
                <a:ea typeface="Calibri"/>
              </a:rPr>
              <a:t>패키지 경로와 </a:t>
            </a:r>
            <a:r>
              <a:rPr b="1" lang="en-US" sz="850" spc="-1" strike="noStrike">
                <a:solidFill>
                  <a:srgbClr val="009488"/>
                </a:solidFill>
                <a:latin typeface="Calibri"/>
                <a:ea typeface="Calibri"/>
              </a:rPr>
              <a:t>source </a:t>
            </a:r>
            <a:r>
              <a:rPr b="1" lang="ko-KR" sz="850" spc="-1" strike="noStrike">
                <a:solidFill>
                  <a:srgbClr val="009488"/>
                </a:solidFill>
                <a:latin typeface="Calibri"/>
                <a:ea typeface="Calibri"/>
              </a:rPr>
              <a:t>확인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4" name="Rounded Rectangle 10"/>
          <p:cNvSpPr/>
          <p:nvPr/>
        </p:nvSpPr>
        <p:spPr>
          <a:xfrm>
            <a:off x="4367880" y="5879520"/>
            <a:ext cx="3417840" cy="28440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 w="12600">
            <a:solidFill>
              <a:srgbClr val="007b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07bbe"/>
                </a:solidFill>
                <a:latin typeface="Calibri"/>
                <a:ea typeface="Calibri"/>
              </a:rPr>
              <a:t>msg · srv </a:t>
            </a:r>
            <a:r>
              <a:rPr b="1" lang="ko-KR" sz="850" spc="-1" strike="noStrike">
                <a:solidFill>
                  <a:srgbClr val="007bbe"/>
                </a:solidFill>
                <a:latin typeface="Calibri"/>
                <a:ea typeface="Calibri"/>
              </a:rPr>
              <a:t>타입 </a:t>
            </a:r>
            <a:r>
              <a:rPr b="1" lang="en-US" sz="850" spc="-1" strike="noStrike">
                <a:solidFill>
                  <a:srgbClr val="007bbe"/>
                </a:solidFill>
                <a:latin typeface="Calibri"/>
                <a:ea typeface="Calibri"/>
              </a:rPr>
              <a:t>import</a:t>
            </a:r>
            <a:r>
              <a:rPr b="1" lang="ko-KR" sz="850" spc="-1" strike="noStrike">
                <a:solidFill>
                  <a:srgbClr val="007bbe"/>
                </a:solidFill>
                <a:latin typeface="Calibri"/>
                <a:ea typeface="Calibri"/>
              </a:rPr>
              <a:t>됨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5" name="Rounded Rectangle 11"/>
          <p:cNvSpPr/>
          <p:nvPr/>
        </p:nvSpPr>
        <p:spPr>
          <a:xfrm>
            <a:off x="7958160" y="5879520"/>
            <a:ext cx="3417840" cy="28440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 w="12600">
            <a:solidFill>
              <a:srgbClr val="f0aa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850" spc="-1" strike="noStrike">
                <a:solidFill>
                  <a:srgbClr val="f0aa3c"/>
                </a:solidFill>
                <a:latin typeface="Calibri"/>
                <a:ea typeface="Calibri"/>
              </a:rPr>
              <a:t>실제 장비 타입 확장 가능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6" name="TextBox 12"/>
          <p:cNvSpPr/>
          <p:nvPr/>
        </p:nvSpPr>
        <p:spPr>
          <a:xfrm>
            <a:off x="457200" y="6565320"/>
            <a:ext cx="1123884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실제 화면</a:t>
            </a:r>
            <a:r>
              <a:rPr b="0" lang="en-US" sz="620" spc="-1" strike="noStrike">
                <a:solidFill>
                  <a:srgbClr val="526979"/>
                </a:solidFill>
                <a:latin typeface="Calibri"/>
                <a:ea typeface="Calibri"/>
              </a:rPr>
              <a:t>: Uploaded Interface Packages / rths_interfaces / import</a:t>
            </a: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됨</a:t>
            </a:r>
            <a:endParaRPr b="0" lang="en-US" sz="6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7" name="Rectangle 7"/>
          <p:cNvSpPr/>
          <p:nvPr/>
        </p:nvSpPr>
        <p:spPr>
          <a:xfrm>
            <a:off x="0" y="0"/>
            <a:ext cx="12183840" cy="64800"/>
          </a:xfrm>
          <a:prstGeom prst="rect">
            <a:avLst/>
          </a:prstGeom>
          <a:solidFill>
            <a:srgbClr val="009488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"/>
          <p:cNvSpPr/>
          <p:nvPr/>
        </p:nvSpPr>
        <p:spPr>
          <a:xfrm>
            <a:off x="609480" y="266760"/>
            <a:ext cx="208728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8b8b"/>
                </a:solidFill>
                <a:latin typeface="Calibri"/>
                <a:ea typeface="Calibri"/>
              </a:rPr>
              <a:t>INTERFACE LAB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9" name=""/>
          <p:cNvSpPr/>
          <p:nvPr/>
        </p:nvSpPr>
        <p:spPr>
          <a:xfrm>
            <a:off x="609480" y="552600"/>
            <a:ext cx="10278720" cy="4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50" spc="-1" strike="noStrike">
                <a:solidFill>
                  <a:srgbClr val="12304a"/>
                </a:solidFill>
                <a:latin typeface="Calibri"/>
                <a:ea typeface="Calibri"/>
              </a:rPr>
              <a:t>Topic Lab</a:t>
            </a:r>
            <a:r>
              <a:rPr b="1" lang="ko-KR" sz="2550" spc="-1" strike="noStrike">
                <a:solidFill>
                  <a:srgbClr val="12304a"/>
                </a:solidFill>
                <a:latin typeface="Calibri"/>
                <a:ea typeface="Calibri"/>
              </a:rPr>
              <a:t>은 같은 타입으로 </a:t>
            </a:r>
            <a:r>
              <a:rPr b="1" lang="en-US" sz="2550" spc="-1" strike="noStrike">
                <a:solidFill>
                  <a:srgbClr val="12304a"/>
                </a:solidFill>
                <a:latin typeface="Calibri"/>
                <a:ea typeface="Calibri"/>
              </a:rPr>
              <a:t>Publish</a:t>
            </a:r>
            <a:r>
              <a:rPr b="1" lang="ko-KR" sz="2550" spc="-1" strike="noStrike">
                <a:solidFill>
                  <a:srgbClr val="12304a"/>
                </a:solidFill>
                <a:latin typeface="Calibri"/>
                <a:ea typeface="Calibri"/>
              </a:rPr>
              <a:t>와 </a:t>
            </a:r>
            <a:r>
              <a:rPr b="1" lang="en-US" sz="2550" spc="-1" strike="noStrike">
                <a:solidFill>
                  <a:srgbClr val="12304a"/>
                </a:solidFill>
                <a:latin typeface="Calibri"/>
                <a:ea typeface="Calibri"/>
              </a:rPr>
              <a:t>Receive</a:t>
            </a:r>
            <a:r>
              <a:rPr b="1" lang="ko-KR" sz="2550" spc="-1" strike="noStrike">
                <a:solidFill>
                  <a:srgbClr val="12304a"/>
                </a:solidFill>
                <a:latin typeface="Calibri"/>
                <a:ea typeface="Calibri"/>
              </a:rPr>
              <a:t>를 시험합니다</a:t>
            </a:r>
            <a:endParaRPr b="0" lang="en-US" sz="25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0" name=""/>
          <p:cNvSpPr/>
          <p:nvPr/>
        </p:nvSpPr>
        <p:spPr>
          <a:xfrm>
            <a:off x="609480" y="1047600"/>
            <a:ext cx="10469160" cy="39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채널 이름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, Message full type, payload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를 입력하고 송수신 결과를 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history</a:t>
            </a:r>
            <a:r>
              <a:rPr b="0" lang="ko-KR" sz="1350" spc="-1" strike="noStrike">
                <a:solidFill>
                  <a:srgbClr val="5b6b78"/>
                </a:solidFill>
                <a:latin typeface="Calibri"/>
                <a:ea typeface="Calibri"/>
              </a:rPr>
              <a:t>에서 확인합니다</a:t>
            </a:r>
            <a:r>
              <a:rPr b="0" lang="en-US" sz="1350" spc="-1" strike="noStrike">
                <a:solidFill>
                  <a:srgbClr val="5b6b78"/>
                </a:solidFill>
                <a:latin typeface="Calibri"/>
                <a:ea typeface="Calibri"/>
              </a:rPr>
              <a:t>.</a:t>
            </a:r>
            <a:endParaRPr b="0" lang="en-US" sz="13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1" name=""/>
          <p:cNvSpPr/>
          <p:nvPr/>
        </p:nvSpPr>
        <p:spPr>
          <a:xfrm>
            <a:off x="11064240" y="292680"/>
            <a:ext cx="49824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r">
              <a:lnSpc>
                <a:spcPct val="100000"/>
              </a:lnSpc>
            </a:pPr>
            <a:r>
              <a:rPr b="1" lang="en-US" sz="850" spc="-1" strike="noStrike">
                <a:solidFill>
                  <a:srgbClr val="5b6e7d"/>
                </a:solidFill>
                <a:latin typeface="Malgun Gothic"/>
                <a:ea typeface="Calibri"/>
              </a:rPr>
              <a:t>16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2" name=""/>
          <p:cNvSpPr/>
          <p:nvPr/>
        </p:nvSpPr>
        <p:spPr>
          <a:xfrm>
            <a:off x="647640" y="1752480"/>
            <a:ext cx="5173200" cy="3516120"/>
          </a:xfrm>
          <a:prstGeom prst="roundRect">
            <a:avLst>
              <a:gd name="adj" fmla="val 2162"/>
            </a:avLst>
          </a:prstGeom>
          <a:solidFill>
            <a:srgbClr val="e6f6f3"/>
          </a:solidFill>
          <a:ln w="9360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333" name=""/>
          <p:cNvSpPr/>
          <p:nvPr/>
        </p:nvSpPr>
        <p:spPr>
          <a:xfrm>
            <a:off x="914400" y="2000160"/>
            <a:ext cx="151560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8b8b"/>
                </a:solidFill>
                <a:latin typeface="Calibri"/>
                <a:ea typeface="Calibri"/>
              </a:rPr>
              <a:t>PUBLISH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4" name=""/>
          <p:cNvSpPr/>
          <p:nvPr/>
        </p:nvSpPr>
        <p:spPr>
          <a:xfrm>
            <a:off x="952560" y="2610000"/>
            <a:ext cx="123012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2304a"/>
                </a:solidFill>
                <a:latin typeface="Calibri"/>
                <a:ea typeface="Calibri"/>
              </a:rPr>
              <a:t>Topic name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5" name=""/>
          <p:cNvSpPr/>
          <p:nvPr/>
        </p:nvSpPr>
        <p:spPr>
          <a:xfrm>
            <a:off x="2266920" y="2610000"/>
            <a:ext cx="30398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172b3a"/>
                </a:solidFill>
                <a:latin typeface="Calibri"/>
                <a:ea typeface="Calibri"/>
              </a:rPr>
              <a:t>데이터를 보낼 채널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6" name=""/>
          <p:cNvSpPr/>
          <p:nvPr/>
        </p:nvSpPr>
        <p:spPr>
          <a:xfrm>
            <a:off x="952560" y="3295800"/>
            <a:ext cx="123012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2304a"/>
                </a:solidFill>
                <a:latin typeface="Calibri"/>
                <a:ea typeface="Calibri"/>
              </a:rPr>
              <a:t>Full type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7" name=""/>
          <p:cNvSpPr/>
          <p:nvPr/>
        </p:nvSpPr>
        <p:spPr>
          <a:xfrm>
            <a:off x="2266920" y="3295800"/>
            <a:ext cx="30398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200" spc="-1" strike="noStrike">
                <a:solidFill>
                  <a:srgbClr val="172b3a"/>
                </a:solidFill>
                <a:latin typeface="Calibri"/>
                <a:ea typeface="Calibri"/>
              </a:rPr>
              <a:t>사용할 </a:t>
            </a:r>
            <a:r>
              <a:rPr b="0" lang="en-US" sz="1200" spc="-1" strike="noStrike">
                <a:solidFill>
                  <a:srgbClr val="172b3a"/>
                </a:solidFill>
                <a:latin typeface="Calibri"/>
                <a:ea typeface="Calibri"/>
              </a:rPr>
              <a:t>Message </a:t>
            </a:r>
            <a:r>
              <a:rPr b="0" lang="ko-KR" sz="1200" spc="-1" strike="noStrike">
                <a:solidFill>
                  <a:srgbClr val="172b3a"/>
                </a:solidFill>
                <a:latin typeface="Calibri"/>
                <a:ea typeface="Calibri"/>
              </a:rPr>
              <a:t>구조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8" name=""/>
          <p:cNvSpPr/>
          <p:nvPr/>
        </p:nvSpPr>
        <p:spPr>
          <a:xfrm>
            <a:off x="952560" y="3981600"/>
            <a:ext cx="123012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2304a"/>
                </a:solidFill>
                <a:latin typeface="Calibri"/>
                <a:ea typeface="Calibri"/>
              </a:rPr>
              <a:t>Payload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9" name=""/>
          <p:cNvSpPr/>
          <p:nvPr/>
        </p:nvSpPr>
        <p:spPr>
          <a:xfrm>
            <a:off x="2266920" y="3981600"/>
            <a:ext cx="30398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72b3a"/>
                </a:solidFill>
                <a:latin typeface="Calibri"/>
                <a:ea typeface="Calibri"/>
              </a:rPr>
              <a:t>Message</a:t>
            </a:r>
            <a:r>
              <a:rPr b="0" lang="ko-KR" sz="1200" spc="-1" strike="noStrike">
                <a:solidFill>
                  <a:srgbClr val="172b3a"/>
                </a:solidFill>
                <a:latin typeface="Calibri"/>
                <a:ea typeface="Calibri"/>
              </a:rPr>
              <a:t>에 넣을 실제 값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0" name=""/>
          <p:cNvSpPr/>
          <p:nvPr/>
        </p:nvSpPr>
        <p:spPr>
          <a:xfrm>
            <a:off x="952560" y="4762440"/>
            <a:ext cx="1420560" cy="31572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36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341" name=""/>
          <p:cNvSpPr/>
          <p:nvPr/>
        </p:nvSpPr>
        <p:spPr>
          <a:xfrm>
            <a:off x="1028880" y="4791240"/>
            <a:ext cx="126792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8b8b"/>
                </a:solidFill>
                <a:latin typeface="Calibri"/>
                <a:ea typeface="Calibri"/>
              </a:rPr>
              <a:t>Publish</a:t>
            </a:r>
            <a:endParaRPr b="0" lang="en-US" sz="10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2" name=""/>
          <p:cNvSpPr/>
          <p:nvPr/>
        </p:nvSpPr>
        <p:spPr>
          <a:xfrm>
            <a:off x="2571840" y="4762440"/>
            <a:ext cx="284940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payload </a:t>
            </a:r>
            <a:r>
              <a:rPr b="1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변환 → </a:t>
            </a:r>
            <a:r>
              <a:rPr b="1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ROS2 </a:t>
            </a:r>
            <a:r>
              <a:rPr b="1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발행 → </a:t>
            </a:r>
            <a:r>
              <a:rPr b="1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history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3" name=""/>
          <p:cNvSpPr/>
          <p:nvPr/>
        </p:nvSpPr>
        <p:spPr>
          <a:xfrm>
            <a:off x="6362640" y="1752480"/>
            <a:ext cx="5173200" cy="3516120"/>
          </a:xfrm>
          <a:prstGeom prst="roundRect">
            <a:avLst>
              <a:gd name="adj" fmla="val 2162"/>
            </a:avLst>
          </a:prstGeom>
          <a:solidFill>
            <a:srgbClr val="eaf2fb"/>
          </a:solidFill>
          <a:ln w="9360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344" name=""/>
          <p:cNvSpPr/>
          <p:nvPr/>
        </p:nvSpPr>
        <p:spPr>
          <a:xfrm>
            <a:off x="6629400" y="2000160"/>
            <a:ext cx="345024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2304a"/>
                </a:solidFill>
                <a:latin typeface="Calibri"/>
                <a:ea typeface="Calibri"/>
              </a:rPr>
              <a:t>RECEIVE / SUBSCRIBE</a:t>
            </a:r>
            <a:endParaRPr b="0" lang="en-US" sz="1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5" name=""/>
          <p:cNvSpPr/>
          <p:nvPr/>
        </p:nvSpPr>
        <p:spPr>
          <a:xfrm>
            <a:off x="7677000" y="3124080"/>
            <a:ext cx="209520" cy="360"/>
          </a:xfrm>
          <a:prstGeom prst="line">
            <a:avLst/>
          </a:prstGeom>
          <a:ln w="19080">
            <a:solidFill>
              <a:srgbClr val="008b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346" name=""/>
          <p:cNvSpPr/>
          <p:nvPr/>
        </p:nvSpPr>
        <p:spPr>
          <a:xfrm>
            <a:off x="6724800" y="2762280"/>
            <a:ext cx="944280" cy="715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360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347" name=""/>
          <p:cNvSpPr/>
          <p:nvPr/>
        </p:nvSpPr>
        <p:spPr>
          <a:xfrm>
            <a:off x="6819840" y="2857680"/>
            <a:ext cx="7538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172b3a"/>
                </a:solidFill>
                <a:latin typeface="Calibri"/>
                <a:ea typeface="Calibri"/>
              </a:rPr>
              <a:t>Receive</a:t>
            </a:r>
            <a:endParaRPr b="0" lang="en-US" sz="113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172b3a"/>
                </a:solidFill>
                <a:latin typeface="Calibri"/>
                <a:ea typeface="Calibri"/>
              </a:rPr>
              <a:t>start</a:t>
            </a:r>
            <a:endParaRPr b="0" lang="en-US" sz="11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8" name=""/>
          <p:cNvSpPr/>
          <p:nvPr/>
        </p:nvSpPr>
        <p:spPr>
          <a:xfrm>
            <a:off x="8839080" y="3124080"/>
            <a:ext cx="209520" cy="360"/>
          </a:xfrm>
          <a:prstGeom prst="line">
            <a:avLst/>
          </a:prstGeom>
          <a:ln w="19080">
            <a:solidFill>
              <a:srgbClr val="008b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349" name=""/>
          <p:cNvSpPr/>
          <p:nvPr/>
        </p:nvSpPr>
        <p:spPr>
          <a:xfrm>
            <a:off x="7886880" y="2762280"/>
            <a:ext cx="944280" cy="715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360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350" name=""/>
          <p:cNvSpPr/>
          <p:nvPr/>
        </p:nvSpPr>
        <p:spPr>
          <a:xfrm>
            <a:off x="7981920" y="2857680"/>
            <a:ext cx="7538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30" spc="-1" strike="noStrike">
                <a:solidFill>
                  <a:srgbClr val="172b3a"/>
                </a:solidFill>
                <a:latin typeface="Calibri"/>
                <a:ea typeface="Calibri"/>
              </a:rPr>
              <a:t>메시지</a:t>
            </a:r>
            <a:endParaRPr b="0" lang="en-US" sz="113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30" spc="-1" strike="noStrike">
                <a:solidFill>
                  <a:srgbClr val="172b3a"/>
                </a:solidFill>
                <a:latin typeface="Calibri"/>
                <a:ea typeface="Calibri"/>
              </a:rPr>
              <a:t>수신</a:t>
            </a:r>
            <a:endParaRPr b="0" lang="en-US" sz="11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1" name=""/>
          <p:cNvSpPr/>
          <p:nvPr/>
        </p:nvSpPr>
        <p:spPr>
          <a:xfrm>
            <a:off x="10001160" y="3124080"/>
            <a:ext cx="209520" cy="360"/>
          </a:xfrm>
          <a:prstGeom prst="line">
            <a:avLst/>
          </a:prstGeom>
          <a:ln w="19080">
            <a:solidFill>
              <a:srgbClr val="008b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352" name=""/>
          <p:cNvSpPr/>
          <p:nvPr/>
        </p:nvSpPr>
        <p:spPr>
          <a:xfrm>
            <a:off x="9048600" y="2762280"/>
            <a:ext cx="944280" cy="715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360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353" name=""/>
          <p:cNvSpPr/>
          <p:nvPr/>
        </p:nvSpPr>
        <p:spPr>
          <a:xfrm>
            <a:off x="9144000" y="2857680"/>
            <a:ext cx="7538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172b3a"/>
                </a:solidFill>
                <a:latin typeface="Calibri"/>
                <a:ea typeface="Calibri"/>
              </a:rPr>
              <a:t>history</a:t>
            </a:r>
            <a:endParaRPr b="0" lang="en-US" sz="113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30" spc="-1" strike="noStrike">
                <a:solidFill>
                  <a:srgbClr val="172b3a"/>
                </a:solidFill>
                <a:latin typeface="Calibri"/>
                <a:ea typeface="Calibri"/>
              </a:rPr>
              <a:t>저장</a:t>
            </a:r>
            <a:endParaRPr b="0" lang="en-US" sz="11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4" name=""/>
          <p:cNvSpPr/>
          <p:nvPr/>
        </p:nvSpPr>
        <p:spPr>
          <a:xfrm>
            <a:off x="10210680" y="2762280"/>
            <a:ext cx="944280" cy="715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360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355" name=""/>
          <p:cNvSpPr/>
          <p:nvPr/>
        </p:nvSpPr>
        <p:spPr>
          <a:xfrm>
            <a:off x="10306080" y="2857680"/>
            <a:ext cx="7538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172b3a"/>
                </a:solidFill>
                <a:latin typeface="Calibri"/>
                <a:ea typeface="Calibri"/>
              </a:rPr>
              <a:t>Receive</a:t>
            </a:r>
            <a:endParaRPr b="0" lang="en-US" sz="1130" spc="-1" strike="noStrike">
              <a:solidFill>
                <a:srgbClr val="000000"/>
              </a:solidFill>
              <a:latin typeface="Noto Sans CJK KR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30" spc="-1" strike="noStrike">
                <a:solidFill>
                  <a:srgbClr val="172b3a"/>
                </a:solidFill>
                <a:latin typeface="Calibri"/>
                <a:ea typeface="Calibri"/>
              </a:rPr>
              <a:t>stop</a:t>
            </a:r>
            <a:endParaRPr b="0" lang="en-US" sz="11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6" name=""/>
          <p:cNvSpPr/>
          <p:nvPr/>
        </p:nvSpPr>
        <p:spPr>
          <a:xfrm>
            <a:off x="6781680" y="4095720"/>
            <a:ext cx="427788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280" spc="-1" strike="noStrike">
                <a:solidFill>
                  <a:srgbClr val="172b3a"/>
                </a:solidFill>
                <a:latin typeface="Calibri"/>
                <a:ea typeface="Calibri"/>
              </a:rPr>
              <a:t>사용자가 시작한 구독만 유지하며</a:t>
            </a:r>
            <a:r>
              <a:rPr b="1" lang="en-US" sz="1280" spc="-1" strike="noStrike">
                <a:solidFill>
                  <a:srgbClr val="172b3a"/>
                </a:solidFill>
                <a:latin typeface="Calibri"/>
                <a:ea typeface="Calibri"/>
              </a:rPr>
              <a:t>, stop </a:t>
            </a:r>
            <a:r>
              <a:rPr b="1" lang="ko-KR" sz="1280" spc="-1" strike="noStrike">
                <a:solidFill>
                  <a:srgbClr val="172b3a"/>
                </a:solidFill>
                <a:latin typeface="Calibri"/>
                <a:ea typeface="Calibri"/>
              </a:rPr>
              <a:t>시 </a:t>
            </a:r>
            <a:r>
              <a:rPr b="1" lang="en-US" sz="1280" spc="-1" strike="noStrike">
                <a:solidFill>
                  <a:srgbClr val="172b3a"/>
                </a:solidFill>
                <a:latin typeface="Calibri"/>
                <a:ea typeface="Calibri"/>
              </a:rPr>
              <a:t>subscription</a:t>
            </a:r>
            <a:r>
              <a:rPr b="1" lang="ko-KR" sz="1280" spc="-1" strike="noStrike">
                <a:solidFill>
                  <a:srgbClr val="172b3a"/>
                </a:solidFill>
                <a:latin typeface="Calibri"/>
                <a:ea typeface="Calibri"/>
              </a:rPr>
              <a:t>을 정리합니다</a:t>
            </a:r>
            <a:r>
              <a:rPr b="1" lang="en-US" sz="1280" spc="-1" strike="noStrike">
                <a:solidFill>
                  <a:srgbClr val="172b3a"/>
                </a:solidFill>
                <a:latin typeface="Calibri"/>
                <a:ea typeface="Calibri"/>
              </a:rPr>
              <a:t>.</a:t>
            </a:r>
            <a:endParaRPr b="0" lang="en-US" sz="128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7" name=""/>
          <p:cNvSpPr/>
          <p:nvPr/>
        </p:nvSpPr>
        <p:spPr>
          <a:xfrm>
            <a:off x="1295280" y="5619600"/>
            <a:ext cx="959292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Frontend </a:t>
            </a:r>
            <a:r>
              <a:rPr b="1" lang="ko-KR" sz="1200" spc="-1" strike="noStrike">
                <a:solidFill>
                  <a:srgbClr val="5b6b78"/>
                </a:solidFill>
                <a:latin typeface="Calibri"/>
                <a:ea typeface="Calibri"/>
              </a:rPr>
              <a:t>입력 → </a:t>
            </a:r>
            <a:r>
              <a:rPr b="1" lang="en-US" sz="1200" spc="-1" strike="noStrike">
                <a:solidFill>
                  <a:srgbClr val="5b6b78"/>
                </a:solidFill>
                <a:latin typeface="Calibri"/>
                <a:ea typeface="Calibri"/>
              </a:rPr>
              <a:t>topic execution router → InterfaceReceiveRuntime → value converter → ROS2 → history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8" name=""/>
          <p:cNvSpPr/>
          <p:nvPr/>
        </p:nvSpPr>
        <p:spPr>
          <a:xfrm>
            <a:off x="609480" y="6476760"/>
            <a:ext cx="10972800" cy="360"/>
          </a:xfrm>
          <a:prstGeom prst="line">
            <a:avLst/>
          </a:prstGeom>
          <a:ln w="9360">
            <a:solidFill>
              <a:srgbClr val="cbd7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359" name=""/>
          <p:cNvSpPr/>
          <p:nvPr/>
        </p:nvSpPr>
        <p:spPr>
          <a:xfrm>
            <a:off x="609480" y="6534000"/>
            <a:ext cx="10964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750" spc="-1" strike="noStrike">
                <a:solidFill>
                  <a:srgbClr val="5b6b78"/>
                </a:solidFill>
                <a:latin typeface="Calibri"/>
                <a:ea typeface="Calibri"/>
              </a:rPr>
              <a:t>근거</a:t>
            </a:r>
            <a:r>
              <a:rPr b="0" lang="en-US" sz="750" spc="-1" strike="noStrike">
                <a:solidFill>
                  <a:srgbClr val="5b6b78"/>
                </a:solidFill>
                <a:latin typeface="Calibri"/>
                <a:ea typeface="Calibri"/>
              </a:rPr>
              <a:t>: routers/topic_execution.py · InterfaceReceiveRuntime · value_converter.py · InterfaceLabPage.jsx</a:t>
            </a:r>
            <a:endParaRPr b="0" lang="en-US" sz="7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0" name="Rectangle 8"/>
          <p:cNvSpPr/>
          <p:nvPr/>
        </p:nvSpPr>
        <p:spPr>
          <a:xfrm>
            <a:off x="0" y="0"/>
            <a:ext cx="12183840" cy="64800"/>
          </a:xfrm>
          <a:prstGeom prst="rect">
            <a:avLst/>
          </a:prstGeom>
          <a:solidFill>
            <a:srgbClr val="009488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Rectangle 1"/>
          <p:cNvSpPr/>
          <p:nvPr/>
        </p:nvSpPr>
        <p:spPr>
          <a:xfrm>
            <a:off x="0" y="0"/>
            <a:ext cx="12183840" cy="64800"/>
          </a:xfrm>
          <a:prstGeom prst="rect">
            <a:avLst/>
          </a:prstGeom>
          <a:solidFill>
            <a:srgbClr val="009488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62" name="TextBox 2"/>
          <p:cNvSpPr/>
          <p:nvPr/>
        </p:nvSpPr>
        <p:spPr>
          <a:xfrm>
            <a:off x="790920" y="146160"/>
            <a:ext cx="848520" cy="1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007bbe"/>
                </a:solidFill>
                <a:latin typeface="Calibri"/>
                <a:ea typeface="Calibri"/>
              </a:rPr>
              <a:t>INTERFACE LAB</a:t>
            </a:r>
            <a:endParaRPr b="0" lang="en-US" sz="7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3" name="TextBox 3"/>
          <p:cNvSpPr/>
          <p:nvPr/>
        </p:nvSpPr>
        <p:spPr>
          <a:xfrm>
            <a:off x="11161800" y="297360"/>
            <a:ext cx="3060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r">
              <a:lnSpc>
                <a:spcPct val="100000"/>
              </a:lnSpc>
            </a:pPr>
            <a:r>
              <a:rPr b="1" lang="en-US" sz="850" spc="-1" strike="noStrike">
                <a:solidFill>
                  <a:srgbClr val="5b6e7d"/>
                </a:solidFill>
                <a:latin typeface="Malgun Gothic"/>
                <a:ea typeface="Calibri"/>
              </a:rPr>
              <a:t>17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4" name="TextBox 4"/>
          <p:cNvSpPr/>
          <p:nvPr/>
        </p:nvSpPr>
        <p:spPr>
          <a:xfrm>
            <a:off x="2291760" y="384120"/>
            <a:ext cx="7447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061f33"/>
                </a:solidFill>
                <a:latin typeface="Calibri"/>
                <a:ea typeface="Calibri"/>
              </a:rPr>
              <a:t>Service Call</a:t>
            </a:r>
            <a:r>
              <a:rPr b="1" lang="ko-KR" sz="2100" spc="-1" strike="noStrike">
                <a:solidFill>
                  <a:srgbClr val="061f33"/>
                </a:solidFill>
                <a:latin typeface="Calibri"/>
                <a:ea typeface="Calibri"/>
              </a:rPr>
              <a:t>과 </a:t>
            </a:r>
            <a:r>
              <a:rPr b="1" lang="en-US" sz="2100" spc="-1" strike="noStrike">
                <a:solidFill>
                  <a:srgbClr val="061f33"/>
                </a:solidFill>
                <a:latin typeface="Calibri"/>
                <a:ea typeface="Calibri"/>
              </a:rPr>
              <a:t>Action Goal</a:t>
            </a:r>
            <a:r>
              <a:rPr b="1" lang="ko-KR" sz="2100" spc="-1" strike="noStrike">
                <a:solidFill>
                  <a:srgbClr val="061f33"/>
                </a:solidFill>
                <a:latin typeface="Calibri"/>
                <a:ea typeface="Calibri"/>
              </a:rPr>
              <a:t>은 사용자가 명시적으로 실행합니다</a:t>
            </a:r>
            <a:endParaRPr b="0" lang="en-US" sz="2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5" name="TextBox 5"/>
          <p:cNvSpPr/>
          <p:nvPr/>
        </p:nvSpPr>
        <p:spPr>
          <a:xfrm>
            <a:off x="3133080" y="822960"/>
            <a:ext cx="54363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full type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으로 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Goal schema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를 만들고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, 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입력값을 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ROS2 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객체로 변환해 실행 결과를 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history</a:t>
            </a:r>
            <a:r>
              <a:rPr b="0" lang="ko-KR" sz="950" spc="-1" strike="noStrike">
                <a:solidFill>
                  <a:srgbClr val="526979"/>
                </a:solidFill>
                <a:latin typeface="Calibri"/>
                <a:ea typeface="Calibri"/>
              </a:rPr>
              <a:t>에 저장합니다</a:t>
            </a:r>
            <a:r>
              <a:rPr b="0" lang="en-US" sz="950" spc="-1" strike="noStrike">
                <a:solidFill>
                  <a:srgbClr val="526979"/>
                </a:solidFill>
                <a:latin typeface="Calibri"/>
                <a:ea typeface="Calibri"/>
              </a:rPr>
              <a:t>.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6" name="Rounded Rectangle 9"/>
          <p:cNvSpPr/>
          <p:nvPr/>
        </p:nvSpPr>
        <p:spPr>
          <a:xfrm>
            <a:off x="777240" y="6120000"/>
            <a:ext cx="3417840" cy="28440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 w="12600">
            <a:solidFill>
              <a:srgbClr val="00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09488"/>
                </a:solidFill>
                <a:latin typeface="Calibri"/>
                <a:ea typeface="Calibri"/>
              </a:rPr>
              <a:t>Action Goal </a:t>
            </a:r>
            <a:r>
              <a:rPr b="1" lang="ko-KR" sz="850" spc="-1" strike="noStrike">
                <a:solidFill>
                  <a:srgbClr val="009488"/>
                </a:solidFill>
                <a:latin typeface="Calibri"/>
                <a:ea typeface="Calibri"/>
              </a:rPr>
              <a:t>입력 폼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7" name="Rounded Rectangle 10"/>
          <p:cNvSpPr/>
          <p:nvPr/>
        </p:nvSpPr>
        <p:spPr>
          <a:xfrm>
            <a:off x="4367880" y="6120000"/>
            <a:ext cx="3417840" cy="28440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 w="12600">
            <a:solidFill>
              <a:srgbClr val="007b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007bbe"/>
                </a:solidFill>
                <a:latin typeface="Calibri"/>
                <a:ea typeface="Calibri"/>
              </a:rPr>
              <a:t>Feedback / Result </a:t>
            </a:r>
            <a:r>
              <a:rPr b="1" lang="ko-KR" sz="850" spc="-1" strike="noStrike">
                <a:solidFill>
                  <a:srgbClr val="007bbe"/>
                </a:solidFill>
                <a:latin typeface="Calibri"/>
                <a:ea typeface="Calibri"/>
              </a:rPr>
              <a:t>수신 영역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8" name="Rounded Rectangle 11"/>
          <p:cNvSpPr/>
          <p:nvPr/>
        </p:nvSpPr>
        <p:spPr>
          <a:xfrm>
            <a:off x="7958160" y="6120000"/>
            <a:ext cx="3417840" cy="284400"/>
          </a:xfrm>
          <a:prstGeom prst="roundRect">
            <a:avLst>
              <a:gd name="adj" fmla="val 16667"/>
            </a:avLst>
          </a:prstGeom>
          <a:solidFill>
            <a:srgbClr val="e5f7f4"/>
          </a:solidFill>
          <a:ln w="12600">
            <a:solidFill>
              <a:srgbClr val="f0aa3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3080" rIns="73080" tIns="36720" bIns="183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0aa3c"/>
                </a:solidFill>
                <a:latin typeface="Calibri"/>
                <a:ea typeface="Calibri"/>
              </a:rPr>
              <a:t>history</a:t>
            </a:r>
            <a:r>
              <a:rPr b="1" lang="ko-KR" sz="850" spc="-1" strike="noStrike">
                <a:solidFill>
                  <a:srgbClr val="f0aa3c"/>
                </a:solidFill>
                <a:latin typeface="Calibri"/>
                <a:ea typeface="Calibri"/>
              </a:rPr>
              <a:t>로 실행 결과 확인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9" name="TextBox 12"/>
          <p:cNvSpPr/>
          <p:nvPr/>
        </p:nvSpPr>
        <p:spPr>
          <a:xfrm>
            <a:off x="457200" y="6565320"/>
            <a:ext cx="1123884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rIns="54720" tIns="27360" bIns="2736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실제 화면</a:t>
            </a:r>
            <a:r>
              <a:rPr b="0" lang="en-US" sz="620" spc="-1" strike="noStrike">
                <a:solidFill>
                  <a:srgbClr val="526979"/>
                </a:solidFill>
                <a:latin typeface="Calibri"/>
                <a:ea typeface="Calibri"/>
              </a:rPr>
              <a:t>: Interface Lab Action </a:t>
            </a: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실행 </a:t>
            </a:r>
            <a:r>
              <a:rPr b="0" lang="en-US" sz="620" spc="-1" strike="noStrike">
                <a:solidFill>
                  <a:srgbClr val="526979"/>
                </a:solidFill>
                <a:latin typeface="Calibri"/>
                <a:ea typeface="Calibri"/>
              </a:rPr>
              <a:t>/ Goal schema / </a:t>
            </a:r>
            <a:r>
              <a:rPr b="0" lang="ko-KR" sz="620" spc="-1" strike="noStrike">
                <a:solidFill>
                  <a:srgbClr val="526979"/>
                </a:solidFill>
                <a:latin typeface="Calibri"/>
                <a:ea typeface="Calibri"/>
              </a:rPr>
              <a:t>수신 </a:t>
            </a:r>
            <a:r>
              <a:rPr b="0" lang="en-US" sz="620" spc="-1" strike="noStrike">
                <a:solidFill>
                  <a:srgbClr val="526979"/>
                </a:solidFill>
                <a:latin typeface="Calibri"/>
                <a:ea typeface="Calibri"/>
              </a:rPr>
              <a:t>history</a:t>
            </a:r>
            <a:endParaRPr b="0" lang="en-US" sz="6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0" name="Rectangle 9"/>
          <p:cNvSpPr/>
          <p:nvPr/>
        </p:nvSpPr>
        <p:spPr>
          <a:xfrm>
            <a:off x="0" y="0"/>
            <a:ext cx="12183840" cy="64800"/>
          </a:xfrm>
          <a:prstGeom prst="rect">
            <a:avLst/>
          </a:prstGeom>
          <a:solidFill>
            <a:srgbClr val="009488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pic>
        <p:nvPicPr>
          <p:cNvPr id="371" name="" descr=""/>
          <p:cNvPicPr/>
          <p:nvPr/>
        </p:nvPicPr>
        <p:blipFill>
          <a:blip r:embed="rId1"/>
          <a:stretch/>
        </p:blipFill>
        <p:spPr>
          <a:xfrm>
            <a:off x="360000" y="1080000"/>
            <a:ext cx="11146320" cy="4852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TextBox 1"/>
          <p:cNvSpPr/>
          <p:nvPr/>
        </p:nvSpPr>
        <p:spPr>
          <a:xfrm>
            <a:off x="502920" y="255960"/>
            <a:ext cx="200412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2563eb"/>
                </a:solidFill>
                <a:latin typeface="Aptos"/>
                <a:ea typeface="Calibri"/>
              </a:rPr>
              <a:t>TROUBLESHOOTING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3" name="TextBox 2"/>
          <p:cNvSpPr/>
          <p:nvPr/>
        </p:nvSpPr>
        <p:spPr>
          <a:xfrm>
            <a:off x="11206080" y="314640"/>
            <a:ext cx="21744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1" lang="en-US" sz="850" spc="-1" strike="noStrike">
                <a:solidFill>
                  <a:srgbClr val="5b6e7d"/>
                </a:solidFill>
                <a:latin typeface="Malgun Gothic"/>
                <a:ea typeface="Calibri"/>
              </a:rPr>
              <a:t>18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4" name="TextBox 3"/>
          <p:cNvSpPr/>
          <p:nvPr/>
        </p:nvSpPr>
        <p:spPr>
          <a:xfrm>
            <a:off x="502920" y="567000"/>
            <a:ext cx="986796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0f172a"/>
                </a:solidFill>
                <a:latin typeface="Aptos"/>
                <a:ea typeface="Calibri"/>
              </a:rPr>
              <a:t>CASE 1 · </a:t>
            </a:r>
            <a:r>
              <a:rPr b="1" lang="ko-KR" sz="2500" spc="-1" strike="noStrike">
                <a:solidFill>
                  <a:srgbClr val="0f172a"/>
                </a:solidFill>
                <a:latin typeface="Aptos"/>
                <a:ea typeface="Calibri"/>
              </a:rPr>
              <a:t>실제 장비 </a:t>
            </a:r>
            <a:r>
              <a:rPr b="1" lang="en-US" sz="2500" spc="-1" strike="noStrike">
                <a:solidFill>
                  <a:srgbClr val="0f172a"/>
                </a:solidFill>
                <a:latin typeface="Aptos"/>
                <a:ea typeface="Calibri"/>
              </a:rPr>
              <a:t>Interface </a:t>
            </a:r>
            <a:r>
              <a:rPr b="1" lang="ko-KR" sz="2500" spc="-1" strike="noStrike">
                <a:solidFill>
                  <a:srgbClr val="0f172a"/>
                </a:solidFill>
                <a:latin typeface="Aptos"/>
                <a:ea typeface="Calibri"/>
              </a:rPr>
              <a:t>패키지 의존성</a:t>
            </a:r>
            <a:endParaRPr b="0" lang="en-US" sz="2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5" name="TextBox 4"/>
          <p:cNvSpPr/>
          <p:nvPr/>
        </p:nvSpPr>
        <p:spPr>
          <a:xfrm>
            <a:off x="502920" y="1005840"/>
            <a:ext cx="10233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ko-KR" sz="1200" spc="-1" strike="noStrike">
                <a:solidFill>
                  <a:srgbClr val="475569"/>
                </a:solidFill>
                <a:latin typeface="Aptos"/>
                <a:ea typeface="Calibri"/>
              </a:rPr>
              <a:t>타입 정의뿐 아니라 원본 패키지 구조와 의존성까지 있어야 </a:t>
            </a:r>
            <a:r>
              <a:rPr b="0" lang="en-US" sz="1200" spc="-1" strike="noStrike">
                <a:solidFill>
                  <a:srgbClr val="475569"/>
                </a:solidFill>
                <a:latin typeface="Aptos"/>
                <a:ea typeface="Calibri"/>
              </a:rPr>
              <a:t>build · import · </a:t>
            </a:r>
            <a:r>
              <a:rPr b="0" lang="ko-KR" sz="1200" spc="-1" strike="noStrike">
                <a:solidFill>
                  <a:srgbClr val="475569"/>
                </a:solidFill>
                <a:latin typeface="Aptos"/>
                <a:ea typeface="Calibri"/>
              </a:rPr>
              <a:t>통신이 가능했습니다</a:t>
            </a:r>
            <a:r>
              <a:rPr b="0" lang="en-US" sz="1200" spc="-1" strike="noStrike">
                <a:solidFill>
                  <a:srgbClr val="475569"/>
                </a:solidFill>
                <a:latin typeface="Aptos"/>
                <a:ea typeface="Calibri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6" name="Rounded Rectangle 5"/>
          <p:cNvSpPr/>
          <p:nvPr/>
        </p:nvSpPr>
        <p:spPr>
          <a:xfrm>
            <a:off x="502920" y="1463040"/>
            <a:ext cx="2918520" cy="9068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0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77" name="TextBox 6"/>
          <p:cNvSpPr/>
          <p:nvPr/>
        </p:nvSpPr>
        <p:spPr>
          <a:xfrm>
            <a:off x="631080" y="1554480"/>
            <a:ext cx="266256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ko-KR" sz="1000" spc="-1" strike="noStrike">
                <a:solidFill>
                  <a:srgbClr val="ef4444"/>
                </a:solidFill>
                <a:latin typeface="Aptos"/>
                <a:ea typeface="Calibri"/>
              </a:rPr>
              <a:t>문제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8" name="TextBox 7"/>
          <p:cNvSpPr/>
          <p:nvPr/>
        </p:nvSpPr>
        <p:spPr>
          <a:xfrm>
            <a:off x="631080" y="1847160"/>
            <a:ext cx="266256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실제 장비의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ROS2 Interface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를 받았지만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, 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대시보드 환경에는 해당 패키지가 없어 정확한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Service·Action 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타입을 불러올 수 없었습니다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.</a:t>
            </a:r>
            <a:endParaRPr b="0" lang="en-US" sz="10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9" name="Rounded Rectangle 8"/>
          <p:cNvSpPr/>
          <p:nvPr/>
        </p:nvSpPr>
        <p:spPr>
          <a:xfrm>
            <a:off x="502920" y="2514600"/>
            <a:ext cx="2918520" cy="11354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0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80" name="TextBox 9"/>
          <p:cNvSpPr/>
          <p:nvPr/>
        </p:nvSpPr>
        <p:spPr>
          <a:xfrm>
            <a:off x="631080" y="2606040"/>
            <a:ext cx="266256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ko-KR" sz="1000" spc="-1" strike="noStrike">
                <a:solidFill>
                  <a:srgbClr val="f59e0b"/>
                </a:solidFill>
                <a:latin typeface="Aptos"/>
                <a:ea typeface="Calibri"/>
              </a:rPr>
              <a:t>원인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1" name="TextBox 10"/>
          <p:cNvSpPr/>
          <p:nvPr/>
        </p:nvSpPr>
        <p:spPr>
          <a:xfrm>
            <a:off x="631080" y="2898720"/>
            <a:ext cx="266256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사용자 정의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Interface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는 타입 이름만으로 사용할 수 없습니다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. msg/srv/action 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정의와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package.xml 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의존성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, CMakeLists.txt 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빌드 설정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, 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원본 패키지명이 함께 필요했습니다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.</a:t>
            </a:r>
            <a:endParaRPr b="0" lang="en-US" sz="10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2" name="Rounded Rectangle 11"/>
          <p:cNvSpPr/>
          <p:nvPr/>
        </p:nvSpPr>
        <p:spPr>
          <a:xfrm>
            <a:off x="502920" y="3794760"/>
            <a:ext cx="2918520" cy="10580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0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83" name="TextBox 12"/>
          <p:cNvSpPr/>
          <p:nvPr/>
        </p:nvSpPr>
        <p:spPr>
          <a:xfrm>
            <a:off x="631080" y="3886200"/>
            <a:ext cx="266256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ko-KR" sz="1000" spc="-1" strike="noStrike">
                <a:solidFill>
                  <a:srgbClr val="0ea5a4"/>
                </a:solidFill>
                <a:latin typeface="Aptos"/>
                <a:ea typeface="Calibri"/>
              </a:rPr>
              <a:t>해결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4" name="TextBox 13"/>
          <p:cNvSpPr/>
          <p:nvPr/>
        </p:nvSpPr>
        <p:spPr>
          <a:xfrm>
            <a:off x="631080" y="4178880"/>
            <a:ext cx="266256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장비별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Interface 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패키지를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ZIP/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폴더 단위로 업로드하고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, build/apply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와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import-check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를 거쳐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Backend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가 실제 타입을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import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하도록 구성했습니다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.</a:t>
            </a:r>
            <a:endParaRPr b="0" lang="en-US" sz="10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5" name="Rounded Rectangle 14"/>
          <p:cNvSpPr/>
          <p:nvPr/>
        </p:nvSpPr>
        <p:spPr>
          <a:xfrm>
            <a:off x="494280" y="5040000"/>
            <a:ext cx="2918520" cy="8582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0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86" name="TextBox 15"/>
          <p:cNvSpPr/>
          <p:nvPr/>
        </p:nvSpPr>
        <p:spPr>
          <a:xfrm>
            <a:off x="631080" y="5114880"/>
            <a:ext cx="266256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ko-KR" sz="1000" spc="-1" strike="noStrike">
                <a:solidFill>
                  <a:srgbClr val="10b981"/>
                </a:solidFill>
                <a:latin typeface="Aptos"/>
                <a:ea typeface="Calibri"/>
              </a:rPr>
              <a:t>결과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7" name="TextBox 16"/>
          <p:cNvSpPr/>
          <p:nvPr/>
        </p:nvSpPr>
        <p:spPr>
          <a:xfrm>
            <a:off x="631080" y="5321880"/>
            <a:ext cx="266256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0f172a"/>
                </a:solidFill>
                <a:latin typeface="Aptos"/>
                <a:ea typeface="Calibri"/>
              </a:rPr>
              <a:t>Service·Action </a:t>
            </a:r>
            <a:r>
              <a:rPr b="0" lang="ko-KR" sz="1000" spc="-1" strike="noStrike">
                <a:solidFill>
                  <a:srgbClr val="0f172a"/>
                </a:solidFill>
                <a:latin typeface="Aptos"/>
                <a:ea typeface="Calibri"/>
              </a:rPr>
              <a:t>타입 인식</a:t>
            </a:r>
            <a:r>
              <a:rPr b="0" lang="en-US" sz="1000" spc="-1" strike="noStrike">
                <a:solidFill>
                  <a:srgbClr val="0f172a"/>
                </a:solidFill>
                <a:latin typeface="Aptos"/>
                <a:ea typeface="Calibri"/>
              </a:rPr>
              <a:t>, Feedback/Result </a:t>
            </a:r>
            <a:r>
              <a:rPr b="0" lang="ko-KR" sz="1000" spc="-1" strike="noStrike">
                <a:solidFill>
                  <a:srgbClr val="0f172a"/>
                </a:solidFill>
                <a:latin typeface="Aptos"/>
                <a:ea typeface="Calibri"/>
              </a:rPr>
              <a:t>해석</a:t>
            </a:r>
            <a:r>
              <a:rPr b="0" lang="en-US" sz="1000" spc="-1" strike="noStrike">
                <a:solidFill>
                  <a:srgbClr val="0f172a"/>
                </a:solidFill>
                <a:latin typeface="Aptos"/>
                <a:ea typeface="Calibri"/>
              </a:rPr>
              <a:t>, </a:t>
            </a:r>
            <a:r>
              <a:rPr b="0" lang="ko-KR" sz="1000" spc="-1" strike="noStrike">
                <a:solidFill>
                  <a:srgbClr val="0f172a"/>
                </a:solidFill>
                <a:latin typeface="Aptos"/>
                <a:ea typeface="Calibri"/>
              </a:rPr>
              <a:t>장비별 패키지 확장이 가능해졌습니다</a:t>
            </a:r>
            <a:r>
              <a:rPr b="0" lang="en-US" sz="1000" spc="-1" strike="noStrike">
                <a:solidFill>
                  <a:srgbClr val="0f172a"/>
                </a:solidFill>
                <a:latin typeface="Aptos"/>
                <a:ea typeface="Calibri"/>
              </a:rPr>
              <a:t>.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8" name="TextBox 18"/>
          <p:cNvSpPr/>
          <p:nvPr/>
        </p:nvSpPr>
        <p:spPr>
          <a:xfrm>
            <a:off x="3794760" y="4316040"/>
            <a:ext cx="73533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ko-KR" sz="950" spc="-1" strike="noStrike">
                <a:solidFill>
                  <a:srgbClr val="475569"/>
                </a:solidFill>
                <a:latin typeface="Aptos"/>
                <a:ea typeface="Calibri"/>
              </a:rPr>
              <a:t>실제 화면</a:t>
            </a:r>
            <a:r>
              <a:rPr b="0" lang="en-US" sz="950" spc="-1" strike="noStrike">
                <a:solidFill>
                  <a:srgbClr val="475569"/>
                </a:solidFill>
                <a:latin typeface="Aptos"/>
                <a:ea typeface="Calibri"/>
              </a:rPr>
              <a:t>: Uploaded Interface Packages / rths_interfaces / msg·srv import</a:t>
            </a:r>
            <a:r>
              <a:rPr b="0" lang="ko-KR" sz="950" spc="-1" strike="noStrike">
                <a:solidFill>
                  <a:srgbClr val="475569"/>
                </a:solidFill>
                <a:latin typeface="Aptos"/>
                <a:ea typeface="Calibri"/>
              </a:rPr>
              <a:t>됨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9" name="Rounded Rectangle 19"/>
          <p:cNvSpPr/>
          <p:nvPr/>
        </p:nvSpPr>
        <p:spPr>
          <a:xfrm>
            <a:off x="3931920" y="4864680"/>
            <a:ext cx="815400" cy="5227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600">
            <a:solidFill>
              <a:srgbClr val="0ea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90" name="TextBox 20"/>
          <p:cNvSpPr/>
          <p:nvPr/>
        </p:nvSpPr>
        <p:spPr>
          <a:xfrm>
            <a:off x="3977640" y="4984920"/>
            <a:ext cx="72396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ko-KR" sz="950" spc="-1" strike="noStrike">
                <a:solidFill>
                  <a:srgbClr val="0f172a"/>
                </a:solidFill>
                <a:latin typeface="Aptos"/>
                <a:ea typeface="Calibri"/>
              </a:rPr>
              <a:t>패키지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  <a:p>
            <a:pPr algn="ctr">
              <a:lnSpc>
                <a:spcPct val="100000"/>
              </a:lnSpc>
            </a:pPr>
            <a:r>
              <a:rPr b="1" lang="ko-KR" sz="950" spc="-1" strike="noStrike">
                <a:solidFill>
                  <a:srgbClr val="0f172a"/>
                </a:solidFill>
                <a:latin typeface="Aptos"/>
                <a:ea typeface="Calibri"/>
              </a:rPr>
              <a:t>업로드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1" name="Rounded Rectangle 21"/>
          <p:cNvSpPr/>
          <p:nvPr/>
        </p:nvSpPr>
        <p:spPr>
          <a:xfrm>
            <a:off x="5074920" y="4864680"/>
            <a:ext cx="815400" cy="5227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600">
            <a:solidFill>
              <a:srgbClr val="0ea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92" name="TextBox 22"/>
          <p:cNvSpPr/>
          <p:nvPr/>
        </p:nvSpPr>
        <p:spPr>
          <a:xfrm>
            <a:off x="5120640" y="4984920"/>
            <a:ext cx="72396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0f172a"/>
                </a:solidFill>
                <a:latin typeface="Aptos"/>
                <a:ea typeface="Calibri"/>
              </a:rPr>
              <a:t>colcon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0f172a"/>
                </a:solidFill>
                <a:latin typeface="Aptos"/>
                <a:ea typeface="Calibri"/>
              </a:rPr>
              <a:t>build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3" name="Rounded Rectangle 23"/>
          <p:cNvSpPr/>
          <p:nvPr/>
        </p:nvSpPr>
        <p:spPr>
          <a:xfrm>
            <a:off x="6217920" y="4864680"/>
            <a:ext cx="815400" cy="5227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600">
            <a:solidFill>
              <a:srgbClr val="0ea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94" name="TextBox 24"/>
          <p:cNvSpPr/>
          <p:nvPr/>
        </p:nvSpPr>
        <p:spPr>
          <a:xfrm>
            <a:off x="6263640" y="4984920"/>
            <a:ext cx="72396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0f172a"/>
                </a:solidFill>
                <a:latin typeface="Aptos"/>
                <a:ea typeface="Calibri"/>
              </a:rPr>
              <a:t>install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  <a:p>
            <a:pPr algn="ctr">
              <a:lnSpc>
                <a:spcPct val="100000"/>
              </a:lnSpc>
            </a:pPr>
            <a:r>
              <a:rPr b="1" lang="ko-KR" sz="950" spc="-1" strike="noStrike">
                <a:solidFill>
                  <a:srgbClr val="0f172a"/>
                </a:solidFill>
                <a:latin typeface="Aptos"/>
                <a:ea typeface="Calibri"/>
              </a:rPr>
              <a:t>반영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5" name="Rounded Rectangle 25"/>
          <p:cNvSpPr/>
          <p:nvPr/>
        </p:nvSpPr>
        <p:spPr>
          <a:xfrm>
            <a:off x="7360920" y="4864680"/>
            <a:ext cx="815400" cy="5227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600">
            <a:solidFill>
              <a:srgbClr val="0ea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96" name="TextBox 26"/>
          <p:cNvSpPr/>
          <p:nvPr/>
        </p:nvSpPr>
        <p:spPr>
          <a:xfrm>
            <a:off x="7406640" y="4984920"/>
            <a:ext cx="72396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0f172a"/>
                </a:solidFill>
                <a:latin typeface="Aptos"/>
                <a:ea typeface="Calibri"/>
              </a:rPr>
              <a:t>import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  <a:p>
            <a:pPr algn="ctr">
              <a:lnSpc>
                <a:spcPct val="100000"/>
              </a:lnSpc>
            </a:pPr>
            <a:r>
              <a:rPr b="1" lang="ko-KR" sz="950" spc="-1" strike="noStrike">
                <a:solidFill>
                  <a:srgbClr val="0f172a"/>
                </a:solidFill>
                <a:latin typeface="Aptos"/>
                <a:ea typeface="Calibri"/>
              </a:rPr>
              <a:t>확인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7" name="Rounded Rectangle 27"/>
          <p:cNvSpPr/>
          <p:nvPr/>
        </p:nvSpPr>
        <p:spPr>
          <a:xfrm>
            <a:off x="8503920" y="4864680"/>
            <a:ext cx="815400" cy="5227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600">
            <a:solidFill>
              <a:srgbClr val="0ea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398" name="TextBox 28"/>
          <p:cNvSpPr/>
          <p:nvPr/>
        </p:nvSpPr>
        <p:spPr>
          <a:xfrm>
            <a:off x="8549640" y="4984920"/>
            <a:ext cx="72396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ko-KR" sz="950" spc="-1" strike="noStrike">
                <a:solidFill>
                  <a:srgbClr val="0f172a"/>
                </a:solidFill>
                <a:latin typeface="Aptos"/>
                <a:ea typeface="Calibri"/>
              </a:rPr>
              <a:t>실행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  <a:p>
            <a:pPr algn="ctr">
              <a:lnSpc>
                <a:spcPct val="100000"/>
              </a:lnSpc>
            </a:pPr>
            <a:r>
              <a:rPr b="1" lang="ko-KR" sz="950" spc="-1" strike="noStrike">
                <a:solidFill>
                  <a:srgbClr val="0f172a"/>
                </a:solidFill>
                <a:latin typeface="Aptos"/>
                <a:ea typeface="Calibri"/>
              </a:rPr>
              <a:t>가능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399" name="Connector 29"/>
          <p:cNvCxnSpPr/>
          <p:nvPr/>
        </p:nvCxnSpPr>
        <p:spPr>
          <a:xfrm>
            <a:off x="4772880" y="5129640"/>
            <a:ext cx="263880" cy="7560"/>
          </a:xfrm>
          <a:prstGeom prst="straightConnector1">
            <a:avLst/>
          </a:prstGeom>
          <a:ln w="0">
            <a:solidFill>
              <a:srgbClr val="0ea5a4"/>
            </a:solidFill>
          </a:ln>
        </p:spPr>
      </p:cxnSp>
      <p:cxnSp>
        <p:nvCxnSpPr>
          <p:cNvPr id="400" name="Connector 30"/>
          <p:cNvCxnSpPr/>
          <p:nvPr/>
        </p:nvCxnSpPr>
        <p:spPr>
          <a:xfrm>
            <a:off x="5915880" y="5129640"/>
            <a:ext cx="263880" cy="7560"/>
          </a:xfrm>
          <a:prstGeom prst="straightConnector1">
            <a:avLst/>
          </a:prstGeom>
          <a:ln w="0">
            <a:solidFill>
              <a:srgbClr val="0ea5a4"/>
            </a:solidFill>
          </a:ln>
        </p:spPr>
      </p:cxnSp>
      <p:cxnSp>
        <p:nvCxnSpPr>
          <p:cNvPr id="401" name="Connector 31"/>
          <p:cNvCxnSpPr/>
          <p:nvPr/>
        </p:nvCxnSpPr>
        <p:spPr>
          <a:xfrm>
            <a:off x="7058880" y="5129640"/>
            <a:ext cx="263880" cy="7560"/>
          </a:xfrm>
          <a:prstGeom prst="straightConnector1">
            <a:avLst/>
          </a:prstGeom>
          <a:ln w="0">
            <a:solidFill>
              <a:srgbClr val="0ea5a4"/>
            </a:solidFill>
          </a:ln>
        </p:spPr>
      </p:cxnSp>
      <p:cxnSp>
        <p:nvCxnSpPr>
          <p:cNvPr id="402" name="Connector 32"/>
          <p:cNvCxnSpPr/>
          <p:nvPr/>
        </p:nvCxnSpPr>
        <p:spPr>
          <a:xfrm>
            <a:off x="8201880" y="5129640"/>
            <a:ext cx="263880" cy="7560"/>
          </a:xfrm>
          <a:prstGeom prst="straightConnector1">
            <a:avLst/>
          </a:prstGeom>
          <a:ln w="0">
            <a:solidFill>
              <a:srgbClr val="0ea5a4"/>
            </a:solidFill>
          </a:ln>
        </p:spPr>
      </p:cxnSp>
      <p:sp>
        <p:nvSpPr>
          <p:cNvPr id="403" name="TextBox 33"/>
          <p:cNvSpPr/>
          <p:nvPr/>
        </p:nvSpPr>
        <p:spPr>
          <a:xfrm>
            <a:off x="3794760" y="5632560"/>
            <a:ext cx="730764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ko-KR" sz="1000" spc="-1" strike="noStrike">
                <a:solidFill>
                  <a:srgbClr val="0f172a"/>
                </a:solidFill>
                <a:latin typeface="Aptos"/>
                <a:ea typeface="Calibri"/>
              </a:rPr>
              <a:t>핵심</a:t>
            </a:r>
            <a:r>
              <a:rPr b="1" lang="en-US" sz="1000" spc="-1" strike="noStrike">
                <a:solidFill>
                  <a:srgbClr val="0f172a"/>
                </a:solidFill>
                <a:latin typeface="Aptos"/>
                <a:ea typeface="Calibri"/>
              </a:rPr>
              <a:t>: .msg/.srv/.action</a:t>
            </a:r>
            <a:r>
              <a:rPr b="1" lang="ko-KR" sz="1000" spc="-1" strike="noStrike">
                <a:solidFill>
                  <a:srgbClr val="0f172a"/>
                </a:solidFill>
                <a:latin typeface="Aptos"/>
                <a:ea typeface="Calibri"/>
              </a:rPr>
              <a:t>은 타입 정의이고</a:t>
            </a:r>
            <a:r>
              <a:rPr b="1" lang="en-US" sz="1000" spc="-1" strike="noStrike">
                <a:solidFill>
                  <a:srgbClr val="0f172a"/>
                </a:solidFill>
                <a:latin typeface="Aptos"/>
                <a:ea typeface="Calibri"/>
              </a:rPr>
              <a:t>, package.xml</a:t>
            </a:r>
            <a:r>
              <a:rPr b="1" lang="ko-KR" sz="1000" spc="-1" strike="noStrike">
                <a:solidFill>
                  <a:srgbClr val="0f172a"/>
                </a:solidFill>
                <a:latin typeface="Aptos"/>
                <a:ea typeface="Calibri"/>
              </a:rPr>
              <a:t>과 </a:t>
            </a:r>
            <a:r>
              <a:rPr b="1" lang="en-US" sz="1000" spc="-1" strike="noStrike">
                <a:solidFill>
                  <a:srgbClr val="0f172a"/>
                </a:solidFill>
                <a:latin typeface="Aptos"/>
                <a:ea typeface="Calibri"/>
              </a:rPr>
              <a:t>CMakeLists.txt</a:t>
            </a:r>
            <a:r>
              <a:rPr b="1" lang="ko-KR" sz="1000" spc="-1" strike="noStrike">
                <a:solidFill>
                  <a:srgbClr val="0f172a"/>
                </a:solidFill>
                <a:latin typeface="Aptos"/>
                <a:ea typeface="Calibri"/>
              </a:rPr>
              <a:t>는 의존성</a:t>
            </a:r>
            <a:r>
              <a:rPr b="1" lang="en-US" sz="1000" spc="-1" strike="noStrike">
                <a:solidFill>
                  <a:srgbClr val="0f172a"/>
                </a:solidFill>
                <a:latin typeface="Aptos"/>
                <a:ea typeface="Calibri"/>
              </a:rPr>
              <a:t>·</a:t>
            </a:r>
            <a:r>
              <a:rPr b="1" lang="ko-KR" sz="1000" spc="-1" strike="noStrike">
                <a:solidFill>
                  <a:srgbClr val="0f172a"/>
                </a:solidFill>
                <a:latin typeface="Aptos"/>
                <a:ea typeface="Calibri"/>
              </a:rPr>
              <a:t>빌드 방법을 담습니다</a:t>
            </a:r>
            <a:r>
              <a:rPr b="1" lang="en-US" sz="1000" spc="-1" strike="noStrike">
                <a:solidFill>
                  <a:srgbClr val="0f172a"/>
                </a:solidFill>
                <a:latin typeface="Aptos"/>
                <a:ea typeface="Calibri"/>
              </a:rPr>
              <a:t>.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4" name="Rectangle 10"/>
          <p:cNvSpPr/>
          <p:nvPr/>
        </p:nvSpPr>
        <p:spPr>
          <a:xfrm>
            <a:off x="0" y="0"/>
            <a:ext cx="12183840" cy="64800"/>
          </a:xfrm>
          <a:prstGeom prst="rect">
            <a:avLst/>
          </a:prstGeom>
          <a:solidFill>
            <a:srgbClr val="009488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pic>
        <p:nvPicPr>
          <p:cNvPr id="405" name="" descr=""/>
          <p:cNvPicPr/>
          <p:nvPr/>
        </p:nvPicPr>
        <p:blipFill>
          <a:blip r:embed="rId1"/>
          <a:stretch/>
        </p:blipFill>
        <p:spPr>
          <a:xfrm>
            <a:off x="3600000" y="1440000"/>
            <a:ext cx="5578920" cy="2804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TextBox 1"/>
          <p:cNvSpPr/>
          <p:nvPr/>
        </p:nvSpPr>
        <p:spPr>
          <a:xfrm>
            <a:off x="502920" y="255960"/>
            <a:ext cx="200412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2563eb"/>
                </a:solidFill>
                <a:latin typeface="Aptos"/>
                <a:ea typeface="Calibri"/>
              </a:rPr>
              <a:t>TROUBLESHOOTING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7" name="TextBox 2"/>
          <p:cNvSpPr/>
          <p:nvPr/>
        </p:nvSpPr>
        <p:spPr>
          <a:xfrm>
            <a:off x="11206080" y="314640"/>
            <a:ext cx="21744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720" rIns="45720" tIns="27360" bIns="27360" anchor="ctr">
            <a:spAutoFit/>
          </a:bodyPr>
          <a:p>
            <a:pPr algn="r">
              <a:lnSpc>
                <a:spcPct val="100000"/>
              </a:lnSpc>
            </a:pPr>
            <a:r>
              <a:rPr b="1" lang="en-US" sz="850" spc="-1" strike="noStrike">
                <a:solidFill>
                  <a:srgbClr val="5b6e7d"/>
                </a:solidFill>
                <a:latin typeface="Malgun Gothic"/>
                <a:ea typeface="Calibri"/>
              </a:rPr>
              <a:t>19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8" name="TextBox 3"/>
          <p:cNvSpPr/>
          <p:nvPr/>
        </p:nvSpPr>
        <p:spPr>
          <a:xfrm>
            <a:off x="502920" y="567000"/>
            <a:ext cx="986796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en-US" sz="2500" spc="-1" strike="noStrike">
                <a:solidFill>
                  <a:srgbClr val="0f172a"/>
                </a:solidFill>
                <a:latin typeface="Aptos"/>
                <a:ea typeface="Calibri"/>
              </a:rPr>
              <a:t>CASE 2 · FastAPI</a:t>
            </a:r>
            <a:r>
              <a:rPr b="1" lang="ko-KR" sz="2500" spc="-1" strike="noStrike">
                <a:solidFill>
                  <a:srgbClr val="0f172a"/>
                </a:solidFill>
                <a:latin typeface="Aptos"/>
                <a:ea typeface="Calibri"/>
              </a:rPr>
              <a:t>와 </a:t>
            </a:r>
            <a:r>
              <a:rPr b="1" lang="en-US" sz="2500" spc="-1" strike="noStrike">
                <a:solidFill>
                  <a:srgbClr val="0f172a"/>
                </a:solidFill>
                <a:latin typeface="Aptos"/>
                <a:ea typeface="Calibri"/>
              </a:rPr>
              <a:t>ROS2 spin </a:t>
            </a:r>
            <a:r>
              <a:rPr b="1" lang="ko-KR" sz="2500" spc="-1" strike="noStrike">
                <a:solidFill>
                  <a:srgbClr val="0f172a"/>
                </a:solidFill>
                <a:latin typeface="Aptos"/>
                <a:ea typeface="Calibri"/>
              </a:rPr>
              <a:t>실행 충돌 방지</a:t>
            </a:r>
            <a:endParaRPr b="0" lang="en-US" sz="25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9" name="TextBox 4"/>
          <p:cNvSpPr/>
          <p:nvPr/>
        </p:nvSpPr>
        <p:spPr>
          <a:xfrm>
            <a:off x="502920" y="1005840"/>
            <a:ext cx="10233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ko-KR" sz="1200" spc="-1" strike="noStrike">
                <a:solidFill>
                  <a:srgbClr val="475569"/>
                </a:solidFill>
                <a:latin typeface="Aptos"/>
                <a:ea typeface="Calibri"/>
              </a:rPr>
              <a:t>웹 서버 요청 처리와 </a:t>
            </a:r>
            <a:r>
              <a:rPr b="0" lang="en-US" sz="1200" spc="-1" strike="noStrike">
                <a:solidFill>
                  <a:srgbClr val="475569"/>
                </a:solidFill>
                <a:latin typeface="Aptos"/>
                <a:ea typeface="Calibri"/>
              </a:rPr>
              <a:t>ROS2 callback </a:t>
            </a:r>
            <a:r>
              <a:rPr b="0" lang="ko-KR" sz="1200" spc="-1" strike="noStrike">
                <a:solidFill>
                  <a:srgbClr val="475569"/>
                </a:solidFill>
                <a:latin typeface="Aptos"/>
                <a:ea typeface="Calibri"/>
              </a:rPr>
              <a:t>처리를 동시에 유지하기 위해 </a:t>
            </a:r>
            <a:r>
              <a:rPr b="0" lang="en-US" sz="1200" spc="-1" strike="noStrike">
                <a:solidFill>
                  <a:srgbClr val="475569"/>
                </a:solidFill>
                <a:latin typeface="Aptos"/>
                <a:ea typeface="Calibri"/>
              </a:rPr>
              <a:t>spin</a:t>
            </a:r>
            <a:r>
              <a:rPr b="0" lang="ko-KR" sz="1200" spc="-1" strike="noStrike">
                <a:solidFill>
                  <a:srgbClr val="475569"/>
                </a:solidFill>
                <a:latin typeface="Aptos"/>
                <a:ea typeface="Calibri"/>
              </a:rPr>
              <a:t>을 별도 </a:t>
            </a:r>
            <a:r>
              <a:rPr b="0" lang="en-US" sz="1200" spc="-1" strike="noStrike">
                <a:solidFill>
                  <a:srgbClr val="475569"/>
                </a:solidFill>
                <a:latin typeface="Aptos"/>
                <a:ea typeface="Calibri"/>
              </a:rPr>
              <a:t>thread</a:t>
            </a:r>
            <a:r>
              <a:rPr b="0" lang="ko-KR" sz="1200" spc="-1" strike="noStrike">
                <a:solidFill>
                  <a:srgbClr val="475569"/>
                </a:solidFill>
                <a:latin typeface="Aptos"/>
                <a:ea typeface="Calibri"/>
              </a:rPr>
              <a:t>로 분리했습니다</a:t>
            </a:r>
            <a:r>
              <a:rPr b="0" lang="en-US" sz="1200" spc="-1" strike="noStrike">
                <a:solidFill>
                  <a:srgbClr val="475569"/>
                </a:solidFill>
                <a:latin typeface="Aptos"/>
                <a:ea typeface="Calibri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0" name="Rounded Rectangle 5"/>
          <p:cNvSpPr/>
          <p:nvPr/>
        </p:nvSpPr>
        <p:spPr>
          <a:xfrm>
            <a:off x="502920" y="1417320"/>
            <a:ext cx="3055680" cy="10443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0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11" name="TextBox 6"/>
          <p:cNvSpPr/>
          <p:nvPr/>
        </p:nvSpPr>
        <p:spPr>
          <a:xfrm>
            <a:off x="631080" y="1508760"/>
            <a:ext cx="279972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ko-KR" sz="1000" spc="-1" strike="noStrike">
                <a:solidFill>
                  <a:srgbClr val="ef4444"/>
                </a:solidFill>
                <a:latin typeface="Aptos"/>
                <a:ea typeface="Calibri"/>
              </a:rPr>
              <a:t>문제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2" name="TextBox 7"/>
          <p:cNvSpPr/>
          <p:nvPr/>
        </p:nvSpPr>
        <p:spPr>
          <a:xfrm>
            <a:off x="631080" y="1801440"/>
            <a:ext cx="279972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FastAPI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는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REST/WebSocket 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요청을 계속 처리해야 하고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, ROS2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는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spin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으로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timer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와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callback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을 계속 처리해야 했습니다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.</a:t>
            </a:r>
            <a:endParaRPr b="0" lang="en-US" sz="10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3" name="Rounded Rectangle 8"/>
          <p:cNvSpPr/>
          <p:nvPr/>
        </p:nvSpPr>
        <p:spPr>
          <a:xfrm>
            <a:off x="502920" y="2548800"/>
            <a:ext cx="3055680" cy="10440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0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14" name="TextBox 9"/>
          <p:cNvSpPr/>
          <p:nvPr/>
        </p:nvSpPr>
        <p:spPr>
          <a:xfrm>
            <a:off x="631080" y="2560320"/>
            <a:ext cx="279972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ko-KR" sz="1000" spc="-1" strike="noStrike">
                <a:solidFill>
                  <a:srgbClr val="f59e0b"/>
                </a:solidFill>
                <a:latin typeface="Aptos"/>
                <a:ea typeface="Calibri"/>
              </a:rPr>
              <a:t>원인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5" name="TextBox 10"/>
          <p:cNvSpPr/>
          <p:nvPr/>
        </p:nvSpPr>
        <p:spPr>
          <a:xfrm>
            <a:off x="631080" y="2853000"/>
            <a:ext cx="279972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두 작업은 모두 계속 실행되는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blocking 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성격이 있어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, 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같은 실행 흐름에서 순서대로 실행하면 한쪽이 다른 쪽을 막을 수 있었습니다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.</a:t>
            </a:r>
            <a:endParaRPr b="0" lang="en-US" sz="10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6" name="Rounded Rectangle 11"/>
          <p:cNvSpPr/>
          <p:nvPr/>
        </p:nvSpPr>
        <p:spPr>
          <a:xfrm>
            <a:off x="502920" y="3657600"/>
            <a:ext cx="3055680" cy="10152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0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17" name="TextBox 12"/>
          <p:cNvSpPr/>
          <p:nvPr/>
        </p:nvSpPr>
        <p:spPr>
          <a:xfrm>
            <a:off x="631080" y="3749040"/>
            <a:ext cx="279972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ko-KR" sz="1000" spc="-1" strike="noStrike">
                <a:solidFill>
                  <a:srgbClr val="0ea5a4"/>
                </a:solidFill>
                <a:latin typeface="Aptos"/>
                <a:ea typeface="Calibri"/>
              </a:rPr>
              <a:t>해결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8" name="TextBox 13"/>
          <p:cNvSpPr/>
          <p:nvPr/>
        </p:nvSpPr>
        <p:spPr>
          <a:xfrm>
            <a:off x="631080" y="4041720"/>
            <a:ext cx="279972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FastAPI lifespan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에서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RosMonitor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를 시작하고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, rclpy.spin()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은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daemon thread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에서 실행하도록 분리했습니다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.</a:t>
            </a:r>
            <a:endParaRPr b="0" lang="en-US" sz="10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9" name="Rounded Rectangle 14"/>
          <p:cNvSpPr/>
          <p:nvPr/>
        </p:nvSpPr>
        <p:spPr>
          <a:xfrm>
            <a:off x="502920" y="4813560"/>
            <a:ext cx="3055680" cy="9392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0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20" name="TextBox 15"/>
          <p:cNvSpPr/>
          <p:nvPr/>
        </p:nvSpPr>
        <p:spPr>
          <a:xfrm>
            <a:off x="613080" y="4860000"/>
            <a:ext cx="279972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ko-KR" sz="1000" spc="-1" strike="noStrike">
                <a:solidFill>
                  <a:srgbClr val="10b981"/>
                </a:solidFill>
                <a:latin typeface="Aptos"/>
                <a:ea typeface="Calibri"/>
              </a:rPr>
              <a:t>결과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1" name="TextBox 16"/>
          <p:cNvSpPr/>
          <p:nvPr/>
        </p:nvSpPr>
        <p:spPr>
          <a:xfrm>
            <a:off x="631080" y="5067000"/>
            <a:ext cx="279972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웹 요청 처리와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ROS2 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메시지 수신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·Graph 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갱신을 동시에 유지하고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, 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서버 종료 시 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ROS2 </a:t>
            </a:r>
            <a:r>
              <a:rPr b="0" lang="ko-KR" sz="1030" spc="-1" strike="noStrike">
                <a:solidFill>
                  <a:srgbClr val="0f172a"/>
                </a:solidFill>
                <a:latin typeface="Aptos"/>
                <a:ea typeface="Calibri"/>
              </a:rPr>
              <a:t>자원도 함께 정리했습니다</a:t>
            </a:r>
            <a:r>
              <a:rPr b="0" lang="en-US" sz="1030" spc="-1" strike="noStrike">
                <a:solidFill>
                  <a:srgbClr val="0f172a"/>
                </a:solidFill>
                <a:latin typeface="Aptos"/>
                <a:ea typeface="Calibri"/>
              </a:rPr>
              <a:t>.</a:t>
            </a:r>
            <a:endParaRPr b="0" lang="en-US" sz="103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2" name="TextBox 17"/>
          <p:cNvSpPr/>
          <p:nvPr/>
        </p:nvSpPr>
        <p:spPr>
          <a:xfrm>
            <a:off x="3886200" y="1408320"/>
            <a:ext cx="118116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ef4444"/>
                </a:solidFill>
                <a:latin typeface="Aptos"/>
                <a:ea typeface="Calibri"/>
              </a:rPr>
              <a:t>BEFORE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3" name="Rounded Rectangle 18"/>
          <p:cNvSpPr/>
          <p:nvPr/>
        </p:nvSpPr>
        <p:spPr>
          <a:xfrm>
            <a:off x="3886200" y="1719000"/>
            <a:ext cx="2049840" cy="3949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6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24" name="TextBox 19"/>
          <p:cNvSpPr/>
          <p:nvPr/>
        </p:nvSpPr>
        <p:spPr>
          <a:xfrm>
            <a:off x="3931920" y="1847520"/>
            <a:ext cx="19584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0f172a"/>
                </a:solidFill>
                <a:latin typeface="Aptos"/>
                <a:ea typeface="Calibri"/>
              </a:rPr>
              <a:t>Main Thread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5" name="Rounded Rectangle 20"/>
          <p:cNvSpPr/>
          <p:nvPr/>
        </p:nvSpPr>
        <p:spPr>
          <a:xfrm>
            <a:off x="3886200" y="2331720"/>
            <a:ext cx="2049840" cy="65088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6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26" name="TextBox 21"/>
          <p:cNvSpPr/>
          <p:nvPr/>
        </p:nvSpPr>
        <p:spPr>
          <a:xfrm>
            <a:off x="3931920" y="2516040"/>
            <a:ext cx="195840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0f172a"/>
                </a:solidFill>
                <a:latin typeface="Aptos"/>
                <a:ea typeface="Calibri"/>
              </a:rPr>
              <a:t>FastAPI </a:t>
            </a:r>
            <a:r>
              <a:rPr b="1" lang="ko-KR" sz="950" spc="-1" strike="noStrike">
                <a:solidFill>
                  <a:srgbClr val="0f172a"/>
                </a:solidFill>
                <a:latin typeface="Aptos"/>
                <a:ea typeface="Calibri"/>
              </a:rPr>
              <a:t>실행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  <a:p>
            <a:pPr algn="ctr">
              <a:lnSpc>
                <a:spcPct val="100000"/>
              </a:lnSpc>
            </a:pPr>
            <a:r>
              <a:rPr b="1" lang="ko-KR" sz="950" spc="-1" strike="noStrike">
                <a:solidFill>
                  <a:srgbClr val="0f172a"/>
                </a:solidFill>
                <a:latin typeface="Aptos"/>
                <a:ea typeface="Calibri"/>
              </a:rPr>
              <a:t>또는 </a:t>
            </a:r>
            <a:r>
              <a:rPr b="1" lang="en-US" sz="950" spc="-1" strike="noStrike">
                <a:solidFill>
                  <a:srgbClr val="0f172a"/>
                </a:solidFill>
                <a:latin typeface="Aptos"/>
                <a:ea typeface="Calibri"/>
              </a:rPr>
              <a:t>rclpy.spin()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7" name="Rounded Rectangle 22"/>
          <p:cNvSpPr/>
          <p:nvPr/>
        </p:nvSpPr>
        <p:spPr>
          <a:xfrm>
            <a:off x="3886200" y="3273480"/>
            <a:ext cx="2049840" cy="65088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60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28" name="TextBox 23"/>
          <p:cNvSpPr/>
          <p:nvPr/>
        </p:nvSpPr>
        <p:spPr>
          <a:xfrm>
            <a:off x="3931920" y="3457800"/>
            <a:ext cx="195840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ko-KR" sz="950" spc="-1" strike="noStrike">
                <a:solidFill>
                  <a:srgbClr val="0f172a"/>
                </a:solidFill>
                <a:latin typeface="Aptos"/>
                <a:ea typeface="Calibri"/>
              </a:rPr>
              <a:t>한쪽이 계속 대기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  <a:p>
            <a:pPr algn="ctr">
              <a:lnSpc>
                <a:spcPct val="100000"/>
              </a:lnSpc>
            </a:pPr>
            <a:r>
              <a:rPr b="1" lang="ko-KR" sz="950" spc="-1" strike="noStrike">
                <a:solidFill>
                  <a:srgbClr val="0f172a"/>
                </a:solidFill>
                <a:latin typeface="Aptos"/>
                <a:ea typeface="Calibri"/>
              </a:rPr>
              <a:t>다른 작업 실행 지연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429" name="Connector 24"/>
          <p:cNvCxnSpPr/>
          <p:nvPr/>
        </p:nvCxnSpPr>
        <p:spPr>
          <a:xfrm>
            <a:off x="4919400" y="2139480"/>
            <a:ext cx="7560" cy="172080"/>
          </a:xfrm>
          <a:prstGeom prst="straightConnector1">
            <a:avLst/>
          </a:prstGeom>
          <a:ln w="0">
            <a:solidFill>
              <a:srgbClr val="ef4444"/>
            </a:solidFill>
          </a:ln>
        </p:spPr>
      </p:cxnSp>
      <p:cxnSp>
        <p:nvCxnSpPr>
          <p:cNvPr id="430" name="Connector 25"/>
          <p:cNvCxnSpPr/>
          <p:nvPr/>
        </p:nvCxnSpPr>
        <p:spPr>
          <a:xfrm>
            <a:off x="4919400" y="3008160"/>
            <a:ext cx="7560" cy="245520"/>
          </a:xfrm>
          <a:prstGeom prst="straightConnector1">
            <a:avLst/>
          </a:prstGeom>
          <a:ln w="0">
            <a:solidFill>
              <a:srgbClr val="ef4444"/>
            </a:solidFill>
          </a:ln>
        </p:spPr>
      </p:cxnSp>
      <p:sp>
        <p:nvSpPr>
          <p:cNvPr id="431" name="TextBox 26"/>
          <p:cNvSpPr/>
          <p:nvPr/>
        </p:nvSpPr>
        <p:spPr>
          <a:xfrm>
            <a:off x="4507920" y="4041720"/>
            <a:ext cx="127260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ef4444"/>
                </a:solidFill>
                <a:latin typeface="Aptos"/>
                <a:ea typeface="Calibri"/>
              </a:rPr>
              <a:t>blocking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2" name="TextBox 27"/>
          <p:cNvSpPr/>
          <p:nvPr/>
        </p:nvSpPr>
        <p:spPr>
          <a:xfrm>
            <a:off x="6766560" y="1408320"/>
            <a:ext cx="118116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0ea5a4"/>
                </a:solidFill>
                <a:latin typeface="Aptos"/>
                <a:ea typeface="Calibri"/>
              </a:rPr>
              <a:t>AFTER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3" name="Rounded Rectangle 28"/>
          <p:cNvSpPr/>
          <p:nvPr/>
        </p:nvSpPr>
        <p:spPr>
          <a:xfrm>
            <a:off x="6766560" y="1719000"/>
            <a:ext cx="2049840" cy="3949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600">
            <a:solidFill>
              <a:srgbClr val="0ea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34" name="TextBox 29"/>
          <p:cNvSpPr/>
          <p:nvPr/>
        </p:nvSpPr>
        <p:spPr>
          <a:xfrm>
            <a:off x="6812280" y="1847520"/>
            <a:ext cx="19584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0f172a"/>
                </a:solidFill>
                <a:latin typeface="Aptos"/>
                <a:ea typeface="Calibri"/>
              </a:rPr>
              <a:t>Main Thread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5" name="Rounded Rectangle 30"/>
          <p:cNvSpPr/>
          <p:nvPr/>
        </p:nvSpPr>
        <p:spPr>
          <a:xfrm>
            <a:off x="6766560" y="2331720"/>
            <a:ext cx="2049840" cy="65088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600">
            <a:solidFill>
              <a:srgbClr val="0ea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36" name="TextBox 31"/>
          <p:cNvSpPr/>
          <p:nvPr/>
        </p:nvSpPr>
        <p:spPr>
          <a:xfrm>
            <a:off x="6812280" y="2516040"/>
            <a:ext cx="195840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0f172a"/>
                </a:solidFill>
                <a:latin typeface="Aptos"/>
                <a:ea typeface="Calibri"/>
              </a:rPr>
              <a:t>FastAPI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0f172a"/>
                </a:solidFill>
                <a:latin typeface="Aptos"/>
                <a:ea typeface="Calibri"/>
              </a:rPr>
              <a:t>REST / WebSocket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7" name="Rounded Rectangle 32"/>
          <p:cNvSpPr/>
          <p:nvPr/>
        </p:nvSpPr>
        <p:spPr>
          <a:xfrm>
            <a:off x="9144000" y="1719000"/>
            <a:ext cx="2049840" cy="3949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600">
            <a:solidFill>
              <a:srgbClr val="0ea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38" name="TextBox 33"/>
          <p:cNvSpPr/>
          <p:nvPr/>
        </p:nvSpPr>
        <p:spPr>
          <a:xfrm>
            <a:off x="9189720" y="1847520"/>
            <a:ext cx="19584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0f172a"/>
                </a:solidFill>
                <a:latin typeface="Aptos"/>
                <a:ea typeface="Calibri"/>
              </a:rPr>
              <a:t>ROS2 Spin Thread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39" name="Rounded Rectangle 34"/>
          <p:cNvSpPr/>
          <p:nvPr/>
        </p:nvSpPr>
        <p:spPr>
          <a:xfrm>
            <a:off x="9144000" y="2331720"/>
            <a:ext cx="2049840" cy="65088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600">
            <a:solidFill>
              <a:srgbClr val="0ea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40" name="TextBox 35"/>
          <p:cNvSpPr/>
          <p:nvPr/>
        </p:nvSpPr>
        <p:spPr>
          <a:xfrm>
            <a:off x="9189720" y="2516040"/>
            <a:ext cx="1958400" cy="34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ctr">
            <a:spAutoFit/>
          </a:bodyPr>
          <a:p>
            <a:pPr>
              <a:lnSpc>
                <a:spcPct val="100000"/>
              </a:lnSpc>
            </a:pPr>
            <a:r>
              <a:rPr b="1" lang="en-US" sz="950" spc="-1" strike="noStrike">
                <a:solidFill>
                  <a:srgbClr val="0f172a"/>
                </a:solidFill>
                <a:latin typeface="Aptos"/>
                <a:ea typeface="Calibri"/>
              </a:rPr>
              <a:t>rclpy.spin()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  <a:p>
            <a:pPr algn="ctr">
              <a:lnSpc>
                <a:spcPct val="100000"/>
              </a:lnSpc>
            </a:pPr>
            <a:r>
              <a:rPr b="1" lang="en-US" sz="950" spc="-1" strike="noStrike">
                <a:solidFill>
                  <a:srgbClr val="0f172a"/>
                </a:solidFill>
                <a:latin typeface="Aptos"/>
                <a:ea typeface="Calibri"/>
              </a:rPr>
              <a:t>timer / callback</a:t>
            </a:r>
            <a:endParaRPr b="0" lang="en-US" sz="950" spc="-1" strike="noStrike">
              <a:solidFill>
                <a:srgbClr val="000000"/>
              </a:solidFill>
              <a:latin typeface="Noto Sans CJK KR"/>
            </a:endParaRPr>
          </a:p>
        </p:txBody>
      </p:sp>
      <p:cxnSp>
        <p:nvCxnSpPr>
          <p:cNvPr id="441" name="Connector 36"/>
          <p:cNvCxnSpPr/>
          <p:nvPr/>
        </p:nvCxnSpPr>
        <p:spPr>
          <a:xfrm>
            <a:off x="8869680" y="2679120"/>
            <a:ext cx="281880" cy="7560"/>
          </a:xfrm>
          <a:prstGeom prst="straightConnector1">
            <a:avLst/>
          </a:prstGeom>
          <a:ln w="0">
            <a:solidFill>
              <a:srgbClr val="0ea5a4"/>
            </a:solidFill>
          </a:ln>
        </p:spPr>
      </p:cxnSp>
      <p:sp>
        <p:nvSpPr>
          <p:cNvPr id="442" name="TextBox 37"/>
          <p:cNvSpPr/>
          <p:nvPr/>
        </p:nvSpPr>
        <p:spPr>
          <a:xfrm>
            <a:off x="8092440" y="3154680"/>
            <a:ext cx="1775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27360" bIns="27360" anchor="t">
            <a:spAutoFit/>
          </a:bodyPr>
          <a:p>
            <a:pPr algn="ctr">
              <a:lnSpc>
                <a:spcPct val="100000"/>
              </a:lnSpc>
            </a:pPr>
            <a:r>
              <a:rPr b="1" lang="ko-KR" sz="1200" spc="-1" strike="noStrike">
                <a:solidFill>
                  <a:srgbClr val="0ea5a4"/>
                </a:solidFill>
                <a:latin typeface="Aptos"/>
                <a:ea typeface="Calibri"/>
              </a:rPr>
              <a:t>동시에 실행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443" name="Picture 38" descr="1e56b5ef-0fa1-412f-bdbb-d92b084fb9b7.png"/>
          <p:cNvPicPr/>
          <p:nvPr/>
        </p:nvPicPr>
        <p:blipFill>
          <a:blip r:embed="rId1"/>
          <a:stretch/>
        </p:blipFill>
        <p:spPr>
          <a:xfrm>
            <a:off x="3840480" y="4498920"/>
            <a:ext cx="3147120" cy="1549800"/>
          </a:xfrm>
          <a:prstGeom prst="rect">
            <a:avLst/>
          </a:prstGeom>
          <a:ln w="0">
            <a:noFill/>
          </a:ln>
        </p:spPr>
      </p:pic>
      <p:pic>
        <p:nvPicPr>
          <p:cNvPr id="444" name="Picture 39" descr="569d6930-8348-4474-95f2-d05bb2fe0853.png"/>
          <p:cNvPicPr/>
          <p:nvPr/>
        </p:nvPicPr>
        <p:blipFill>
          <a:blip r:embed="rId2"/>
          <a:stretch/>
        </p:blipFill>
        <p:spPr>
          <a:xfrm>
            <a:off x="7498080" y="4498920"/>
            <a:ext cx="2735640" cy="1958760"/>
          </a:xfrm>
          <a:prstGeom prst="rect">
            <a:avLst/>
          </a:prstGeom>
          <a:ln w="0">
            <a:noFill/>
          </a:ln>
        </p:spPr>
      </p:pic>
      <p:sp>
        <p:nvSpPr>
          <p:cNvPr id="445" name="TextBox 40"/>
          <p:cNvSpPr/>
          <p:nvPr/>
        </p:nvSpPr>
        <p:spPr>
          <a:xfrm>
            <a:off x="4680000" y="6620760"/>
            <a:ext cx="4700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ko-KR" sz="850" spc="-1" strike="noStrike">
                <a:solidFill>
                  <a:srgbClr val="475569"/>
                </a:solidFill>
                <a:latin typeface="Aptos"/>
                <a:ea typeface="Calibri"/>
              </a:rPr>
              <a:t>코드 근거</a:t>
            </a:r>
            <a:r>
              <a:rPr b="0" lang="en-US" sz="850" spc="-1" strike="noStrike">
                <a:solidFill>
                  <a:srgbClr val="475569"/>
                </a:solidFill>
                <a:latin typeface="Aptos"/>
                <a:ea typeface="Calibri"/>
              </a:rPr>
              <a:t>: lifespan</a:t>
            </a:r>
            <a:r>
              <a:rPr b="0" lang="ko-KR" sz="850" spc="-1" strike="noStrike">
                <a:solidFill>
                  <a:srgbClr val="475569"/>
                </a:solidFill>
                <a:latin typeface="Aptos"/>
                <a:ea typeface="Calibri"/>
              </a:rPr>
              <a:t>에서 </a:t>
            </a:r>
            <a:r>
              <a:rPr b="0" lang="en-US" sz="850" spc="-1" strike="noStrike">
                <a:solidFill>
                  <a:srgbClr val="475569"/>
                </a:solidFill>
                <a:latin typeface="Aptos"/>
                <a:ea typeface="Calibri"/>
              </a:rPr>
              <a:t>start/stop </a:t>
            </a:r>
            <a:r>
              <a:rPr b="0" lang="ko-KR" sz="850" spc="-1" strike="noStrike">
                <a:solidFill>
                  <a:srgbClr val="475569"/>
                </a:solidFill>
                <a:latin typeface="Aptos"/>
                <a:ea typeface="Calibri"/>
              </a:rPr>
              <a:t>연결 </a:t>
            </a:r>
            <a:r>
              <a:rPr b="0" lang="en-US" sz="850" spc="-1" strike="noStrike">
                <a:solidFill>
                  <a:srgbClr val="475569"/>
                </a:solidFill>
                <a:latin typeface="Aptos"/>
                <a:ea typeface="Calibri"/>
              </a:rPr>
              <a:t>· Thread(target=self._spin, daemon=True)</a:t>
            </a:r>
            <a:r>
              <a:rPr b="0" lang="ko-KR" sz="850" spc="-1" strike="noStrike">
                <a:solidFill>
                  <a:srgbClr val="475569"/>
                </a:solidFill>
                <a:latin typeface="Aptos"/>
                <a:ea typeface="Calibri"/>
              </a:rPr>
              <a:t>로 </a:t>
            </a:r>
            <a:r>
              <a:rPr b="0" lang="en-US" sz="850" spc="-1" strike="noStrike">
                <a:solidFill>
                  <a:srgbClr val="475569"/>
                </a:solidFill>
                <a:latin typeface="Aptos"/>
                <a:ea typeface="Calibri"/>
              </a:rPr>
              <a:t>spin </a:t>
            </a:r>
            <a:r>
              <a:rPr b="0" lang="ko-KR" sz="850" spc="-1" strike="noStrike">
                <a:solidFill>
                  <a:srgbClr val="475569"/>
                </a:solidFill>
                <a:latin typeface="Aptos"/>
                <a:ea typeface="Calibri"/>
              </a:rPr>
              <a:t>분리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46" name="Rectangle 11"/>
          <p:cNvSpPr/>
          <p:nvPr/>
        </p:nvSpPr>
        <p:spPr>
          <a:xfrm>
            <a:off x="0" y="0"/>
            <a:ext cx="12183840" cy="64800"/>
          </a:xfrm>
          <a:prstGeom prst="rect">
            <a:avLst/>
          </a:prstGeom>
          <a:solidFill>
            <a:srgbClr val="009488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TextBox 1"/>
          <p:cNvSpPr/>
          <p:nvPr/>
        </p:nvSpPr>
        <p:spPr>
          <a:xfrm>
            <a:off x="502920" y="292680"/>
            <a:ext cx="18252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237089"/>
                </a:solidFill>
                <a:latin typeface="Malgun Gothic"/>
                <a:ea typeface="Calibri"/>
              </a:rPr>
              <a:t>DEMO VIDEO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48" name="TextBox 2"/>
          <p:cNvSpPr/>
          <p:nvPr/>
        </p:nvSpPr>
        <p:spPr>
          <a:xfrm>
            <a:off x="10972800" y="292680"/>
            <a:ext cx="45360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1100" spc="-1" strike="noStrike">
                <a:solidFill>
                  <a:srgbClr val="172136"/>
                </a:solidFill>
                <a:latin typeface="Malgun Gothic"/>
                <a:ea typeface="Calibri"/>
              </a:rPr>
              <a:t>20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49" name="Rectangle 3"/>
          <p:cNvSpPr/>
          <p:nvPr/>
        </p:nvSpPr>
        <p:spPr>
          <a:xfrm>
            <a:off x="502920" y="631080"/>
            <a:ext cx="618120" cy="28440"/>
          </a:xfrm>
          <a:prstGeom prst="rect">
            <a:avLst/>
          </a:prstGeom>
          <a:solidFill>
            <a:srgbClr val="23a4a8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50" name="TextBox 4"/>
          <p:cNvSpPr/>
          <p:nvPr/>
        </p:nvSpPr>
        <p:spPr>
          <a:xfrm>
            <a:off x="502920" y="749880"/>
            <a:ext cx="493416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ko-KR" sz="2800" spc="-1" strike="noStrike">
                <a:solidFill>
                  <a:srgbClr val="172136"/>
                </a:solidFill>
                <a:latin typeface="Malgun Gothic"/>
                <a:ea typeface="Calibri"/>
              </a:rPr>
              <a:t>시연 영상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1" name="TextBox 5"/>
          <p:cNvSpPr/>
          <p:nvPr/>
        </p:nvSpPr>
        <p:spPr>
          <a:xfrm>
            <a:off x="502920" y="1170360"/>
            <a:ext cx="76773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ko-KR" sz="1300" spc="-1" strike="noStrike">
                <a:solidFill>
                  <a:srgbClr val="4f5867"/>
                </a:solidFill>
                <a:latin typeface="Malgun Gothic"/>
                <a:ea typeface="Calibri"/>
              </a:rPr>
              <a:t>실제 </a:t>
            </a:r>
            <a:r>
              <a:rPr b="0" lang="en-US" sz="1300" spc="-1" strike="noStrike">
                <a:solidFill>
                  <a:srgbClr val="4f5867"/>
                </a:solidFill>
                <a:latin typeface="Malgun Gothic"/>
                <a:ea typeface="Calibri"/>
              </a:rPr>
              <a:t>UI </a:t>
            </a:r>
            <a:r>
              <a:rPr b="0" lang="ko-KR" sz="1300" spc="-1" strike="noStrike">
                <a:solidFill>
                  <a:srgbClr val="4f5867"/>
                </a:solidFill>
                <a:latin typeface="Malgun Gothic"/>
                <a:ea typeface="Calibri"/>
              </a:rPr>
              <a:t>기능 검수 영상으로</a:t>
            </a:r>
            <a:r>
              <a:rPr b="0" lang="en-US" sz="1300" spc="-1" strike="noStrike">
                <a:solidFill>
                  <a:srgbClr val="4f5867"/>
                </a:solidFill>
                <a:latin typeface="Malgun Gothic"/>
                <a:ea typeface="Calibri"/>
              </a:rPr>
              <a:t>, </a:t>
            </a:r>
            <a:r>
              <a:rPr b="0" lang="ko-KR" sz="1300" spc="-1" strike="noStrike">
                <a:solidFill>
                  <a:srgbClr val="4f5867"/>
                </a:solidFill>
                <a:latin typeface="Malgun Gothic"/>
                <a:ea typeface="Calibri"/>
              </a:rPr>
              <a:t>자동 모니터링과 </a:t>
            </a:r>
            <a:r>
              <a:rPr b="0" lang="en-US" sz="1300" spc="-1" strike="noStrike">
                <a:solidFill>
                  <a:srgbClr val="4f5867"/>
                </a:solidFill>
                <a:latin typeface="Malgun Gothic"/>
                <a:ea typeface="Calibri"/>
              </a:rPr>
              <a:t>Interface Lab </a:t>
            </a:r>
            <a:r>
              <a:rPr b="0" lang="ko-KR" sz="1300" spc="-1" strike="noStrike">
                <a:solidFill>
                  <a:srgbClr val="4f5867"/>
                </a:solidFill>
                <a:latin typeface="Malgun Gothic"/>
                <a:ea typeface="Calibri"/>
              </a:rPr>
              <a:t>실행 흐름을 확인합니다</a:t>
            </a:r>
            <a:r>
              <a:rPr b="0" lang="en-US" sz="1300" spc="-1" strike="noStrike">
                <a:solidFill>
                  <a:srgbClr val="4f5867"/>
                </a:solidFill>
                <a:latin typeface="Malgun Gothic"/>
                <a:ea typeface="Calibri"/>
              </a:rPr>
              <a:t>.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2" name="Right Triangle 13"/>
          <p:cNvSpPr/>
          <p:nvPr/>
        </p:nvSpPr>
        <p:spPr>
          <a:xfrm>
            <a:off x="3675960" y="3246120"/>
            <a:ext cx="316440" cy="453600"/>
          </a:xfrm>
          <a:prstGeom prst="rtTriangle">
            <a:avLst/>
          </a:prstGeom>
          <a:solidFill>
            <a:srgbClr val="ffffff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53" name="TextBox 14"/>
          <p:cNvSpPr/>
          <p:nvPr/>
        </p:nvSpPr>
        <p:spPr>
          <a:xfrm>
            <a:off x="987480" y="5230440"/>
            <a:ext cx="566568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Noto Sans CJK KR"/>
              <a:ea typeface="Calibri"/>
            </a:endParaRPr>
          </a:p>
        </p:txBody>
      </p:sp>
      <p:sp>
        <p:nvSpPr>
          <p:cNvPr id="454" name="Rounded Rectangle 15"/>
          <p:cNvSpPr/>
          <p:nvPr/>
        </p:nvSpPr>
        <p:spPr>
          <a:xfrm>
            <a:off x="7296840" y="1691640"/>
            <a:ext cx="4312440" cy="3882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080">
            <a:solidFill>
              <a:srgbClr val="d7dd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55" name="TextBox 16"/>
          <p:cNvSpPr/>
          <p:nvPr/>
        </p:nvSpPr>
        <p:spPr>
          <a:xfrm>
            <a:off x="7589520" y="1938600"/>
            <a:ext cx="347112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ko-KR" sz="1600" spc="-1" strike="noStrike">
                <a:solidFill>
                  <a:srgbClr val="172136"/>
                </a:solidFill>
                <a:latin typeface="Malgun Gothic"/>
                <a:ea typeface="Calibri"/>
              </a:rPr>
              <a:t>시연에서 확인할 흐름</a:t>
            </a:r>
            <a:endParaRPr b="0" lang="en-US" sz="1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6" name="TextBox 17"/>
          <p:cNvSpPr/>
          <p:nvPr/>
        </p:nvSpPr>
        <p:spPr>
          <a:xfrm>
            <a:off x="7589520" y="2221920"/>
            <a:ext cx="3608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ko-KR" sz="1050" spc="-1" strike="noStrike">
                <a:solidFill>
                  <a:srgbClr val="545e6d"/>
                </a:solidFill>
                <a:latin typeface="Malgun Gothic"/>
                <a:ea typeface="Calibri"/>
              </a:rPr>
              <a:t>화면을 따라가며 “관찰 → 실행 → 경고 확인”을 순서대로 보여줍니다</a:t>
            </a:r>
            <a:r>
              <a:rPr b="0" lang="en-US" sz="1050" spc="-1" strike="noStrike">
                <a:solidFill>
                  <a:srgbClr val="545e6d"/>
                </a:solidFill>
                <a:latin typeface="Malgun Gothic"/>
                <a:ea typeface="Calibri"/>
              </a:rPr>
              <a:t>.</a:t>
            </a:r>
            <a:endParaRPr b="0" lang="en-US" sz="10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7" name="Rounded Rectangle 18"/>
          <p:cNvSpPr/>
          <p:nvPr/>
        </p:nvSpPr>
        <p:spPr>
          <a:xfrm>
            <a:off x="7571160" y="2670120"/>
            <a:ext cx="416880" cy="416880"/>
          </a:xfrm>
          <a:prstGeom prst="roundRect">
            <a:avLst>
              <a:gd name="adj" fmla="val 50000"/>
            </a:avLst>
          </a:prstGeom>
          <a:solidFill>
            <a:srgbClr val="e6f7f7"/>
          </a:solidFill>
          <a:ln w="10080">
            <a:solidFill>
              <a:srgbClr val="e6f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58" name="TextBox 19"/>
          <p:cNvSpPr/>
          <p:nvPr/>
        </p:nvSpPr>
        <p:spPr>
          <a:xfrm>
            <a:off x="7571160" y="2787840"/>
            <a:ext cx="4168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19878d"/>
                </a:solidFill>
                <a:latin typeface="Malgun Gothic"/>
                <a:ea typeface="Calibri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59" name="TextBox 20"/>
          <p:cNvSpPr/>
          <p:nvPr/>
        </p:nvSpPr>
        <p:spPr>
          <a:xfrm>
            <a:off x="8119800" y="2660760"/>
            <a:ext cx="8193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ko-KR" sz="1250" spc="-1" strike="noStrike">
                <a:solidFill>
                  <a:srgbClr val="172136"/>
                </a:solidFill>
                <a:latin typeface="Malgun Gothic"/>
                <a:ea typeface="Calibri"/>
              </a:rPr>
              <a:t>관찰</a:t>
            </a:r>
            <a:endParaRPr b="0" lang="en-US" sz="12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0" name="TextBox 21"/>
          <p:cNvSpPr/>
          <p:nvPr/>
        </p:nvSpPr>
        <p:spPr>
          <a:xfrm>
            <a:off x="8119800" y="2898720"/>
            <a:ext cx="2831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020" spc="-1" strike="noStrike">
                <a:solidFill>
                  <a:srgbClr val="4d5765"/>
                </a:solidFill>
                <a:latin typeface="Malgun Gothic"/>
                <a:ea typeface="Calibri"/>
              </a:rPr>
              <a:t>Overview · Topic · Service · Action · Node </a:t>
            </a:r>
            <a:r>
              <a:rPr b="0" lang="ko-KR" sz="1020" spc="-1" strike="noStrike">
                <a:solidFill>
                  <a:srgbClr val="4d5765"/>
                </a:solidFill>
                <a:latin typeface="Malgun Gothic"/>
                <a:ea typeface="Calibri"/>
              </a:rPr>
              <a:t>상태 확인</a:t>
            </a:r>
            <a:endParaRPr b="0" lang="en-US" sz="10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1" name="Rounded Rectangle 22"/>
          <p:cNvSpPr/>
          <p:nvPr/>
        </p:nvSpPr>
        <p:spPr>
          <a:xfrm>
            <a:off x="7571160" y="3447360"/>
            <a:ext cx="416880" cy="416880"/>
          </a:xfrm>
          <a:prstGeom prst="roundRect">
            <a:avLst>
              <a:gd name="adj" fmla="val 50000"/>
            </a:avLst>
          </a:prstGeom>
          <a:solidFill>
            <a:srgbClr val="e6f7f7"/>
          </a:solidFill>
          <a:ln w="10080">
            <a:solidFill>
              <a:srgbClr val="e6f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62" name="TextBox 23"/>
          <p:cNvSpPr/>
          <p:nvPr/>
        </p:nvSpPr>
        <p:spPr>
          <a:xfrm>
            <a:off x="7571160" y="3565080"/>
            <a:ext cx="4168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19878d"/>
                </a:solidFill>
                <a:latin typeface="Malgun Gothic"/>
                <a:ea typeface="Calibri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3" name="TextBox 24"/>
          <p:cNvSpPr/>
          <p:nvPr/>
        </p:nvSpPr>
        <p:spPr>
          <a:xfrm>
            <a:off x="8119800" y="3438000"/>
            <a:ext cx="8193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ko-KR" sz="1250" spc="-1" strike="noStrike">
                <a:solidFill>
                  <a:srgbClr val="172136"/>
                </a:solidFill>
                <a:latin typeface="Malgun Gothic"/>
                <a:ea typeface="Calibri"/>
              </a:rPr>
              <a:t>실행</a:t>
            </a:r>
            <a:endParaRPr b="0" lang="en-US" sz="12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4" name="TextBox 25"/>
          <p:cNvSpPr/>
          <p:nvPr/>
        </p:nvSpPr>
        <p:spPr>
          <a:xfrm>
            <a:off x="8119800" y="3675960"/>
            <a:ext cx="2831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020" spc="-1" strike="noStrike">
                <a:solidFill>
                  <a:srgbClr val="4d5765"/>
                </a:solidFill>
                <a:latin typeface="Malgun Gothic"/>
                <a:ea typeface="Calibri"/>
              </a:rPr>
              <a:t>Interface Lab</a:t>
            </a:r>
            <a:r>
              <a:rPr b="0" lang="ko-KR" sz="1020" spc="-1" strike="noStrike">
                <a:solidFill>
                  <a:srgbClr val="4d5765"/>
                </a:solidFill>
                <a:latin typeface="Malgun Gothic"/>
                <a:ea typeface="Calibri"/>
              </a:rPr>
              <a:t>에서 </a:t>
            </a:r>
            <a:r>
              <a:rPr b="0" lang="en-US" sz="1020" spc="-1" strike="noStrike">
                <a:solidFill>
                  <a:srgbClr val="4d5765"/>
                </a:solidFill>
                <a:latin typeface="Malgun Gothic"/>
                <a:ea typeface="Calibri"/>
              </a:rPr>
              <a:t>Publish · Receive · Call · Goal </a:t>
            </a:r>
            <a:r>
              <a:rPr b="0" lang="ko-KR" sz="1020" spc="-1" strike="noStrike">
                <a:solidFill>
                  <a:srgbClr val="4d5765"/>
                </a:solidFill>
                <a:latin typeface="Malgun Gothic"/>
                <a:ea typeface="Calibri"/>
              </a:rPr>
              <a:t>실행</a:t>
            </a:r>
            <a:endParaRPr b="0" lang="en-US" sz="10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5" name="Rounded Rectangle 26"/>
          <p:cNvSpPr/>
          <p:nvPr/>
        </p:nvSpPr>
        <p:spPr>
          <a:xfrm>
            <a:off x="7571160" y="4224600"/>
            <a:ext cx="416880" cy="416880"/>
          </a:xfrm>
          <a:prstGeom prst="roundRect">
            <a:avLst>
              <a:gd name="adj" fmla="val 50000"/>
            </a:avLst>
          </a:prstGeom>
          <a:solidFill>
            <a:srgbClr val="e6f7f7"/>
          </a:solidFill>
          <a:ln w="10080">
            <a:solidFill>
              <a:srgbClr val="e6f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66" name="TextBox 27"/>
          <p:cNvSpPr/>
          <p:nvPr/>
        </p:nvSpPr>
        <p:spPr>
          <a:xfrm>
            <a:off x="7571160" y="4342320"/>
            <a:ext cx="4168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200" spc="-1" strike="noStrike">
                <a:solidFill>
                  <a:srgbClr val="19878d"/>
                </a:solidFill>
                <a:latin typeface="Malgun Gothic"/>
                <a:ea typeface="Calibri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7" name="TextBox 28"/>
          <p:cNvSpPr/>
          <p:nvPr/>
        </p:nvSpPr>
        <p:spPr>
          <a:xfrm>
            <a:off x="8119800" y="4215240"/>
            <a:ext cx="8193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ko-KR" sz="1250" spc="-1" strike="noStrike">
                <a:solidFill>
                  <a:srgbClr val="172136"/>
                </a:solidFill>
                <a:latin typeface="Malgun Gothic"/>
                <a:ea typeface="Calibri"/>
              </a:rPr>
              <a:t>검증</a:t>
            </a:r>
            <a:endParaRPr b="0" lang="en-US" sz="12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8" name="TextBox 29"/>
          <p:cNvSpPr/>
          <p:nvPr/>
        </p:nvSpPr>
        <p:spPr>
          <a:xfrm>
            <a:off x="8119800" y="4453200"/>
            <a:ext cx="28310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020" spc="-1" strike="noStrike">
                <a:solidFill>
                  <a:srgbClr val="4d5765"/>
                </a:solidFill>
                <a:latin typeface="Malgun Gothic"/>
                <a:ea typeface="Calibri"/>
              </a:rPr>
              <a:t>Alert, Visualization, history</a:t>
            </a:r>
            <a:r>
              <a:rPr b="0" lang="ko-KR" sz="1020" spc="-1" strike="noStrike">
                <a:solidFill>
                  <a:srgbClr val="4d5765"/>
                </a:solidFill>
                <a:latin typeface="Malgun Gothic"/>
                <a:ea typeface="Calibri"/>
              </a:rPr>
              <a:t>로 결과 확인</a:t>
            </a:r>
            <a:endParaRPr b="0" lang="en-US" sz="102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69" name="Rounded Rectangle 30"/>
          <p:cNvSpPr/>
          <p:nvPr/>
        </p:nvSpPr>
        <p:spPr>
          <a:xfrm>
            <a:off x="594360" y="5742360"/>
            <a:ext cx="11014920" cy="471960"/>
          </a:xfrm>
          <a:prstGeom prst="roundRect">
            <a:avLst>
              <a:gd name="adj" fmla="val 10000"/>
            </a:avLst>
          </a:prstGeom>
          <a:solidFill>
            <a:srgbClr val="e7f6f6"/>
          </a:solidFill>
          <a:ln w="10080">
            <a:solidFill>
              <a:srgbClr val="e7f6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70" name="TextBox 31"/>
          <p:cNvSpPr/>
          <p:nvPr/>
        </p:nvSpPr>
        <p:spPr>
          <a:xfrm>
            <a:off x="822960" y="5857200"/>
            <a:ext cx="1051200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ko-KR" sz="1120" spc="-1" strike="noStrike">
                <a:solidFill>
                  <a:srgbClr val="136f74"/>
                </a:solidFill>
                <a:latin typeface="Malgun Gothic"/>
                <a:ea typeface="Calibri"/>
              </a:rPr>
              <a:t>핵심</a:t>
            </a:r>
            <a:r>
              <a:rPr b="1" lang="en-US" sz="1120" spc="-1" strike="noStrike">
                <a:solidFill>
                  <a:srgbClr val="136f74"/>
                </a:solidFill>
                <a:latin typeface="Malgun Gothic"/>
                <a:ea typeface="Calibri"/>
              </a:rPr>
              <a:t>: </a:t>
            </a:r>
            <a:r>
              <a:rPr b="1" lang="ko-KR" sz="1120" spc="-1" strike="noStrike">
                <a:solidFill>
                  <a:srgbClr val="136f74"/>
                </a:solidFill>
                <a:latin typeface="Malgun Gothic"/>
                <a:ea typeface="Calibri"/>
              </a:rPr>
              <a:t>시연 영상은 실제 </a:t>
            </a:r>
            <a:r>
              <a:rPr b="1" lang="en-US" sz="1120" spc="-1" strike="noStrike">
                <a:solidFill>
                  <a:srgbClr val="136f74"/>
                </a:solidFill>
                <a:latin typeface="Malgun Gothic"/>
                <a:ea typeface="Calibri"/>
              </a:rPr>
              <a:t>UI</a:t>
            </a:r>
            <a:r>
              <a:rPr b="1" lang="ko-KR" sz="1120" spc="-1" strike="noStrike">
                <a:solidFill>
                  <a:srgbClr val="136f74"/>
                </a:solidFill>
                <a:latin typeface="Malgun Gothic"/>
                <a:ea typeface="Calibri"/>
              </a:rPr>
              <a:t>에서 </a:t>
            </a:r>
            <a:r>
              <a:rPr b="1" lang="en-US" sz="1120" spc="-1" strike="noStrike">
                <a:solidFill>
                  <a:srgbClr val="136f74"/>
                </a:solidFill>
                <a:latin typeface="Malgun Gothic"/>
                <a:ea typeface="Calibri"/>
              </a:rPr>
              <a:t>ROS2 </a:t>
            </a:r>
            <a:r>
              <a:rPr b="1" lang="ko-KR" sz="1120" spc="-1" strike="noStrike">
                <a:solidFill>
                  <a:srgbClr val="136f74"/>
                </a:solidFill>
                <a:latin typeface="Malgun Gothic"/>
                <a:ea typeface="Calibri"/>
              </a:rPr>
              <a:t>통신 상태를 확인하고</a:t>
            </a:r>
            <a:r>
              <a:rPr b="1" lang="en-US" sz="1120" spc="-1" strike="noStrike">
                <a:solidFill>
                  <a:srgbClr val="136f74"/>
                </a:solidFill>
                <a:latin typeface="Malgun Gothic"/>
                <a:ea typeface="Calibri"/>
              </a:rPr>
              <a:t>, </a:t>
            </a:r>
            <a:r>
              <a:rPr b="1" lang="ko-KR" sz="1120" spc="-1" strike="noStrike">
                <a:solidFill>
                  <a:srgbClr val="136f74"/>
                </a:solidFill>
                <a:latin typeface="Malgun Gothic"/>
                <a:ea typeface="Calibri"/>
              </a:rPr>
              <a:t>등록 </a:t>
            </a:r>
            <a:r>
              <a:rPr b="1" lang="en-US" sz="1120" spc="-1" strike="noStrike">
                <a:solidFill>
                  <a:srgbClr val="136f74"/>
                </a:solidFill>
                <a:latin typeface="Malgun Gothic"/>
                <a:ea typeface="Calibri"/>
              </a:rPr>
              <a:t>Interface</a:t>
            </a:r>
            <a:r>
              <a:rPr b="1" lang="ko-KR" sz="1120" spc="-1" strike="noStrike">
                <a:solidFill>
                  <a:srgbClr val="136f74"/>
                </a:solidFill>
                <a:latin typeface="Malgun Gothic"/>
                <a:ea typeface="Calibri"/>
              </a:rPr>
              <a:t>로 직접 통신을 실행하는 과정을 보여줍니다</a:t>
            </a:r>
            <a:r>
              <a:rPr b="1" lang="en-US" sz="1120" spc="-1" strike="noStrike">
                <a:solidFill>
                  <a:srgbClr val="136f74"/>
                </a:solidFill>
                <a:latin typeface="Malgun Gothic"/>
                <a:ea typeface="Calibri"/>
              </a:rPr>
              <a:t>.</a:t>
            </a:r>
            <a:endParaRPr b="0" lang="en-US" sz="1120" spc="-1" strike="noStrike">
              <a:solidFill>
                <a:srgbClr val="000000"/>
              </a:solidFill>
              <a:latin typeface="Noto Sans CJK KR"/>
            </a:endParaRPr>
          </a:p>
        </p:txBody>
      </p:sp>
      <p:pic>
        <p:nvPicPr>
          <p:cNvPr id="471" name="" descr="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720000" y="1800000"/>
            <a:ext cx="6297120" cy="3541680"/>
          </a:xfrm>
          <a:prstGeom prst="rect">
            <a:avLst/>
          </a:prstGeom>
          <a:ln w="0">
            <a:noFill/>
          </a:ln>
        </p:spPr>
      </p:pic>
      <p:sp>
        <p:nvSpPr>
          <p:cNvPr id="472" name="Rectangle 12"/>
          <p:cNvSpPr/>
          <p:nvPr/>
        </p:nvSpPr>
        <p:spPr>
          <a:xfrm>
            <a:off x="0" y="0"/>
            <a:ext cx="12183840" cy="64800"/>
          </a:xfrm>
          <a:prstGeom prst="rect">
            <a:avLst/>
          </a:prstGeom>
          <a:solidFill>
            <a:srgbClr val="009488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Rectangle 1"/>
          <p:cNvSpPr/>
          <p:nvPr/>
        </p:nvSpPr>
        <p:spPr>
          <a:xfrm>
            <a:off x="0" y="0"/>
            <a:ext cx="12187080" cy="59040"/>
          </a:xfrm>
          <a:prstGeom prst="rect">
            <a:avLst/>
          </a:prstGeom>
          <a:solidFill>
            <a:srgbClr val="009082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74" name="TextBox 2"/>
          <p:cNvSpPr/>
          <p:nvPr/>
        </p:nvSpPr>
        <p:spPr>
          <a:xfrm>
            <a:off x="640080" y="298080"/>
            <a:ext cx="1823760" cy="1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750" spc="-1" strike="noStrike">
                <a:solidFill>
                  <a:srgbClr val="082d4b"/>
                </a:solidFill>
                <a:latin typeface="Malgun Gothic"/>
                <a:ea typeface="Calibri"/>
              </a:rPr>
              <a:t>NEXT STEP</a:t>
            </a:r>
            <a:endParaRPr b="0" lang="en-US" sz="7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75" name="TextBox 3"/>
          <p:cNvSpPr/>
          <p:nvPr/>
        </p:nvSpPr>
        <p:spPr>
          <a:xfrm>
            <a:off x="11163960" y="280440"/>
            <a:ext cx="16416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r">
              <a:lnSpc>
                <a:spcPct val="100000"/>
              </a:lnSpc>
            </a:pPr>
            <a:r>
              <a:rPr b="1" lang="en-US" sz="1100" spc="-1" strike="noStrike">
                <a:solidFill>
                  <a:srgbClr val="172136"/>
                </a:solidFill>
                <a:latin typeface="Malgun Gothic"/>
                <a:ea typeface="Calibri"/>
              </a:rPr>
              <a:t>21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76" name="TextBox 4"/>
          <p:cNvSpPr/>
          <p:nvPr/>
        </p:nvSpPr>
        <p:spPr>
          <a:xfrm>
            <a:off x="3154680" y="518400"/>
            <a:ext cx="603000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2300" spc="-1" strike="noStrike">
                <a:solidFill>
                  <a:srgbClr val="082d4b"/>
                </a:solidFill>
                <a:latin typeface="Malgun Gothic"/>
                <a:ea typeface="Calibri"/>
              </a:rPr>
              <a:t> </a:t>
            </a:r>
            <a:r>
              <a:rPr b="1" lang="ko-KR" sz="2300" spc="-1" strike="noStrike">
                <a:solidFill>
                  <a:srgbClr val="082d4b"/>
                </a:solidFill>
                <a:latin typeface="Malgun Gothic"/>
                <a:ea typeface="Calibri"/>
              </a:rPr>
              <a:t>확장 개발</a:t>
            </a:r>
            <a:endParaRPr b="0" lang="en-US" sz="2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77" name="TextBox 5"/>
          <p:cNvSpPr/>
          <p:nvPr/>
        </p:nvSpPr>
        <p:spPr>
          <a:xfrm>
            <a:off x="1828800" y="1043280"/>
            <a:ext cx="8590320" cy="1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ko-KR" sz="1050" spc="-1" strike="noStrike">
                <a:solidFill>
                  <a:srgbClr val="4b5f73"/>
                </a:solidFill>
                <a:latin typeface="Malgun Gothic"/>
                <a:ea typeface="Calibri"/>
              </a:rPr>
              <a:t>현재 구현된 </a:t>
            </a:r>
            <a:r>
              <a:rPr b="0" lang="en-US" sz="1050" spc="-1" strike="noStrike">
                <a:solidFill>
                  <a:srgbClr val="4b5f73"/>
                </a:solidFill>
                <a:latin typeface="Malgun Gothic"/>
                <a:ea typeface="Calibri"/>
              </a:rPr>
              <a:t>Monitoring / Interface Lab</a:t>
            </a:r>
            <a:r>
              <a:rPr b="0" lang="ko-KR" sz="1050" spc="-1" strike="noStrike">
                <a:solidFill>
                  <a:srgbClr val="4b5f73"/>
                </a:solidFill>
                <a:latin typeface="Malgun Gothic"/>
                <a:ea typeface="Calibri"/>
              </a:rPr>
              <a:t>을 기반으로 현장 장비화와 지능형 진단까지 확장합니다</a:t>
            </a:r>
            <a:r>
              <a:rPr b="0" lang="en-US" sz="1050" spc="-1" strike="noStrike">
                <a:solidFill>
                  <a:srgbClr val="4b5f73"/>
                </a:solidFill>
                <a:latin typeface="Malgun Gothic"/>
                <a:ea typeface="Calibri"/>
              </a:rPr>
              <a:t>.</a:t>
            </a:r>
            <a:endParaRPr b="0" lang="en-US" sz="10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78" name="Rounded Rectangle 6"/>
          <p:cNvSpPr/>
          <p:nvPr/>
        </p:nvSpPr>
        <p:spPr>
          <a:xfrm>
            <a:off x="777240" y="1417320"/>
            <a:ext cx="5024160" cy="1348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080">
            <a:solidFill>
              <a:srgbClr val="c3d7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79" name="Rectangle 7"/>
          <p:cNvSpPr/>
          <p:nvPr/>
        </p:nvSpPr>
        <p:spPr>
          <a:xfrm>
            <a:off x="777240" y="1417320"/>
            <a:ext cx="59040" cy="1348200"/>
          </a:xfrm>
          <a:prstGeom prst="rect">
            <a:avLst/>
          </a:prstGeom>
          <a:solidFill>
            <a:srgbClr val="009687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80" name="TextBox 8"/>
          <p:cNvSpPr/>
          <p:nvPr/>
        </p:nvSpPr>
        <p:spPr>
          <a:xfrm>
            <a:off x="1005840" y="1617120"/>
            <a:ext cx="4475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82d4b"/>
                </a:solidFill>
                <a:latin typeface="Malgun Gothic"/>
                <a:ea typeface="Calibri"/>
              </a:rPr>
              <a:t>1. </a:t>
            </a:r>
            <a:r>
              <a:rPr b="1" lang="ko-KR" sz="1200" spc="-1" strike="noStrike">
                <a:solidFill>
                  <a:srgbClr val="082d4b"/>
                </a:solidFill>
                <a:latin typeface="Malgun Gothic"/>
                <a:ea typeface="Calibri"/>
              </a:rPr>
              <a:t>현장형 엣지 모니터링 장비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81" name="TextBox 9"/>
          <p:cNvSpPr/>
          <p:nvPr/>
        </p:nvSpPr>
        <p:spPr>
          <a:xfrm>
            <a:off x="1005840" y="1920240"/>
            <a:ext cx="442980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Jetson Nano·Raspberry Pi</a:t>
            </a:r>
            <a:r>
              <a:rPr b="0" lang="ko-KR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와 터치 디스플레이에 대시보드를 탑재해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, </a:t>
            </a:r>
            <a:r>
              <a:rPr b="0" lang="ko-KR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현장에서 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ROS2 </a:t>
            </a:r>
            <a:r>
              <a:rPr b="0" lang="ko-KR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연결 상태와 통신 이상을 바로 확인하는 독립형 진단 장비로 확장합니다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.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82" name="Rounded Rectangle 10"/>
          <p:cNvSpPr/>
          <p:nvPr/>
        </p:nvSpPr>
        <p:spPr>
          <a:xfrm>
            <a:off x="5989320" y="1417320"/>
            <a:ext cx="5024160" cy="1348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080">
            <a:solidFill>
              <a:srgbClr val="c3d7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83" name="Rectangle 11"/>
          <p:cNvSpPr/>
          <p:nvPr/>
        </p:nvSpPr>
        <p:spPr>
          <a:xfrm>
            <a:off x="5989320" y="1417320"/>
            <a:ext cx="59040" cy="1348200"/>
          </a:xfrm>
          <a:prstGeom prst="rect">
            <a:avLst/>
          </a:prstGeom>
          <a:solidFill>
            <a:srgbClr val="7759cb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84" name="TextBox 12"/>
          <p:cNvSpPr/>
          <p:nvPr/>
        </p:nvSpPr>
        <p:spPr>
          <a:xfrm>
            <a:off x="6217920" y="1617120"/>
            <a:ext cx="4475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82d4b"/>
                </a:solidFill>
                <a:latin typeface="Malgun Gothic"/>
                <a:ea typeface="Calibri"/>
              </a:rPr>
              <a:t>2. LLM </a:t>
            </a:r>
            <a:r>
              <a:rPr b="1" lang="ko-KR" sz="1200" spc="-1" strike="noStrike">
                <a:solidFill>
                  <a:srgbClr val="082d4b"/>
                </a:solidFill>
                <a:latin typeface="Malgun Gothic"/>
                <a:ea typeface="Calibri"/>
              </a:rPr>
              <a:t>기반 장애 원인 추정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85" name="TextBox 13"/>
          <p:cNvSpPr/>
          <p:nvPr/>
        </p:nvSpPr>
        <p:spPr>
          <a:xfrm>
            <a:off x="6217920" y="1920240"/>
            <a:ext cx="442980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ko-KR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통신 로그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, Alert, Node </a:t>
            </a:r>
            <a:r>
              <a:rPr b="0" lang="ko-KR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상태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, Service Timeout, Action </a:t>
            </a:r>
            <a:r>
              <a:rPr b="0" lang="ko-KR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실패 결과를 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LLM API </a:t>
            </a:r>
            <a:r>
              <a:rPr b="0" lang="ko-KR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또는 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Local LLM</a:t>
            </a:r>
            <a:r>
              <a:rPr b="0" lang="ko-KR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과 연결해 원인 후보와 우선 점검 항목을 제안합니다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.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86" name="Rounded Rectangle 14"/>
          <p:cNvSpPr/>
          <p:nvPr/>
        </p:nvSpPr>
        <p:spPr>
          <a:xfrm>
            <a:off x="777240" y="3246120"/>
            <a:ext cx="5024160" cy="1348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080">
            <a:solidFill>
              <a:srgbClr val="c3d7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87" name="Rectangle 15"/>
          <p:cNvSpPr/>
          <p:nvPr/>
        </p:nvSpPr>
        <p:spPr>
          <a:xfrm>
            <a:off x="777240" y="3246120"/>
            <a:ext cx="59040" cy="1348200"/>
          </a:xfrm>
          <a:prstGeom prst="rect">
            <a:avLst/>
          </a:prstGeom>
          <a:solidFill>
            <a:srgbClr val="f5a623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88" name="TextBox 16"/>
          <p:cNvSpPr/>
          <p:nvPr/>
        </p:nvSpPr>
        <p:spPr>
          <a:xfrm>
            <a:off x="1005840" y="3445920"/>
            <a:ext cx="4475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82d4b"/>
                </a:solidFill>
                <a:latin typeface="Malgun Gothic"/>
                <a:ea typeface="Calibri"/>
              </a:rPr>
              <a:t>3. </a:t>
            </a:r>
            <a:r>
              <a:rPr b="1" lang="ko-KR" sz="1200" spc="-1" strike="noStrike">
                <a:solidFill>
                  <a:srgbClr val="082d4b"/>
                </a:solidFill>
                <a:latin typeface="Malgun Gothic"/>
                <a:ea typeface="Calibri"/>
              </a:rPr>
              <a:t>주요 통신 자동 선별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89" name="TextBox 17"/>
          <p:cNvSpPr/>
          <p:nvPr/>
        </p:nvSpPr>
        <p:spPr>
          <a:xfrm>
            <a:off x="1005840" y="3749040"/>
            <a:ext cx="442980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YAML </a:t>
            </a:r>
            <a:r>
              <a:rPr b="0" lang="ko-KR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필터 조건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, Graph </a:t>
            </a:r>
            <a:r>
              <a:rPr b="0" lang="ko-KR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관계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, Alert </a:t>
            </a:r>
            <a:r>
              <a:rPr b="0" lang="ko-KR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발생 빈도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, </a:t>
            </a:r>
            <a:r>
              <a:rPr b="0" lang="ko-KR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통신 의존도를 함께 분석해 우선 확인해야 할 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Topic·Service·Action·Node</a:t>
            </a:r>
            <a:r>
              <a:rPr b="0" lang="ko-KR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를 자동 선별합니다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.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90" name="Rounded Rectangle 18"/>
          <p:cNvSpPr/>
          <p:nvPr/>
        </p:nvSpPr>
        <p:spPr>
          <a:xfrm>
            <a:off x="5989320" y="3246120"/>
            <a:ext cx="5024160" cy="1348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080">
            <a:solidFill>
              <a:srgbClr val="c3d7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91" name="Rectangle 19"/>
          <p:cNvSpPr/>
          <p:nvPr/>
        </p:nvSpPr>
        <p:spPr>
          <a:xfrm>
            <a:off x="5989320" y="3246120"/>
            <a:ext cx="59040" cy="1348200"/>
          </a:xfrm>
          <a:prstGeom prst="rect">
            <a:avLst/>
          </a:prstGeom>
          <a:solidFill>
            <a:srgbClr val="eb5555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92" name="TextBox 20"/>
          <p:cNvSpPr/>
          <p:nvPr/>
        </p:nvSpPr>
        <p:spPr>
          <a:xfrm>
            <a:off x="6217920" y="3445920"/>
            <a:ext cx="44755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82d4b"/>
                </a:solidFill>
                <a:latin typeface="Malgun Gothic"/>
                <a:ea typeface="Calibri"/>
              </a:rPr>
              <a:t>4. </a:t>
            </a:r>
            <a:r>
              <a:rPr b="1" lang="ko-KR" sz="1200" spc="-1" strike="noStrike">
                <a:solidFill>
                  <a:srgbClr val="082d4b"/>
                </a:solidFill>
                <a:latin typeface="Malgun Gothic"/>
                <a:ea typeface="Calibri"/>
              </a:rPr>
              <a:t>통신 유형별 관리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93" name="TextBox 21"/>
          <p:cNvSpPr/>
          <p:nvPr/>
        </p:nvSpPr>
        <p:spPr>
          <a:xfrm>
            <a:off x="6217920" y="3749040"/>
            <a:ext cx="4429800" cy="3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ko-KR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향후 통신 명세의 목적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, </a:t>
            </a:r>
            <a:r>
              <a:rPr b="0" lang="ko-KR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발행 조건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, </a:t>
            </a:r>
            <a:r>
              <a:rPr b="0" lang="ko-KR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예상 주기와 통신 관계를 기준으로</a:t>
            </a:r>
            <a:br>
              <a:rPr sz="850"/>
            </a:br>
            <a:r>
              <a:rPr b="0" lang="ko-KR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생존 통신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, </a:t>
            </a:r>
            <a:r>
              <a:rPr b="0" lang="ko-KR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상태 센서 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Stream, </a:t>
            </a:r>
            <a:r>
              <a:rPr b="0" lang="ko-KR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명령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, Event </a:t>
            </a:r>
            <a:r>
              <a:rPr b="0" lang="ko-KR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통신을 구분 하여</a:t>
            </a:r>
            <a:br>
              <a:rPr sz="850"/>
            </a:br>
            <a:r>
              <a:rPr b="0" lang="ko-KR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통신 특성에 맞는 관리가 가능하도록 개선합니다</a:t>
            </a:r>
            <a:r>
              <a:rPr b="0" lang="en-US" sz="850" spc="-1" strike="noStrike">
                <a:solidFill>
                  <a:srgbClr val="2d4155"/>
                </a:solidFill>
                <a:latin typeface="Malgun Gothic"/>
                <a:ea typeface="Calibri"/>
              </a:rPr>
              <a:t>.</a:t>
            </a:r>
            <a:endParaRPr b="0" lang="en-US" sz="85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94" name="Rounded Rectangle 22"/>
          <p:cNvSpPr/>
          <p:nvPr/>
        </p:nvSpPr>
        <p:spPr>
          <a:xfrm>
            <a:off x="777240" y="5559480"/>
            <a:ext cx="10510560" cy="616680"/>
          </a:xfrm>
          <a:prstGeom prst="roundRect">
            <a:avLst>
              <a:gd name="adj" fmla="val 12000"/>
            </a:avLst>
          </a:prstGeom>
          <a:solidFill>
            <a:srgbClr val="e5f8f6"/>
          </a:solidFill>
          <a:ln w="10080">
            <a:solidFill>
              <a:srgbClr val="78cdc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sp>
        <p:nvSpPr>
          <p:cNvPr id="495" name="TextBox 23"/>
          <p:cNvSpPr/>
          <p:nvPr/>
        </p:nvSpPr>
        <p:spPr>
          <a:xfrm>
            <a:off x="960120" y="5774400"/>
            <a:ext cx="101448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ko-KR" sz="1000" spc="-1" strike="noStrike">
                <a:solidFill>
                  <a:srgbClr val="082d4b"/>
                </a:solidFill>
                <a:latin typeface="Malgun Gothic"/>
                <a:ea typeface="Calibri"/>
              </a:rPr>
              <a:t>최종 목표</a:t>
            </a:r>
            <a:r>
              <a:rPr b="1" lang="en-US" sz="1000" spc="-1" strike="noStrike">
                <a:solidFill>
                  <a:srgbClr val="082d4b"/>
                </a:solidFill>
                <a:latin typeface="Malgun Gothic"/>
                <a:ea typeface="Calibri"/>
              </a:rPr>
              <a:t>: ROS2 </a:t>
            </a:r>
            <a:r>
              <a:rPr b="1" lang="ko-KR" sz="1000" spc="-1" strike="noStrike">
                <a:solidFill>
                  <a:srgbClr val="082d4b"/>
                </a:solidFill>
                <a:latin typeface="Malgun Gothic"/>
                <a:ea typeface="Calibri"/>
              </a:rPr>
              <a:t>통신을 보여주는 대시보드를 넘어</a:t>
            </a:r>
            <a:r>
              <a:rPr b="1" lang="en-US" sz="1000" spc="-1" strike="noStrike">
                <a:solidFill>
                  <a:srgbClr val="082d4b"/>
                </a:solidFill>
                <a:latin typeface="Malgun Gothic"/>
                <a:ea typeface="Calibri"/>
              </a:rPr>
              <a:t>, </a:t>
            </a:r>
            <a:r>
              <a:rPr b="1" lang="ko-KR" sz="1000" spc="-1" strike="noStrike">
                <a:solidFill>
                  <a:srgbClr val="082d4b"/>
                </a:solidFill>
                <a:latin typeface="Malgun Gothic"/>
                <a:ea typeface="Calibri"/>
              </a:rPr>
              <a:t>현장에서 상태 확인</a:t>
            </a:r>
            <a:r>
              <a:rPr b="1" lang="en-US" sz="1000" spc="-1" strike="noStrike">
                <a:solidFill>
                  <a:srgbClr val="082d4b"/>
                </a:solidFill>
                <a:latin typeface="Malgun Gothic"/>
                <a:ea typeface="Calibri"/>
              </a:rPr>
              <a:t>·</a:t>
            </a:r>
            <a:r>
              <a:rPr b="1" lang="ko-KR" sz="1000" spc="-1" strike="noStrike">
                <a:solidFill>
                  <a:srgbClr val="082d4b"/>
                </a:solidFill>
                <a:latin typeface="Malgun Gothic"/>
                <a:ea typeface="Calibri"/>
              </a:rPr>
              <a:t>장애 분석</a:t>
            </a:r>
            <a:r>
              <a:rPr b="1" lang="en-US" sz="1000" spc="-1" strike="noStrike">
                <a:solidFill>
                  <a:srgbClr val="082d4b"/>
                </a:solidFill>
                <a:latin typeface="Malgun Gothic"/>
                <a:ea typeface="Calibri"/>
              </a:rPr>
              <a:t>·</a:t>
            </a:r>
            <a:r>
              <a:rPr b="1" lang="ko-KR" sz="1000" spc="-1" strike="noStrike">
                <a:solidFill>
                  <a:srgbClr val="082d4b"/>
                </a:solidFill>
                <a:latin typeface="Malgun Gothic"/>
                <a:ea typeface="Calibri"/>
              </a:rPr>
              <a:t>우선순위 판단까지 지원하는 지능형 진단 플랫폼으로 확장합니다</a:t>
            </a:r>
            <a:r>
              <a:rPr b="1" lang="en-US" sz="1000" spc="-1" strike="noStrike">
                <a:solidFill>
                  <a:srgbClr val="082d4b"/>
                </a:solidFill>
                <a:latin typeface="Malgun Gothic"/>
                <a:ea typeface="Calibri"/>
              </a:rPr>
              <a:t>.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2332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2026-07-22T06:46:56Z</dcterms:created>
  <dc:creator>Walnut Exporter</dc:creator>
  <dc:description/>
  <dc:language>ko-KR</dc:language>
  <cp:lastModifiedBy/>
  <cp:lastPrinted>2026-08-05T09:39:31Z</cp:lastPrinted>
  <dcterms:modified xsi:type="dcterms:W3CDTF">2026-08-05T10:05:46Z</dcterms:modified>
  <cp:revision>73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