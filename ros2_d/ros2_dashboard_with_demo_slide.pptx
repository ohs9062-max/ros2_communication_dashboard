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37.png" ContentType="image/png"/>
  <Override PartName="/ppt/media/image5.png" ContentType="image/png"/>
  <Override PartName="/ppt/media/image14.png" ContentType="image/png"/>
  <Override PartName="/ppt/media/image19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슬라이드를 이동하려면 클릭하십시오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메모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&lt;머리글&gt;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fld id="{E3F3B6BA-A346-410E-A624-D55DA89C28CF}" type="slidenum"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&lt;숫자&gt;</a:t>
            </a:fld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프로젝트는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 상태를 관찰하는 기능과 사용자가 직접 통신을 실행하는 기능을 한 화면에 제공합니다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오늘은 코드 파일을 따라가기보다 실제 화면에서 무엇을 확인하고 무엇을 실행할 수 있는지 중심으로 설명하겠습니다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크게는 자동 모니터링과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영역으로 나뉩니다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로봇 프로그램들이 서로 데이터를 주고받는 실행 환경입니다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대시보드는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직접 제어하나요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관찰만 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버튼을 눌렀을 때만 통신을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시스템은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 이해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실행의 세 단계로 다룹니다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명령어를 여러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터미널에서 따로 확인하면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전체 관계를 놓치기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대시보드는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 중인 통신을 모아서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보여주고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필요한 경우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등록된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테스트까지 이어지게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주고받는 데이터 구조 또는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 형식입니다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모든 통신을 자동으로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실행해 주나요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영역은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실행은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사용자가 명시적으로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주기적으로 관찰하고 화면은 그 최신 복사본을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읽습니다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영역에서 실제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통신이 실행됩니다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rclpy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 Monitor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정보를 모아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Runtime 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저장하고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FastAPI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WebSocket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화면으로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직접 접근하지 않는 구조입니다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Runtime 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최근에 수집한 상태를 메모리에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보관한 공간입니다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요청이 들어올 때마다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topic 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실행하나요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rclpy Graph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주기 수집한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읽어 반환합니다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상태 수와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수가 달라도 정상입니다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지금 관찰되는 상태를 넓게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그중 조치가 필요할 가능성이 높은 조건만 정책으로 선별합니다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예를 들어 구독자가 없는 일반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waiting_server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화면 상태로는 보이지만 기본 장애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상태표시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조치 후보입니다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required stream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계속 들어와야 한다고 지정한 중요 데이터 흐름입니다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바로 프로세스 장애라는 뜻인가요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설정 시간 동안 남겨 보여주는 상태이며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정책상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포함됩니다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어떤 채널이 있고 데이터가 실제로 얼마나 들어오는지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발견하고 지원하는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타입이면 자동 구독합니다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callback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최신 데이터와 수신 시간을 기록하고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일정 구간의 수신 횟수로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계산해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화면에 제공합니다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초당 수신 메시지 수를 뜻합니다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최근 메시지가 설정 시간 동안 갱신되지 않은 상태입니다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볼 수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지원 타입으로 구독해 실제 메시지를 받은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계산할 수 있습니다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요청 창구를 관찰하고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요청을 실제로 보냅니다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화면에서는 이름과 타입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사용 가능 상태를 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일반 모니터링은 요청을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등록한 안전한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Active 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백그라운드로 확인하며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사용자의 실제 요청은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받는 창구이고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보내는 프로그램입니다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호출해도 안전하다고 미리 허용한 목록입니다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화면을 열면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발생하나요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 조회는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눌렀을 때만 명시 요청이 전송됩니다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모니터링과 사용자의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실행은 서로 다른 경로입니다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시간이 걸리는 작업에 사용합니다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보내고 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Feedback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 화면은 이미 진행되거나 관찰된 상태를 보여줄 뿐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자동으로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succeeded, aborted, canceled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작업이 끝난 뒤의 최종 결과입니다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모니터가 모든 과거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조회하나요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status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관찰된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조회 대상으로 삼습니다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각 실행 단위가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어떻게 참여하는지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이름만 보면 역할을 알기 어렵습니다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그래서 이 화면은 발행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·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제공하거나 사용하는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실행하거나 요청하는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관계를 함께 표시합니다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화면 깜빡임을 줄이기 위해 잠시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상태로 보존됩니다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프로세스 종료를 직접 확인한 뜻이 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더 이상 보이지 않는 상태입니다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계속 남아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timeout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동안만 보존한 뒤 제거됩니다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 조합은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일어납니다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네 가지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Monitoring 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데이터를 가져옵니다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기준 관계를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participant map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통신 기준에 맞게 뒤집고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graphTransform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선택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보기와 전체 보기를 구분할 수 있습니다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선택한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직접 연결된 관계까지만 보는 방식입니다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연결 그래프를 그리는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라이브러리입니다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/ros/graph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없습니다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/ros/nodes, topics, services, actions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응답을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조합합니다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섞어 설명하면 이 프로젝트의 동작을 잘못 이해하게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현재 실행 중인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시스템을 계속 관찰합니다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사용자가 원하는 통신 형식을 등록하고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준비가 끝난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Publish, Receive, Call, 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직접 실행하는 도구입니다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 결과와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 이쪽에 남습니다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 discovery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어떤 통신 요소가 있는지 자동으로 찾는 과정입니다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없어도 모니터링은 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별도 기능이고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등록한 타입으로 직접 시험할 때 사용합니다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파일과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필요 없고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나머지 방식은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코드를 만들어야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시스템에 설치되어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문자열만 등록하면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정의를 화면에서 작성하거나 단일 파일 또는 패키지를 업로드하면 파일이 생기므로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확인이 필요합니다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등록만 성공했다고 바로 실행 가능한 것은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package/msg/Type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package/srv/Type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패키지와 종류까지 포함한 전체 타입 이름입니다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아무 문자열이나 넣어도 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타입이어야 실제 실행 후보가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생성하는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단계이고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그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앞뒤 과정을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포함합니다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업로드한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파일은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정의서일 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바로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 없습니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패키지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구조와 설정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파일을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준비하고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colcon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실행하면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생성됩니다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설치 환경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check,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registry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갱신까지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묶은 상위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흐름이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colcon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workspac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패키지를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빌드하는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명령입니다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생성된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실제로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불러올 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있는지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성공이면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바로 실행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항상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그렇지는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install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까지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통과해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상태인지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확인해야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한 번 발행하거나 사용자가 구독을 시작하고 멈추는 기능입니다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name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보낼 채널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 구조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실제 필드 값입니다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Publish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입력을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 Message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변환해 발행하고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남깁니다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버튼으로 구독을 만들고 받은 메시지를 저장하며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정리합니다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예를 들어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speed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enabled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같은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필드에 넣을 실제 값의 묶음입니다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모니터링의 구독과 같은 기능인가요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supported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관찰용이고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사용자가 명시적으로 시작한 테스트 구독입니다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q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받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받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히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x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히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뜻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맞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값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송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송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않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_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_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=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시연은 먼저 관찰 기능을 보여준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실행으로 넘어갑니다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전체 상태를 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실시간 값과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Service, Action,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관계를 본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연결을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다음으로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등록하거나 업로드하고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 여부를 확인한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Publish, Receive, Call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실행하고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 하나가 아니라 파일 준비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Build, 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갱신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Backend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반영을 포함하는 전체 과정입니다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발표에서 가장 중요한 구분은 무엇인가요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execution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사용자가 직접 실행한다는 구분입니다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5600" cy="11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5600" cy="11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제목 텍스트의 서식을 편집하려면 클릭하십시오</a:t>
            </a:r>
            <a:r>
              <a:rPr b="0" lang="en-US" sz="18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solidFill>
                  <a:srgbClr val="000000"/>
                </a:solidFill>
                <a:latin typeface="Noto Sans CJK KR"/>
              </a:rPr>
              <a:t>개요 텍스트의 서식을 편집하려면 클릭하십시오</a:t>
            </a: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8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Noto Sans CJK KR"/>
              </a:rPr>
              <a:t>3</a:t>
            </a:r>
            <a:r>
              <a:rPr b="0" lang="ko-KR" sz="24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4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5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6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7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image" Target="../media/image3.png"/><Relationship Id="rId20" Type="http://schemas.openxmlformats.org/officeDocument/2006/relationships/image" Target="../media/image4.png"/><Relationship Id="rId21" Type="http://schemas.openxmlformats.org/officeDocument/2006/relationships/image" Target="../media/image5.png"/><Relationship Id="rId22" Type="http://schemas.openxmlformats.org/officeDocument/2006/relationships/image" Target="../media/image6.png"/><Relationship Id="rId23" Type="http://schemas.openxmlformats.org/officeDocument/2006/relationships/image" Target="../media/image7.png"/><Relationship Id="rId24" Type="http://schemas.openxmlformats.org/officeDocument/2006/relationships/image" Target="../media/image8.png"/><Relationship Id="rId25" Type="http://schemas.openxmlformats.org/officeDocument/2006/relationships/image" Target="../media/image9.png"/><Relationship Id="rId26" Type="http://schemas.openxmlformats.org/officeDocument/2006/relationships/image" Target="../media/image10.png"/><Relationship Id="rId27" Type="http://schemas.openxmlformats.org/officeDocument/2006/relationships/image" Target="../media/image11.png"/><Relationship Id="rId28" Type="http://schemas.openxmlformats.org/officeDocument/2006/relationships/image" Target="../media/image12.png"/><Relationship Id="rId29" Type="http://schemas.openxmlformats.org/officeDocument/2006/relationships/image" Target="../media/image13.png"/><Relationship Id="rId30" Type="http://schemas.openxmlformats.org/officeDocument/2006/relationships/image" Target="../media/image14.png"/><Relationship Id="rId31" Type="http://schemas.openxmlformats.org/officeDocument/2006/relationships/image" Target="../media/image15.png"/><Relationship Id="rId32" Type="http://schemas.openxmlformats.org/officeDocument/2006/relationships/image" Target="../media/image16.png"/><Relationship Id="rId33" Type="http://schemas.openxmlformats.org/officeDocument/2006/relationships/image" Target="../media/image17.png"/><Relationship Id="rId34" Type="http://schemas.openxmlformats.org/officeDocument/2006/relationships/image" Target="../media/image18.png"/><Relationship Id="rId35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hyperlink" Target="file:///home/hs/rang/ros2_dashboard/ros2_d/final_final.mp4" TargetMode="External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>
            <a:off x="0" y="0"/>
            <a:ext cx="12184920" cy="16416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11" name=""/>
          <p:cNvSpPr/>
          <p:nvPr/>
        </p:nvSpPr>
        <p:spPr>
          <a:xfrm>
            <a:off x="685800" y="685800"/>
            <a:ext cx="2850480" cy="316800"/>
          </a:xfrm>
          <a:prstGeom prst="roundRect">
            <a:avLst>
              <a:gd name="adj" fmla="val 23529"/>
            </a:avLst>
          </a:prstGeom>
          <a:solidFill>
            <a:srgbClr val="e8f0f8"/>
          </a:solidFill>
          <a:ln w="9360">
            <a:solidFill>
              <a:srgbClr val="e8f0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2" name=""/>
          <p:cNvSpPr/>
          <p:nvPr/>
        </p:nvSpPr>
        <p:spPr>
          <a:xfrm>
            <a:off x="762120" y="714240"/>
            <a:ext cx="269784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2304a"/>
                </a:solidFill>
                <a:latin typeface="Calibri"/>
                <a:ea typeface="Calibri"/>
              </a:rPr>
              <a:t>ROS2 · rclpy · FastAPI · React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" name=""/>
          <p:cNvSpPr/>
          <p:nvPr/>
        </p:nvSpPr>
        <p:spPr>
          <a:xfrm>
            <a:off x="685800" y="1504800"/>
            <a:ext cx="7231680" cy="14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ROS2 Communication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Monitor Dashboard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" name=""/>
          <p:cNvSpPr/>
          <p:nvPr/>
        </p:nvSpPr>
        <p:spPr>
          <a:xfrm>
            <a:off x="723960" y="3143160"/>
            <a:ext cx="656496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870" spc="-1" strike="noStrike">
                <a:solidFill>
                  <a:srgbClr val="008b8b"/>
                </a:solidFill>
                <a:latin typeface="Calibri"/>
                <a:ea typeface="Calibri"/>
              </a:rPr>
              <a:t>실시간 통신 모니터링과 </a:t>
            </a:r>
            <a:r>
              <a:rPr b="1" lang="en-US" sz="187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" name=""/>
          <p:cNvSpPr/>
          <p:nvPr/>
        </p:nvSpPr>
        <p:spPr>
          <a:xfrm>
            <a:off x="723960" y="3714840"/>
            <a:ext cx="666036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상태를 한눈에 보고</a:t>
            </a: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필요한 통신을 직접 실행하는 웹 대시보드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" name=""/>
          <p:cNvSpPr/>
          <p:nvPr/>
        </p:nvSpPr>
        <p:spPr>
          <a:xfrm>
            <a:off x="8477280" y="1285920"/>
            <a:ext cx="1992960" cy="1992960"/>
          </a:xfrm>
          <a:prstGeom prst="ellipse">
            <a:avLst/>
          </a:prstGeom>
          <a:solidFill>
            <a:srgbClr val="dff4f2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7" name=""/>
          <p:cNvSpPr/>
          <p:nvPr/>
        </p:nvSpPr>
        <p:spPr>
          <a:xfrm>
            <a:off x="8858160" y="1952640"/>
            <a:ext cx="123120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50" spc="-1" strike="noStrike">
                <a:solidFill>
                  <a:srgbClr val="008b8b"/>
                </a:solidFill>
                <a:latin typeface="Calibri"/>
                <a:ea typeface="Calibri"/>
              </a:rPr>
              <a:t>ROS2</a:t>
            </a:r>
            <a:endParaRPr b="0" lang="en-US" sz="2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" name=""/>
          <p:cNvSpPr/>
          <p:nvPr/>
        </p:nvSpPr>
        <p:spPr>
          <a:xfrm>
            <a:off x="7477200" y="3905280"/>
            <a:ext cx="3993480" cy="99288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9" name=""/>
          <p:cNvSpPr/>
          <p:nvPr/>
        </p:nvSpPr>
        <p:spPr>
          <a:xfrm>
            <a:off x="7715160" y="4095720"/>
            <a:ext cx="15166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2304a"/>
                </a:solidFill>
                <a:latin typeface="Calibri"/>
                <a:ea typeface="Calibri"/>
              </a:rPr>
              <a:t>MONITOR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" name=""/>
          <p:cNvSpPr/>
          <p:nvPr/>
        </p:nvSpPr>
        <p:spPr>
          <a:xfrm>
            <a:off x="7715160" y="4438800"/>
            <a:ext cx="151668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관찰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" name=""/>
          <p:cNvSpPr/>
          <p:nvPr/>
        </p:nvSpPr>
        <p:spPr>
          <a:xfrm>
            <a:off x="9315360" y="4210200"/>
            <a:ext cx="278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cbd7e1"/>
                </a:solidFill>
                <a:latin typeface="Calibri"/>
                <a:ea typeface="Calibri"/>
              </a:rPr>
              <a:t>+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" name=""/>
          <p:cNvSpPr/>
          <p:nvPr/>
        </p:nvSpPr>
        <p:spPr>
          <a:xfrm>
            <a:off x="9715680" y="4095720"/>
            <a:ext cx="15166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" name=""/>
          <p:cNvSpPr/>
          <p:nvPr/>
        </p:nvSpPr>
        <p:spPr>
          <a:xfrm>
            <a:off x="9715680" y="4438800"/>
            <a:ext cx="151668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직접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" name=""/>
          <p:cNvSpPr/>
          <p:nvPr/>
        </p:nvSpPr>
        <p:spPr>
          <a:xfrm>
            <a:off x="723960" y="6095880"/>
            <a:ext cx="24692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50" spc="-1" strike="noStrike">
                <a:solidFill>
                  <a:srgbClr val="5b6b78"/>
                </a:solidFill>
                <a:latin typeface="Calibri"/>
                <a:ea typeface="Calibri"/>
              </a:rPr>
              <a:t>기능 중심 발표 자료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609480" y="266760"/>
            <a:ext cx="208836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" name=""/>
          <p:cNvSpPr/>
          <p:nvPr/>
        </p:nvSpPr>
        <p:spPr>
          <a:xfrm>
            <a:off x="609480" y="552600"/>
            <a:ext cx="1027980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보이지 않던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통신을 화면으로 확인합니다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" name=""/>
          <p:cNvSpPr/>
          <p:nvPr/>
        </p:nvSpPr>
        <p:spPr>
          <a:xfrm>
            <a:off x="609480" y="1047600"/>
            <a:ext cx="104702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목록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관계를 자동으로 모으고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등록한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로 실제 통신도 시험합니다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" name=""/>
          <p:cNvSpPr/>
          <p:nvPr/>
        </p:nvSpPr>
        <p:spPr>
          <a:xfrm>
            <a:off x="11064240" y="292680"/>
            <a:ext cx="499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" name=""/>
          <p:cNvSpPr/>
          <p:nvPr/>
        </p:nvSpPr>
        <p:spPr>
          <a:xfrm>
            <a:off x="666720" y="1790640"/>
            <a:ext cx="3326400" cy="3135960"/>
          </a:xfrm>
          <a:prstGeom prst="roundRect">
            <a:avLst>
              <a:gd name="adj" fmla="val 2424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" name=""/>
          <p:cNvSpPr/>
          <p:nvPr/>
        </p:nvSpPr>
        <p:spPr>
          <a:xfrm>
            <a:off x="666720" y="1790640"/>
            <a:ext cx="59400" cy="3135960"/>
          </a:xfrm>
          <a:prstGeom prst="rect">
            <a:avLst/>
          </a:prstGeom>
          <a:solidFill>
            <a:srgbClr val="12304a"/>
          </a:solidFill>
          <a:ln w="9360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1" name=""/>
          <p:cNvSpPr/>
          <p:nvPr/>
        </p:nvSpPr>
        <p:spPr>
          <a:xfrm>
            <a:off x="895320" y="1943280"/>
            <a:ext cx="294552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①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상태 확인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" name=""/>
          <p:cNvSpPr/>
          <p:nvPr/>
        </p:nvSpPr>
        <p:spPr>
          <a:xfrm>
            <a:off x="895320" y="2286000"/>
            <a:ext cx="2945520" cy="25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Node, Topic, Service, Action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현재 존재 여부와 통신 상태를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" name=""/>
          <p:cNvSpPr/>
          <p:nvPr/>
        </p:nvSpPr>
        <p:spPr>
          <a:xfrm>
            <a:off x="4429080" y="1790640"/>
            <a:ext cx="3326400" cy="3135960"/>
          </a:xfrm>
          <a:prstGeom prst="roundRect">
            <a:avLst>
              <a:gd name="adj" fmla="val 2424"/>
            </a:avLst>
          </a:prstGeom>
          <a:solidFill>
            <a:srgbClr val="f1eff9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" name=""/>
          <p:cNvSpPr/>
          <p:nvPr/>
        </p:nvSpPr>
        <p:spPr>
          <a:xfrm>
            <a:off x="4429080" y="1790640"/>
            <a:ext cx="59400" cy="3135960"/>
          </a:xfrm>
          <a:prstGeom prst="rect">
            <a:avLst/>
          </a:prstGeom>
          <a:solidFill>
            <a:srgbClr val="7568b4"/>
          </a:solidFill>
          <a:ln w="9360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5" name=""/>
          <p:cNvSpPr/>
          <p:nvPr/>
        </p:nvSpPr>
        <p:spPr>
          <a:xfrm>
            <a:off x="4657680" y="1943280"/>
            <a:ext cx="294552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②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관계 이해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" name=""/>
          <p:cNvSpPr/>
          <p:nvPr/>
        </p:nvSpPr>
        <p:spPr>
          <a:xfrm>
            <a:off x="4657680" y="2286000"/>
            <a:ext cx="2945520" cy="25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어떤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 발행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구독하고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요청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응답하는지 연결 관계를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" name=""/>
          <p:cNvSpPr/>
          <p:nvPr/>
        </p:nvSpPr>
        <p:spPr>
          <a:xfrm>
            <a:off x="8191440" y="1790640"/>
            <a:ext cx="3326400" cy="3135960"/>
          </a:xfrm>
          <a:prstGeom prst="roundRect">
            <a:avLst>
              <a:gd name="adj" fmla="val 2424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8" name=""/>
          <p:cNvSpPr/>
          <p:nvPr/>
        </p:nvSpPr>
        <p:spPr>
          <a:xfrm>
            <a:off x="8191440" y="1790640"/>
            <a:ext cx="59400" cy="313596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9" name=""/>
          <p:cNvSpPr/>
          <p:nvPr/>
        </p:nvSpPr>
        <p:spPr>
          <a:xfrm>
            <a:off x="8420040" y="1943280"/>
            <a:ext cx="294552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③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" name=""/>
          <p:cNvSpPr/>
          <p:nvPr/>
        </p:nvSpPr>
        <p:spPr>
          <a:xfrm>
            <a:off x="8420040" y="2286000"/>
            <a:ext cx="2945520" cy="25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등록한 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Publish, Call,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Goal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실행 결과와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확인합니다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" name=""/>
          <p:cNvSpPr/>
          <p:nvPr/>
        </p:nvSpPr>
        <p:spPr>
          <a:xfrm>
            <a:off x="800280" y="5391000"/>
            <a:ext cx="10584720" cy="58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Node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기능을 수행하는 실행 단위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Topic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계속 전달되는 채널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Service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요청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+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응답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Action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진행 상황이 있는 작업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3" name=""/>
          <p:cNvSpPr/>
          <p:nvPr/>
        </p:nvSpPr>
        <p:spPr>
          <a:xfrm>
            <a:off x="609480" y="6534000"/>
            <a:ext cx="109656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609480" y="266760"/>
            <a:ext cx="208836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" name=""/>
          <p:cNvSpPr/>
          <p:nvPr/>
        </p:nvSpPr>
        <p:spPr>
          <a:xfrm>
            <a:off x="609480" y="552600"/>
            <a:ext cx="1027980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Graph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상태가 웹 화면까지 전달되는 구조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" name=""/>
          <p:cNvSpPr/>
          <p:nvPr/>
        </p:nvSpPr>
        <p:spPr>
          <a:xfrm>
            <a:off x="609480" y="1047600"/>
            <a:ext cx="104702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Backend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ROS2 Graph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주기적으로 수집하고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거쳐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화면에 출력합니다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 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" name=""/>
          <p:cNvSpPr/>
          <p:nvPr/>
        </p:nvSpPr>
        <p:spPr>
          <a:xfrm>
            <a:off x="11064240" y="292680"/>
            <a:ext cx="499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" name=""/>
          <p:cNvSpPr/>
          <p:nvPr/>
        </p:nvSpPr>
        <p:spPr>
          <a:xfrm>
            <a:off x="263628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0" name=""/>
          <p:cNvSpPr/>
          <p:nvPr/>
        </p:nvSpPr>
        <p:spPr>
          <a:xfrm>
            <a:off x="609480" y="2133720"/>
            <a:ext cx="2019600" cy="71676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1" name=""/>
          <p:cNvSpPr/>
          <p:nvPr/>
        </p:nvSpPr>
        <p:spPr>
          <a:xfrm>
            <a:off x="704880" y="2228760"/>
            <a:ext cx="1829160" cy="5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ROS2 Graph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현재 통신 관계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" name=""/>
          <p:cNvSpPr/>
          <p:nvPr/>
        </p:nvSpPr>
        <p:spPr>
          <a:xfrm>
            <a:off x="487296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3" name=""/>
          <p:cNvSpPr/>
          <p:nvPr/>
        </p:nvSpPr>
        <p:spPr>
          <a:xfrm>
            <a:off x="2846160" y="2133720"/>
            <a:ext cx="2019600" cy="71676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4" name=""/>
          <p:cNvSpPr/>
          <p:nvPr/>
        </p:nvSpPr>
        <p:spPr>
          <a:xfrm>
            <a:off x="2941200" y="2228760"/>
            <a:ext cx="1829160" cy="5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Rclpy Backend Graph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조회 </a:t>
            </a: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수집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5" name=""/>
          <p:cNvSpPr/>
          <p:nvPr/>
        </p:nvSpPr>
        <p:spPr>
          <a:xfrm>
            <a:off x="710928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6" name=""/>
          <p:cNvSpPr/>
          <p:nvPr/>
        </p:nvSpPr>
        <p:spPr>
          <a:xfrm>
            <a:off x="5082480" y="2133720"/>
            <a:ext cx="2019600" cy="716760"/>
          </a:xfrm>
          <a:prstGeom prst="roundRect">
            <a:avLst>
              <a:gd name="adj" fmla="val 10526"/>
            </a:avLst>
          </a:prstGeom>
          <a:solidFill>
            <a:srgbClr val="eef2f6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7" name=""/>
          <p:cNvSpPr/>
          <p:nvPr/>
        </p:nvSpPr>
        <p:spPr>
          <a:xfrm>
            <a:off x="5177880" y="2228760"/>
            <a:ext cx="1829160" cy="5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Runtime cache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최신 상태 보관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8" name=""/>
          <p:cNvSpPr/>
          <p:nvPr/>
        </p:nvSpPr>
        <p:spPr>
          <a:xfrm>
            <a:off x="9345600" y="2495520"/>
            <a:ext cx="20988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9" name=""/>
          <p:cNvSpPr/>
          <p:nvPr/>
        </p:nvSpPr>
        <p:spPr>
          <a:xfrm>
            <a:off x="7319160" y="2133720"/>
            <a:ext cx="2019600" cy="71676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0" name=""/>
          <p:cNvSpPr/>
          <p:nvPr/>
        </p:nvSpPr>
        <p:spPr>
          <a:xfrm>
            <a:off x="7414200" y="2228760"/>
            <a:ext cx="1829160" cy="5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REST / WebSocket </a:t>
            </a:r>
            <a:br>
              <a:rPr sz="1130"/>
            </a:b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조회 결과 전달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1" name=""/>
          <p:cNvSpPr/>
          <p:nvPr/>
        </p:nvSpPr>
        <p:spPr>
          <a:xfrm>
            <a:off x="9555480" y="2133720"/>
            <a:ext cx="2019600" cy="71676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2" name=""/>
          <p:cNvSpPr/>
          <p:nvPr/>
        </p:nvSpPr>
        <p:spPr>
          <a:xfrm>
            <a:off x="9650880" y="2228760"/>
            <a:ext cx="1829160" cy="5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React Frontend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목록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상세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시각화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3" name=""/>
          <p:cNvSpPr/>
          <p:nvPr/>
        </p:nvSpPr>
        <p:spPr>
          <a:xfrm>
            <a:off x="723960" y="3390840"/>
            <a:ext cx="3269520" cy="16120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4" name=""/>
          <p:cNvSpPr/>
          <p:nvPr/>
        </p:nvSpPr>
        <p:spPr>
          <a:xfrm>
            <a:off x="723960" y="3390840"/>
            <a:ext cx="59400" cy="1612080"/>
          </a:xfrm>
          <a:prstGeom prst="rect">
            <a:avLst/>
          </a:prstGeom>
          <a:solidFill>
            <a:srgbClr val="12304a"/>
          </a:solidFill>
          <a:ln w="9360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5" name=""/>
          <p:cNvSpPr/>
          <p:nvPr/>
        </p:nvSpPr>
        <p:spPr>
          <a:xfrm>
            <a:off x="952560" y="3543480"/>
            <a:ext cx="28882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왜 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cache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를 쓰나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6" name=""/>
          <p:cNvSpPr/>
          <p:nvPr/>
        </p:nvSpPr>
        <p:spPr>
          <a:xfrm>
            <a:off x="952560" y="3886200"/>
            <a:ext cx="288828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화면 요청마다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다시 스캔하지 않고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이미 모은 최신 상태를 빠르게 반환합니다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7" name=""/>
          <p:cNvSpPr/>
          <p:nvPr/>
        </p:nvSpPr>
        <p:spPr>
          <a:xfrm>
            <a:off x="4457880" y="3390840"/>
            <a:ext cx="3269520" cy="16120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8" name=""/>
          <p:cNvSpPr/>
          <p:nvPr/>
        </p:nvSpPr>
        <p:spPr>
          <a:xfrm>
            <a:off x="4457880" y="3390840"/>
            <a:ext cx="59400" cy="1612080"/>
          </a:xfrm>
          <a:prstGeom prst="rect">
            <a:avLst/>
          </a:prstGeom>
          <a:solidFill>
            <a:srgbClr val="7568b4"/>
          </a:solidFill>
          <a:ln w="9360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9" name=""/>
          <p:cNvSpPr/>
          <p:nvPr/>
        </p:nvSpPr>
        <p:spPr>
          <a:xfrm>
            <a:off x="4686480" y="3543480"/>
            <a:ext cx="28882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REST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0" name=""/>
          <p:cNvSpPr/>
          <p:nvPr/>
        </p:nvSpPr>
        <p:spPr>
          <a:xfrm>
            <a:off x="4686480" y="3886200"/>
            <a:ext cx="288828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Topic·Service·Action·Node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상세 목록과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을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1" name=""/>
          <p:cNvSpPr/>
          <p:nvPr/>
        </p:nvSpPr>
        <p:spPr>
          <a:xfrm>
            <a:off x="8191440" y="3390840"/>
            <a:ext cx="3269520" cy="16120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2" name=""/>
          <p:cNvSpPr/>
          <p:nvPr/>
        </p:nvSpPr>
        <p:spPr>
          <a:xfrm>
            <a:off x="8191440" y="3390840"/>
            <a:ext cx="59400" cy="161208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73" name=""/>
          <p:cNvSpPr/>
          <p:nvPr/>
        </p:nvSpPr>
        <p:spPr>
          <a:xfrm>
            <a:off x="8420040" y="3543480"/>
            <a:ext cx="28882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WebSocket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4" name=""/>
          <p:cNvSpPr/>
          <p:nvPr/>
        </p:nvSpPr>
        <p:spPr>
          <a:xfrm>
            <a:off x="8420040" y="3886200"/>
            <a:ext cx="288828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연결 상태와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Alert count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같은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가벼운 요약을 보조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5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6" name=""/>
          <p:cNvSpPr/>
          <p:nvPr/>
        </p:nvSpPr>
        <p:spPr>
          <a:xfrm>
            <a:off x="609480" y="6534000"/>
            <a:ext cx="109656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main.py · ros_monitor.py · routers/monitoring.py · 02_backend_flow.md · 08_websocket_flow.md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7" name="Rectangle 3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1"/>
          <p:cNvSpPr/>
          <p:nvPr/>
        </p:nvSpPr>
        <p:spPr>
          <a:xfrm>
            <a:off x="1230480" y="320040"/>
            <a:ext cx="956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22948"/>
                </a:solidFill>
                <a:latin typeface="Malgun Gothic"/>
                <a:ea typeface="Calibri"/>
              </a:rPr>
              <a:t>ARCHITECTURE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9" name="TextBox 14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0" name="TextBox 30"/>
          <p:cNvSpPr/>
          <p:nvPr/>
        </p:nvSpPr>
        <p:spPr>
          <a:xfrm>
            <a:off x="4386240" y="576000"/>
            <a:ext cx="3425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400" spc="-1" strike="noStrike">
                <a:solidFill>
                  <a:srgbClr val="022948"/>
                </a:solidFill>
                <a:latin typeface="Malgun Gothic"/>
                <a:ea typeface="Calibri"/>
              </a:rPr>
              <a:t>사용 기술 스택과 사용 목적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2445840" y="1080000"/>
            <a:ext cx="73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와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에 사용한 핵심 기술과 각 기술의 역할을 정리했습니다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2" name="Rectangle 82"/>
          <p:cNvSpPr/>
          <p:nvPr/>
        </p:nvSpPr>
        <p:spPr>
          <a:xfrm>
            <a:off x="696960" y="1463040"/>
            <a:ext cx="10998720" cy="1504080"/>
          </a:xfrm>
          <a:prstGeom prst="rect">
            <a:avLst/>
          </a:prstGeom>
          <a:solidFill>
            <a:srgbClr val="ffffff"/>
          </a:solidFill>
          <a:ln w="12600">
            <a:solidFill>
              <a:srgbClr val="c8d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3" name="Rectangle 83"/>
          <p:cNvSpPr/>
          <p:nvPr/>
        </p:nvSpPr>
        <p:spPr>
          <a:xfrm>
            <a:off x="696960" y="1486080"/>
            <a:ext cx="10998720" cy="498240"/>
          </a:xfrm>
          <a:prstGeom prst="rect">
            <a:avLst/>
          </a:prstGeom>
          <a:solidFill>
            <a:srgbClr val="f6f9fc"/>
          </a:solidFill>
          <a:ln w="12600">
            <a:solidFill>
              <a:srgbClr val="c8d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4" name="Rectangle 84"/>
          <p:cNvSpPr/>
          <p:nvPr/>
        </p:nvSpPr>
        <p:spPr>
          <a:xfrm>
            <a:off x="696960" y="1980000"/>
            <a:ext cx="10998720" cy="432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5" name="Rectangle 85"/>
          <p:cNvSpPr/>
          <p:nvPr/>
        </p:nvSpPr>
        <p:spPr>
          <a:xfrm>
            <a:off x="696960" y="2460600"/>
            <a:ext cx="10998720" cy="432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6" name="Rectangle 86"/>
          <p:cNvSpPr/>
          <p:nvPr/>
        </p:nvSpPr>
        <p:spPr>
          <a:xfrm>
            <a:off x="2011680" y="1463040"/>
            <a:ext cx="4320" cy="150408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7" name="TextBox 87"/>
          <p:cNvSpPr/>
          <p:nvPr/>
        </p:nvSpPr>
        <p:spPr>
          <a:xfrm>
            <a:off x="1098360" y="1613520"/>
            <a:ext cx="301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구분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8" name="TextBox 88"/>
          <p:cNvSpPr/>
          <p:nvPr/>
        </p:nvSpPr>
        <p:spPr>
          <a:xfrm>
            <a:off x="5473800" y="1613520"/>
            <a:ext cx="6505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기술 스택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9" name="TextBox 89"/>
          <p:cNvSpPr/>
          <p:nvPr/>
        </p:nvSpPr>
        <p:spPr>
          <a:xfrm>
            <a:off x="1002960" y="2124360"/>
            <a:ext cx="6123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0" name="TextBox 90"/>
          <p:cNvSpPr/>
          <p:nvPr/>
        </p:nvSpPr>
        <p:spPr>
          <a:xfrm>
            <a:off x="982440" y="2627280"/>
            <a:ext cx="6534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1" name="Rectangle 101"/>
          <p:cNvSpPr/>
          <p:nvPr/>
        </p:nvSpPr>
        <p:spPr>
          <a:xfrm>
            <a:off x="594360" y="3780000"/>
            <a:ext cx="68400" cy="2156040"/>
          </a:xfrm>
          <a:prstGeom prst="rect">
            <a:avLst/>
          </a:prstGeom>
          <a:solidFill>
            <a:srgbClr val="0a9e9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92" name="TextBox 103"/>
          <p:cNvSpPr/>
          <p:nvPr/>
        </p:nvSpPr>
        <p:spPr>
          <a:xfrm>
            <a:off x="2000160" y="3823560"/>
            <a:ext cx="314568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Topic, Service, Action, Node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 구성된</a:t>
            </a:r>
            <a:br>
              <a:rPr sz="1150"/>
            </a:b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로봇 통신 환경 플랫폼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3" name="TextBox 105"/>
          <p:cNvSpPr/>
          <p:nvPr/>
        </p:nvSpPr>
        <p:spPr>
          <a:xfrm>
            <a:off x="2000160" y="4350960"/>
            <a:ext cx="314568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실행중인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리소스와 연결관계를 조회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4" name="TextBox 107"/>
          <p:cNvSpPr/>
          <p:nvPr/>
        </p:nvSpPr>
        <p:spPr>
          <a:xfrm>
            <a:off x="2000160" y="4790880"/>
            <a:ext cx="314568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Python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환경에서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Node, Subscription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5" name="TextBox 109"/>
          <p:cNvSpPr/>
          <p:nvPr/>
        </p:nvSpPr>
        <p:spPr>
          <a:xfrm>
            <a:off x="1980000" y="5223240"/>
            <a:ext cx="314568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수집된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상태와 기능을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Front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에 제공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6" name="TextBox 111"/>
          <p:cNvSpPr/>
          <p:nvPr/>
        </p:nvSpPr>
        <p:spPr>
          <a:xfrm>
            <a:off x="7250040" y="3911040"/>
            <a:ext cx="3395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연결 상태와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Alert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요약을 실시간 전달하는 통신채널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7" name="TextBox 113"/>
          <p:cNvSpPr/>
          <p:nvPr/>
        </p:nvSpPr>
        <p:spPr>
          <a:xfrm>
            <a:off x="7250040" y="4350960"/>
            <a:ext cx="3395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상태를 실시간 반영하기 위한 동적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UI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8" name="TextBox 115"/>
          <p:cNvSpPr/>
          <p:nvPr/>
        </p:nvSpPr>
        <p:spPr>
          <a:xfrm>
            <a:off x="7250040" y="4790880"/>
            <a:ext cx="3395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React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개발 환경 단순화 및 빠른 화면 수정 과 실행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9" name="TextBox 117"/>
          <p:cNvSpPr/>
          <p:nvPr/>
        </p:nvSpPr>
        <p:spPr>
          <a:xfrm>
            <a:off x="7250040" y="5231160"/>
            <a:ext cx="3395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Node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와 통신 관계를 확대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,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이동 가능한 그래프로 시각화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0" name="Picture 101" descr="image.png"/>
          <p:cNvPicPr/>
          <p:nvPr/>
        </p:nvPicPr>
        <p:blipFill>
          <a:blip r:embed="rId1"/>
          <a:stretch/>
        </p:blipFill>
        <p:spPr>
          <a:xfrm>
            <a:off x="2180160" y="2070000"/>
            <a:ext cx="755640" cy="295560"/>
          </a:xfrm>
          <a:prstGeom prst="rect">
            <a:avLst/>
          </a:prstGeom>
          <a:ln w="0">
            <a:noFill/>
          </a:ln>
        </p:spPr>
      </p:pic>
      <p:pic>
        <p:nvPicPr>
          <p:cNvPr id="101" name="Picture 102" descr="image.png"/>
          <p:cNvPicPr/>
          <p:nvPr/>
        </p:nvPicPr>
        <p:blipFill>
          <a:blip r:embed="rId2"/>
          <a:stretch/>
        </p:blipFill>
        <p:spPr>
          <a:xfrm>
            <a:off x="2234160" y="2139120"/>
            <a:ext cx="157680" cy="157680"/>
          </a:xfrm>
          <a:prstGeom prst="rect">
            <a:avLst/>
          </a:prstGeom>
          <a:ln w="0">
            <a:noFill/>
          </a:ln>
        </p:spPr>
      </p:pic>
      <p:sp>
        <p:nvSpPr>
          <p:cNvPr id="102" name="TextBox 34"/>
          <p:cNvSpPr/>
          <p:nvPr/>
        </p:nvSpPr>
        <p:spPr>
          <a:xfrm>
            <a:off x="2504160" y="2142360"/>
            <a:ext cx="325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3" name="Picture 104" descr="image.png"/>
          <p:cNvPicPr/>
          <p:nvPr/>
        </p:nvPicPr>
        <p:blipFill>
          <a:blip r:embed="rId3"/>
          <a:stretch/>
        </p:blipFill>
        <p:spPr>
          <a:xfrm>
            <a:off x="3049920" y="2070000"/>
            <a:ext cx="1145520" cy="295560"/>
          </a:xfrm>
          <a:prstGeom prst="rect">
            <a:avLst/>
          </a:prstGeom>
          <a:ln w="0">
            <a:noFill/>
          </a:ln>
        </p:spPr>
      </p:pic>
      <p:pic>
        <p:nvPicPr>
          <p:cNvPr id="104" name="Picture 105" descr="image.png"/>
          <p:cNvPicPr/>
          <p:nvPr/>
        </p:nvPicPr>
        <p:blipFill>
          <a:blip r:embed="rId4"/>
          <a:stretch/>
        </p:blipFill>
        <p:spPr>
          <a:xfrm>
            <a:off x="3103920" y="2139120"/>
            <a:ext cx="157680" cy="157680"/>
          </a:xfrm>
          <a:prstGeom prst="rect">
            <a:avLst/>
          </a:prstGeom>
          <a:ln w="0">
            <a:noFill/>
          </a:ln>
        </p:spPr>
      </p:pic>
      <p:sp>
        <p:nvSpPr>
          <p:cNvPr id="105" name="TextBox 106"/>
          <p:cNvSpPr/>
          <p:nvPr/>
        </p:nvSpPr>
        <p:spPr>
          <a:xfrm>
            <a:off x="3388680" y="2142360"/>
            <a:ext cx="6868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6" name="Picture 107" descr="image.png"/>
          <p:cNvPicPr/>
          <p:nvPr/>
        </p:nvPicPr>
        <p:blipFill>
          <a:blip r:embed="rId5"/>
          <a:stretch/>
        </p:blipFill>
        <p:spPr>
          <a:xfrm>
            <a:off x="4309920" y="2070000"/>
            <a:ext cx="815760" cy="295560"/>
          </a:xfrm>
          <a:prstGeom prst="rect">
            <a:avLst/>
          </a:prstGeom>
          <a:ln w="0">
            <a:noFill/>
          </a:ln>
        </p:spPr>
      </p:pic>
      <p:pic>
        <p:nvPicPr>
          <p:cNvPr id="107" name="Picture 108" descr="image.png"/>
          <p:cNvPicPr/>
          <p:nvPr/>
        </p:nvPicPr>
        <p:blipFill>
          <a:blip r:embed="rId6"/>
          <a:stretch/>
        </p:blipFill>
        <p:spPr>
          <a:xfrm>
            <a:off x="4363920" y="2139120"/>
            <a:ext cx="157680" cy="157680"/>
          </a:xfrm>
          <a:prstGeom prst="rect">
            <a:avLst/>
          </a:prstGeom>
          <a:ln w="0">
            <a:noFill/>
          </a:ln>
        </p:spPr>
      </p:pic>
      <p:sp>
        <p:nvSpPr>
          <p:cNvPr id="108" name="TextBox 36"/>
          <p:cNvSpPr/>
          <p:nvPr/>
        </p:nvSpPr>
        <p:spPr>
          <a:xfrm>
            <a:off x="4630680" y="2142360"/>
            <a:ext cx="3927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9" name="Picture 110" descr="image.png"/>
          <p:cNvPicPr/>
          <p:nvPr/>
        </p:nvPicPr>
        <p:blipFill>
          <a:blip r:embed="rId7"/>
          <a:stretch/>
        </p:blipFill>
        <p:spPr>
          <a:xfrm>
            <a:off x="5240160" y="2070000"/>
            <a:ext cx="925560" cy="295560"/>
          </a:xfrm>
          <a:prstGeom prst="rect">
            <a:avLst/>
          </a:prstGeom>
          <a:ln w="0">
            <a:noFill/>
          </a:ln>
        </p:spPr>
      </p:pic>
      <p:pic>
        <p:nvPicPr>
          <p:cNvPr id="110" name="Picture 111" descr="image.png"/>
          <p:cNvPicPr/>
          <p:nvPr/>
        </p:nvPicPr>
        <p:blipFill>
          <a:blip r:embed="rId8"/>
          <a:stretch/>
        </p:blipFill>
        <p:spPr>
          <a:xfrm>
            <a:off x="5294160" y="2139120"/>
            <a:ext cx="157680" cy="157680"/>
          </a:xfrm>
          <a:prstGeom prst="rect">
            <a:avLst/>
          </a:prstGeom>
          <a:ln w="0">
            <a:noFill/>
          </a:ln>
        </p:spPr>
      </p:pic>
      <p:sp>
        <p:nvSpPr>
          <p:cNvPr id="111" name="TextBox 112"/>
          <p:cNvSpPr/>
          <p:nvPr/>
        </p:nvSpPr>
        <p:spPr>
          <a:xfrm>
            <a:off x="5560920" y="2142360"/>
            <a:ext cx="5025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2" name="Picture 113" descr="image.png"/>
          <p:cNvPicPr/>
          <p:nvPr/>
        </p:nvPicPr>
        <p:blipFill>
          <a:blip r:embed="rId9"/>
          <a:stretch/>
        </p:blipFill>
        <p:spPr>
          <a:xfrm>
            <a:off x="6279840" y="2070000"/>
            <a:ext cx="1215720" cy="295560"/>
          </a:xfrm>
          <a:prstGeom prst="rect">
            <a:avLst/>
          </a:prstGeom>
          <a:ln w="0">
            <a:noFill/>
          </a:ln>
        </p:spPr>
      </p:pic>
      <p:pic>
        <p:nvPicPr>
          <p:cNvPr id="113" name="Picture 114" descr="image.png"/>
          <p:cNvPicPr/>
          <p:nvPr/>
        </p:nvPicPr>
        <p:blipFill>
          <a:blip r:embed="rId10"/>
          <a:stretch/>
        </p:blipFill>
        <p:spPr>
          <a:xfrm>
            <a:off x="6333840" y="2139120"/>
            <a:ext cx="157680" cy="157680"/>
          </a:xfrm>
          <a:prstGeom prst="rect">
            <a:avLst/>
          </a:prstGeom>
          <a:ln w="0">
            <a:noFill/>
          </a:ln>
        </p:spPr>
      </p:pic>
      <p:sp>
        <p:nvSpPr>
          <p:cNvPr id="114" name="TextBox 38"/>
          <p:cNvSpPr/>
          <p:nvPr/>
        </p:nvSpPr>
        <p:spPr>
          <a:xfrm>
            <a:off x="6619320" y="2142360"/>
            <a:ext cx="755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5" name="Picture 116" descr="image.png"/>
          <p:cNvPicPr/>
          <p:nvPr/>
        </p:nvPicPr>
        <p:blipFill>
          <a:blip r:embed="rId11"/>
          <a:stretch/>
        </p:blipFill>
        <p:spPr>
          <a:xfrm>
            <a:off x="2180160" y="2570040"/>
            <a:ext cx="815760" cy="295560"/>
          </a:xfrm>
          <a:prstGeom prst="rect">
            <a:avLst/>
          </a:prstGeom>
          <a:ln w="0">
            <a:noFill/>
          </a:ln>
        </p:spPr>
      </p:pic>
      <p:pic>
        <p:nvPicPr>
          <p:cNvPr id="116" name="Picture 117" descr="image.png"/>
          <p:cNvPicPr/>
          <p:nvPr/>
        </p:nvPicPr>
        <p:blipFill>
          <a:blip r:embed="rId12"/>
          <a:stretch/>
        </p:blipFill>
        <p:spPr>
          <a:xfrm>
            <a:off x="2234160" y="2639160"/>
            <a:ext cx="157680" cy="157680"/>
          </a:xfrm>
          <a:prstGeom prst="rect">
            <a:avLst/>
          </a:prstGeom>
          <a:ln w="0">
            <a:noFill/>
          </a:ln>
        </p:spPr>
      </p:pic>
      <p:sp>
        <p:nvSpPr>
          <p:cNvPr id="117" name="TextBox 118"/>
          <p:cNvSpPr/>
          <p:nvPr/>
        </p:nvSpPr>
        <p:spPr>
          <a:xfrm>
            <a:off x="2501280" y="2642400"/>
            <a:ext cx="3913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8" name="Picture 119" descr="image.png"/>
          <p:cNvPicPr/>
          <p:nvPr/>
        </p:nvPicPr>
        <p:blipFill>
          <a:blip r:embed="rId13"/>
          <a:stretch/>
        </p:blipFill>
        <p:spPr>
          <a:xfrm>
            <a:off x="3110040" y="2570040"/>
            <a:ext cx="695520" cy="295560"/>
          </a:xfrm>
          <a:prstGeom prst="rect">
            <a:avLst/>
          </a:prstGeom>
          <a:ln w="0">
            <a:noFill/>
          </a:ln>
        </p:spPr>
      </p:pic>
      <p:pic>
        <p:nvPicPr>
          <p:cNvPr id="119" name="Picture 120" descr="image.png"/>
          <p:cNvPicPr/>
          <p:nvPr/>
        </p:nvPicPr>
        <p:blipFill>
          <a:blip r:embed="rId14"/>
          <a:stretch/>
        </p:blipFill>
        <p:spPr>
          <a:xfrm>
            <a:off x="3164040" y="2639160"/>
            <a:ext cx="157680" cy="157680"/>
          </a:xfrm>
          <a:prstGeom prst="rect">
            <a:avLst/>
          </a:prstGeom>
          <a:ln w="0">
            <a:noFill/>
          </a:ln>
        </p:spPr>
      </p:pic>
      <p:sp>
        <p:nvSpPr>
          <p:cNvPr id="120" name="TextBox 121"/>
          <p:cNvSpPr/>
          <p:nvPr/>
        </p:nvSpPr>
        <p:spPr>
          <a:xfrm>
            <a:off x="3430080" y="264240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1" name="Picture 122" descr="image.png"/>
          <p:cNvPicPr/>
          <p:nvPr/>
        </p:nvPicPr>
        <p:blipFill>
          <a:blip r:embed="rId15"/>
          <a:stretch/>
        </p:blipFill>
        <p:spPr>
          <a:xfrm>
            <a:off x="3920040" y="2570040"/>
            <a:ext cx="1245600" cy="295560"/>
          </a:xfrm>
          <a:prstGeom prst="rect">
            <a:avLst/>
          </a:prstGeom>
          <a:ln w="0">
            <a:noFill/>
          </a:ln>
        </p:spPr>
      </p:pic>
      <p:pic>
        <p:nvPicPr>
          <p:cNvPr id="122" name="Picture 123" descr="image.png"/>
          <p:cNvPicPr/>
          <p:nvPr/>
        </p:nvPicPr>
        <p:blipFill>
          <a:blip r:embed="rId16"/>
          <a:stretch/>
        </p:blipFill>
        <p:spPr>
          <a:xfrm>
            <a:off x="3974040" y="2639160"/>
            <a:ext cx="157680" cy="157680"/>
          </a:xfrm>
          <a:prstGeom prst="rect">
            <a:avLst/>
          </a:prstGeom>
          <a:ln w="0">
            <a:noFill/>
          </a:ln>
        </p:spPr>
      </p:pic>
      <p:sp>
        <p:nvSpPr>
          <p:cNvPr id="123" name="TextBox 124"/>
          <p:cNvSpPr/>
          <p:nvPr/>
        </p:nvSpPr>
        <p:spPr>
          <a:xfrm>
            <a:off x="4259880" y="2642400"/>
            <a:ext cx="784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4" name="TextBox 125"/>
          <p:cNvSpPr/>
          <p:nvPr/>
        </p:nvSpPr>
        <p:spPr>
          <a:xfrm>
            <a:off x="825840" y="3184920"/>
            <a:ext cx="2046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100" spc="-1" strike="noStrike">
                <a:solidFill>
                  <a:srgbClr val="052f4f"/>
                </a:solidFill>
                <a:latin typeface="Malgun Gothic"/>
                <a:ea typeface="Calibri"/>
              </a:rPr>
              <a:t>기술별 사용 목적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5" name="Picture 126" descr="image.png"/>
          <p:cNvPicPr/>
          <p:nvPr/>
        </p:nvPicPr>
        <p:blipFill>
          <a:blip r:embed="rId17"/>
          <a:stretch/>
        </p:blipFill>
        <p:spPr>
          <a:xfrm>
            <a:off x="820080" y="3850200"/>
            <a:ext cx="845640" cy="270720"/>
          </a:xfrm>
          <a:prstGeom prst="rect">
            <a:avLst/>
          </a:prstGeom>
          <a:ln w="0">
            <a:noFill/>
          </a:ln>
        </p:spPr>
      </p:pic>
      <p:pic>
        <p:nvPicPr>
          <p:cNvPr id="126" name="Picture 127" descr="image.png"/>
          <p:cNvPicPr/>
          <p:nvPr/>
        </p:nvPicPr>
        <p:blipFill>
          <a:blip r:embed="rId18"/>
          <a:stretch/>
        </p:blipFill>
        <p:spPr>
          <a:xfrm>
            <a:off x="869400" y="3913560"/>
            <a:ext cx="144360" cy="144360"/>
          </a:xfrm>
          <a:prstGeom prst="rect">
            <a:avLst/>
          </a:prstGeom>
          <a:ln w="0">
            <a:noFill/>
          </a:ln>
        </p:spPr>
      </p:pic>
      <p:sp>
        <p:nvSpPr>
          <p:cNvPr id="127" name="TextBox 128"/>
          <p:cNvSpPr/>
          <p:nvPr/>
        </p:nvSpPr>
        <p:spPr>
          <a:xfrm>
            <a:off x="1180080" y="3909960"/>
            <a:ext cx="3258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8" name="Picture 129" descr="image.png"/>
          <p:cNvPicPr/>
          <p:nvPr/>
        </p:nvPicPr>
        <p:blipFill>
          <a:blip r:embed="rId19"/>
          <a:stretch/>
        </p:blipFill>
        <p:spPr>
          <a:xfrm>
            <a:off x="820080" y="4290120"/>
            <a:ext cx="1045800" cy="270720"/>
          </a:xfrm>
          <a:prstGeom prst="rect">
            <a:avLst/>
          </a:prstGeom>
          <a:ln w="0">
            <a:noFill/>
          </a:ln>
        </p:spPr>
      </p:pic>
      <p:pic>
        <p:nvPicPr>
          <p:cNvPr id="129" name="Picture 130" descr="image.png"/>
          <p:cNvPicPr/>
          <p:nvPr/>
        </p:nvPicPr>
        <p:blipFill>
          <a:blip r:embed="rId20"/>
          <a:stretch/>
        </p:blipFill>
        <p:spPr>
          <a:xfrm>
            <a:off x="869400" y="4353480"/>
            <a:ext cx="144360" cy="144360"/>
          </a:xfrm>
          <a:prstGeom prst="rect">
            <a:avLst/>
          </a:prstGeom>
          <a:ln w="0">
            <a:noFill/>
          </a:ln>
        </p:spPr>
      </p:pic>
      <p:sp>
        <p:nvSpPr>
          <p:cNvPr id="130" name="TextBox 131"/>
          <p:cNvSpPr/>
          <p:nvPr/>
        </p:nvSpPr>
        <p:spPr>
          <a:xfrm>
            <a:off x="1099440" y="4349880"/>
            <a:ext cx="6868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1" name="Picture 132" descr="image.png"/>
          <p:cNvPicPr/>
          <p:nvPr/>
        </p:nvPicPr>
        <p:blipFill>
          <a:blip r:embed="rId21"/>
          <a:stretch/>
        </p:blipFill>
        <p:spPr>
          <a:xfrm>
            <a:off x="820080" y="4730040"/>
            <a:ext cx="845640" cy="270720"/>
          </a:xfrm>
          <a:prstGeom prst="rect">
            <a:avLst/>
          </a:prstGeom>
          <a:ln w="0">
            <a:noFill/>
          </a:ln>
        </p:spPr>
      </p:pic>
      <p:pic>
        <p:nvPicPr>
          <p:cNvPr id="132" name="Picture 133" descr="image.png"/>
          <p:cNvPicPr/>
          <p:nvPr/>
        </p:nvPicPr>
        <p:blipFill>
          <a:blip r:embed="rId22"/>
          <a:stretch/>
        </p:blipFill>
        <p:spPr>
          <a:xfrm>
            <a:off x="869400" y="4793400"/>
            <a:ext cx="144360" cy="144360"/>
          </a:xfrm>
          <a:prstGeom prst="rect">
            <a:avLst/>
          </a:prstGeom>
          <a:ln w="0">
            <a:noFill/>
          </a:ln>
        </p:spPr>
      </p:pic>
      <p:sp>
        <p:nvSpPr>
          <p:cNvPr id="133" name="TextBox 134"/>
          <p:cNvSpPr/>
          <p:nvPr/>
        </p:nvSpPr>
        <p:spPr>
          <a:xfrm>
            <a:off x="1146600" y="4789800"/>
            <a:ext cx="3927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4" name="Picture 135" descr="image.png"/>
          <p:cNvPicPr/>
          <p:nvPr/>
        </p:nvPicPr>
        <p:blipFill>
          <a:blip r:embed="rId23"/>
          <a:stretch/>
        </p:blipFill>
        <p:spPr>
          <a:xfrm>
            <a:off x="820080" y="5170320"/>
            <a:ext cx="845640" cy="270720"/>
          </a:xfrm>
          <a:prstGeom prst="rect">
            <a:avLst/>
          </a:prstGeom>
          <a:ln w="0">
            <a:noFill/>
          </a:ln>
        </p:spPr>
      </p:pic>
      <p:pic>
        <p:nvPicPr>
          <p:cNvPr id="135" name="Picture 136" descr="image.png"/>
          <p:cNvPicPr/>
          <p:nvPr/>
        </p:nvPicPr>
        <p:blipFill>
          <a:blip r:embed="rId24"/>
          <a:stretch/>
        </p:blipFill>
        <p:spPr>
          <a:xfrm>
            <a:off x="869400" y="5233320"/>
            <a:ext cx="144360" cy="144360"/>
          </a:xfrm>
          <a:prstGeom prst="rect">
            <a:avLst/>
          </a:prstGeom>
          <a:ln w="0">
            <a:noFill/>
          </a:ln>
        </p:spPr>
      </p:pic>
      <p:sp>
        <p:nvSpPr>
          <p:cNvPr id="136" name="TextBox 137"/>
          <p:cNvSpPr/>
          <p:nvPr/>
        </p:nvSpPr>
        <p:spPr>
          <a:xfrm>
            <a:off x="1091520" y="5230080"/>
            <a:ext cx="5025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7" name="Picture 138" descr="image.png"/>
          <p:cNvPicPr/>
          <p:nvPr/>
        </p:nvPicPr>
        <p:blipFill>
          <a:blip r:embed="rId25"/>
          <a:stretch/>
        </p:blipFill>
        <p:spPr>
          <a:xfrm>
            <a:off x="5950080" y="3850200"/>
            <a:ext cx="1145520" cy="270720"/>
          </a:xfrm>
          <a:prstGeom prst="rect">
            <a:avLst/>
          </a:prstGeom>
          <a:ln w="0">
            <a:noFill/>
          </a:ln>
        </p:spPr>
      </p:pic>
      <p:pic>
        <p:nvPicPr>
          <p:cNvPr id="138" name="Picture 139" descr="image.png"/>
          <p:cNvPicPr/>
          <p:nvPr/>
        </p:nvPicPr>
        <p:blipFill>
          <a:blip r:embed="rId26"/>
          <a:stretch/>
        </p:blipFill>
        <p:spPr>
          <a:xfrm>
            <a:off x="5999400" y="3913560"/>
            <a:ext cx="144360" cy="144360"/>
          </a:xfrm>
          <a:prstGeom prst="rect">
            <a:avLst/>
          </a:prstGeom>
          <a:ln w="0">
            <a:noFill/>
          </a:ln>
        </p:spPr>
      </p:pic>
      <p:sp>
        <p:nvSpPr>
          <p:cNvPr id="139" name="TextBox 140"/>
          <p:cNvSpPr/>
          <p:nvPr/>
        </p:nvSpPr>
        <p:spPr>
          <a:xfrm>
            <a:off x="6245280" y="3909960"/>
            <a:ext cx="755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0" name="Picture 141" descr="image.png"/>
          <p:cNvPicPr/>
          <p:nvPr/>
        </p:nvPicPr>
        <p:blipFill>
          <a:blip r:embed="rId27"/>
          <a:stretch/>
        </p:blipFill>
        <p:spPr>
          <a:xfrm>
            <a:off x="5950080" y="4290120"/>
            <a:ext cx="845640" cy="270720"/>
          </a:xfrm>
          <a:prstGeom prst="rect">
            <a:avLst/>
          </a:prstGeom>
          <a:ln w="0">
            <a:noFill/>
          </a:ln>
        </p:spPr>
      </p:pic>
      <p:pic>
        <p:nvPicPr>
          <p:cNvPr id="141" name="Picture 142" descr="image.png"/>
          <p:cNvPicPr/>
          <p:nvPr/>
        </p:nvPicPr>
        <p:blipFill>
          <a:blip r:embed="rId28"/>
          <a:stretch/>
        </p:blipFill>
        <p:spPr>
          <a:xfrm>
            <a:off x="5999400" y="4353480"/>
            <a:ext cx="144360" cy="144360"/>
          </a:xfrm>
          <a:prstGeom prst="rect">
            <a:avLst/>
          </a:prstGeom>
          <a:ln w="0">
            <a:noFill/>
          </a:ln>
        </p:spPr>
      </p:pic>
      <p:sp>
        <p:nvSpPr>
          <p:cNvPr id="142" name="TextBox 143"/>
          <p:cNvSpPr/>
          <p:nvPr/>
        </p:nvSpPr>
        <p:spPr>
          <a:xfrm>
            <a:off x="6277320" y="4349880"/>
            <a:ext cx="3913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3" name="Picture 144" descr="image.png"/>
          <p:cNvPicPr/>
          <p:nvPr/>
        </p:nvPicPr>
        <p:blipFill>
          <a:blip r:embed="rId29"/>
          <a:stretch/>
        </p:blipFill>
        <p:spPr>
          <a:xfrm>
            <a:off x="5950080" y="4730040"/>
            <a:ext cx="845640" cy="270720"/>
          </a:xfrm>
          <a:prstGeom prst="rect">
            <a:avLst/>
          </a:prstGeom>
          <a:ln w="0">
            <a:noFill/>
          </a:ln>
        </p:spPr>
      </p:pic>
      <p:pic>
        <p:nvPicPr>
          <p:cNvPr id="144" name="Picture 145" descr="image.png"/>
          <p:cNvPicPr/>
          <p:nvPr/>
        </p:nvPicPr>
        <p:blipFill>
          <a:blip r:embed="rId30"/>
          <a:stretch/>
        </p:blipFill>
        <p:spPr>
          <a:xfrm>
            <a:off x="5999400" y="4793400"/>
            <a:ext cx="144360" cy="144360"/>
          </a:xfrm>
          <a:prstGeom prst="rect">
            <a:avLst/>
          </a:prstGeom>
          <a:ln w="0">
            <a:noFill/>
          </a:ln>
        </p:spPr>
      </p:pic>
      <p:sp>
        <p:nvSpPr>
          <p:cNvPr id="145" name="TextBox 146"/>
          <p:cNvSpPr/>
          <p:nvPr/>
        </p:nvSpPr>
        <p:spPr>
          <a:xfrm>
            <a:off x="6336000" y="478980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6" name="Picture 147" descr="image.png"/>
          <p:cNvPicPr/>
          <p:nvPr/>
        </p:nvPicPr>
        <p:blipFill>
          <a:blip r:embed="rId31"/>
          <a:stretch/>
        </p:blipFill>
        <p:spPr>
          <a:xfrm>
            <a:off x="5950080" y="5170320"/>
            <a:ext cx="1145520" cy="270720"/>
          </a:xfrm>
          <a:prstGeom prst="rect">
            <a:avLst/>
          </a:prstGeom>
          <a:ln w="0">
            <a:noFill/>
          </a:ln>
        </p:spPr>
      </p:pic>
      <p:pic>
        <p:nvPicPr>
          <p:cNvPr id="147" name="Picture 148" descr="image.png"/>
          <p:cNvPicPr/>
          <p:nvPr/>
        </p:nvPicPr>
        <p:blipFill>
          <a:blip r:embed="rId32"/>
          <a:stretch/>
        </p:blipFill>
        <p:spPr>
          <a:xfrm>
            <a:off x="5999400" y="5233320"/>
            <a:ext cx="144360" cy="144360"/>
          </a:xfrm>
          <a:prstGeom prst="rect">
            <a:avLst/>
          </a:prstGeom>
          <a:ln w="0">
            <a:noFill/>
          </a:ln>
        </p:spPr>
      </p:pic>
      <p:sp>
        <p:nvSpPr>
          <p:cNvPr id="148" name="TextBox 149"/>
          <p:cNvSpPr/>
          <p:nvPr/>
        </p:nvSpPr>
        <p:spPr>
          <a:xfrm>
            <a:off x="6230880" y="5230080"/>
            <a:ext cx="784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9" name="Picture 4" descr="image.png"/>
          <p:cNvPicPr/>
          <p:nvPr/>
        </p:nvPicPr>
        <p:blipFill>
          <a:blip r:embed="rId33"/>
          <a:stretch/>
        </p:blipFill>
        <p:spPr>
          <a:xfrm>
            <a:off x="820080" y="5654520"/>
            <a:ext cx="797400" cy="281520"/>
          </a:xfrm>
          <a:prstGeom prst="rect">
            <a:avLst/>
          </a:prstGeom>
          <a:ln w="0">
            <a:noFill/>
          </a:ln>
        </p:spPr>
      </p:pic>
      <p:pic>
        <p:nvPicPr>
          <p:cNvPr id="150" name="Picture 2" descr="image.png"/>
          <p:cNvPicPr/>
          <p:nvPr/>
        </p:nvPicPr>
        <p:blipFill>
          <a:blip r:embed="rId34"/>
          <a:stretch/>
        </p:blipFill>
        <p:spPr>
          <a:xfrm>
            <a:off x="900000" y="5760000"/>
            <a:ext cx="106200" cy="128880"/>
          </a:xfrm>
          <a:prstGeom prst="rect">
            <a:avLst/>
          </a:prstGeom>
          <a:ln w="0">
            <a:noFill/>
          </a:ln>
        </p:spPr>
      </p:pic>
      <p:sp>
        <p:nvSpPr>
          <p:cNvPr id="151" name=""/>
          <p:cNvSpPr/>
          <p:nvPr/>
        </p:nvSpPr>
        <p:spPr>
          <a:xfrm>
            <a:off x="1010160" y="5678280"/>
            <a:ext cx="49824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980" spc="-1" strike="noStrike">
                <a:solidFill>
                  <a:srgbClr val="ffffff"/>
                </a:solidFill>
                <a:latin typeface="Inter ExtraBold"/>
                <a:ea typeface="Calibri"/>
              </a:rPr>
              <a:t>YAMl</a:t>
            </a:r>
            <a:endParaRPr b="0" lang="en-US" sz="9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2" name="TextBox 39"/>
          <p:cNvSpPr/>
          <p:nvPr/>
        </p:nvSpPr>
        <p:spPr>
          <a:xfrm>
            <a:off x="1980000" y="5718240"/>
            <a:ext cx="34160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Message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타입과 주요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Interface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외부 설정으로 분리 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3" name="Rectangle 17"/>
          <p:cNvSpPr/>
          <p:nvPr/>
        </p:nvSpPr>
        <p:spPr>
          <a:xfrm>
            <a:off x="5760000" y="3780000"/>
            <a:ext cx="68400" cy="2156040"/>
          </a:xfrm>
          <a:prstGeom prst="rect">
            <a:avLst/>
          </a:prstGeom>
          <a:solidFill>
            <a:srgbClr val="0a9e9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4" name="Rectangle 18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88520" cy="51120"/>
          </a:xfrm>
          <a:prstGeom prst="rect">
            <a:avLst/>
          </a:prstGeom>
          <a:solidFill>
            <a:srgbClr val="008f8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685800" y="333000"/>
            <a:ext cx="127656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a2f4f"/>
                </a:solidFill>
                <a:latin typeface="Malgun Gothic"/>
                <a:ea typeface="Calibri"/>
              </a:rPr>
              <a:t>ARCHITECTURE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11233440" y="324000"/>
            <a:ext cx="16272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685800" y="617400"/>
            <a:ext cx="52999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3000" spc="-1" strike="noStrike">
                <a:solidFill>
                  <a:srgbClr val="0a2f4f"/>
                </a:solidFill>
                <a:latin typeface="Malgun Gothic"/>
                <a:ea typeface="Calibri"/>
              </a:rPr>
              <a:t>프로젝트 폴더 구조</a:t>
            </a:r>
            <a:endParaRPr b="0" lang="en-US" sz="3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685800" y="1104840"/>
            <a:ext cx="89575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Backend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ROS2 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상태 수집과 실행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API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를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, Frontend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화면 표시와 관계 시각화를 담당합니다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0" name="Rounded Rectangle 6"/>
          <p:cNvSpPr/>
          <p:nvPr/>
        </p:nvSpPr>
        <p:spPr>
          <a:xfrm>
            <a:off x="502920" y="1554480"/>
            <a:ext cx="5619960" cy="4476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600">
            <a:solidFill>
              <a:srgbClr val="c9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1" name="TextBox 7"/>
          <p:cNvSpPr/>
          <p:nvPr/>
        </p:nvSpPr>
        <p:spPr>
          <a:xfrm>
            <a:off x="713160" y="1714680"/>
            <a:ext cx="200808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500" spc="-1" strike="noStrike">
                <a:solidFill>
                  <a:srgbClr val="0a2f4f"/>
                </a:solidFill>
                <a:latin typeface="Malgun Gothic"/>
                <a:ea typeface="Calibri"/>
              </a:rPr>
              <a:t>핵심 폴더 구조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2" name="TextBox 8"/>
          <p:cNvSpPr/>
          <p:nvPr/>
        </p:nvSpPr>
        <p:spPr>
          <a:xfrm>
            <a:off x="4160520" y="1761840"/>
            <a:ext cx="164232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0" lang="ko-KR" sz="880" spc="-1" strike="noStrike">
                <a:solidFill>
                  <a:srgbClr val="5b6e7d"/>
                </a:solidFill>
                <a:latin typeface="Malgun Gothic"/>
                <a:ea typeface="Calibri"/>
              </a:rPr>
              <a:t>생성물과 로그 폴더는 제외</a:t>
            </a:r>
            <a:endParaRPr b="0" lang="en-US" sz="8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3" name="Rounded Rectangle 11"/>
          <p:cNvSpPr/>
          <p:nvPr/>
        </p:nvSpPr>
        <p:spPr>
          <a:xfrm>
            <a:off x="6309360" y="1554480"/>
            <a:ext cx="5345640" cy="4476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600">
            <a:solidFill>
              <a:srgbClr val="c9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519600" y="1714680"/>
            <a:ext cx="2922480" cy="2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65" name="Rounded Rectangle 13"/>
          <p:cNvSpPr/>
          <p:nvPr/>
        </p:nvSpPr>
        <p:spPr>
          <a:xfrm>
            <a:off x="6519600" y="2084760"/>
            <a:ext cx="4788000" cy="47196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6" name="TextBox 14"/>
          <p:cNvSpPr/>
          <p:nvPr/>
        </p:nvSpPr>
        <p:spPr>
          <a:xfrm>
            <a:off x="6675120" y="2160360"/>
            <a:ext cx="150516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backend/config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7" name="TextBox 15"/>
          <p:cNvSpPr/>
          <p:nvPr/>
        </p:nvSpPr>
        <p:spPr>
          <a:xfrm>
            <a:off x="8247960" y="2166480"/>
            <a:ext cx="287676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모니터링 대상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 상태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Timeout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정책을 보관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8" name="Rounded Rectangle 16"/>
          <p:cNvSpPr/>
          <p:nvPr/>
        </p:nvSpPr>
        <p:spPr>
          <a:xfrm>
            <a:off x="6519600" y="2706480"/>
            <a:ext cx="4788000" cy="47196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9" name="TextBox 17"/>
          <p:cNvSpPr/>
          <p:nvPr/>
        </p:nvSpPr>
        <p:spPr>
          <a:xfrm>
            <a:off x="6675120" y="2782440"/>
            <a:ext cx="150516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0" name="TextBox 18"/>
          <p:cNvSpPr/>
          <p:nvPr/>
        </p:nvSpPr>
        <p:spPr>
          <a:xfrm>
            <a:off x="8247960" y="2719080"/>
            <a:ext cx="28767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FastAPI, rclpy Runtime, Topic·Service·Action·Node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감시 로직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1" name="Rounded Rectangle 19"/>
          <p:cNvSpPr/>
          <p:nvPr/>
        </p:nvSpPr>
        <p:spPr>
          <a:xfrm>
            <a:off x="6519600" y="3328560"/>
            <a:ext cx="4788000" cy="47196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2" name="TextBox 20"/>
          <p:cNvSpPr/>
          <p:nvPr/>
        </p:nvSpPr>
        <p:spPr>
          <a:xfrm>
            <a:off x="6675120" y="3404160"/>
            <a:ext cx="150516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interface_lab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3" name="TextBox 21"/>
          <p:cNvSpPr/>
          <p:nvPr/>
        </p:nvSpPr>
        <p:spPr>
          <a:xfrm>
            <a:off x="8247960" y="3340800"/>
            <a:ext cx="28767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업로드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·Build·Publish·Receive·Call·Goal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실행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4" name="Rounded Rectangle 22"/>
          <p:cNvSpPr/>
          <p:nvPr/>
        </p:nvSpPr>
        <p:spPr>
          <a:xfrm>
            <a:off x="6519600" y="3950280"/>
            <a:ext cx="4788000" cy="47196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5" name="TextBox 23"/>
          <p:cNvSpPr/>
          <p:nvPr/>
        </p:nvSpPr>
        <p:spPr>
          <a:xfrm>
            <a:off x="6675120" y="4025880"/>
            <a:ext cx="150516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frontend/src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6" name="TextBox 24"/>
          <p:cNvSpPr/>
          <p:nvPr/>
        </p:nvSpPr>
        <p:spPr>
          <a:xfrm>
            <a:off x="8247960" y="3962520"/>
            <a:ext cx="28767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REST/WebSocket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데이터를 받아 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상세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Alert, Graph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화면 구성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7" name="TextBox 25"/>
          <p:cNvSpPr/>
          <p:nvPr/>
        </p:nvSpPr>
        <p:spPr>
          <a:xfrm>
            <a:off x="6519600" y="4660560"/>
            <a:ext cx="12765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300" spc="-1" strike="noStrike">
                <a:solidFill>
                  <a:srgbClr val="0a2f4f"/>
                </a:solidFill>
                <a:latin typeface="Malgun Gothic"/>
                <a:ea typeface="Calibri"/>
              </a:rPr>
              <a:t>데이터 흐름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8" name="Rounded Rectangle 26"/>
          <p:cNvSpPr/>
          <p:nvPr/>
        </p:nvSpPr>
        <p:spPr>
          <a:xfrm>
            <a:off x="6519600" y="5010840"/>
            <a:ext cx="837720" cy="40788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9" name="TextBox 27"/>
          <p:cNvSpPr/>
          <p:nvPr/>
        </p:nvSpPr>
        <p:spPr>
          <a:xfrm>
            <a:off x="6519600" y="5132160"/>
            <a:ext cx="83772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ROS2 Graph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0" name="TextBox 28"/>
          <p:cNvSpPr/>
          <p:nvPr/>
        </p:nvSpPr>
        <p:spPr>
          <a:xfrm>
            <a:off x="7434000" y="5029200"/>
            <a:ext cx="1609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1" name="Rounded Rectangle 29"/>
          <p:cNvSpPr/>
          <p:nvPr/>
        </p:nvSpPr>
        <p:spPr>
          <a:xfrm>
            <a:off x="7671960" y="5010840"/>
            <a:ext cx="1047960" cy="40788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2" name="TextBox 30"/>
          <p:cNvSpPr/>
          <p:nvPr/>
        </p:nvSpPr>
        <p:spPr>
          <a:xfrm>
            <a:off x="7671960" y="5132160"/>
            <a:ext cx="104796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rclpy Runtime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3" name="TextBox 31"/>
          <p:cNvSpPr/>
          <p:nvPr/>
        </p:nvSpPr>
        <p:spPr>
          <a:xfrm>
            <a:off x="8796600" y="5029200"/>
            <a:ext cx="1609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4" name="Rounded Rectangle 32"/>
          <p:cNvSpPr/>
          <p:nvPr/>
        </p:nvSpPr>
        <p:spPr>
          <a:xfrm>
            <a:off x="9034200" y="5010840"/>
            <a:ext cx="654840" cy="40788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5" name="TextBox 33"/>
          <p:cNvSpPr/>
          <p:nvPr/>
        </p:nvSpPr>
        <p:spPr>
          <a:xfrm>
            <a:off x="9034200" y="5132160"/>
            <a:ext cx="6548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Cache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6" name="TextBox 34"/>
          <p:cNvSpPr/>
          <p:nvPr/>
        </p:nvSpPr>
        <p:spPr>
          <a:xfrm>
            <a:off x="9765720" y="5029200"/>
            <a:ext cx="1609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7" name="Rounded Rectangle 35"/>
          <p:cNvSpPr/>
          <p:nvPr/>
        </p:nvSpPr>
        <p:spPr>
          <a:xfrm>
            <a:off x="10003680" y="5010840"/>
            <a:ext cx="499320" cy="40788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8" name="TextBox 36"/>
          <p:cNvSpPr/>
          <p:nvPr/>
        </p:nvSpPr>
        <p:spPr>
          <a:xfrm>
            <a:off x="10003680" y="5132160"/>
            <a:ext cx="49932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9" name="TextBox 37"/>
          <p:cNvSpPr/>
          <p:nvPr/>
        </p:nvSpPr>
        <p:spPr>
          <a:xfrm>
            <a:off x="10579680" y="5029200"/>
            <a:ext cx="1609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0" name="Rounded Rectangle 38"/>
          <p:cNvSpPr/>
          <p:nvPr/>
        </p:nvSpPr>
        <p:spPr>
          <a:xfrm>
            <a:off x="10817280" y="5010840"/>
            <a:ext cx="654840" cy="40788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1" name="TextBox 39"/>
          <p:cNvSpPr/>
          <p:nvPr/>
        </p:nvSpPr>
        <p:spPr>
          <a:xfrm>
            <a:off x="10817280" y="5132160"/>
            <a:ext cx="6548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React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2" name="Rounded Rectangle 40"/>
          <p:cNvSpPr/>
          <p:nvPr/>
        </p:nvSpPr>
        <p:spPr>
          <a:xfrm>
            <a:off x="502920" y="6163200"/>
            <a:ext cx="11152080" cy="38052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a9d8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3" name="TextBox 41"/>
          <p:cNvSpPr/>
          <p:nvPr/>
        </p:nvSpPr>
        <p:spPr>
          <a:xfrm>
            <a:off x="640080" y="6240240"/>
            <a:ext cx="108777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핵심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: backend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ROS2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와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를 담당하고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, frontend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 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결과를 화면과 그래프로 표현합니다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.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94" name="" descr=""/>
          <p:cNvPicPr/>
          <p:nvPr/>
        </p:nvPicPr>
        <p:blipFill>
          <a:blip r:embed="rId1"/>
          <a:stretch/>
        </p:blipFill>
        <p:spPr>
          <a:xfrm>
            <a:off x="900000" y="2160000"/>
            <a:ext cx="4857120" cy="3258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6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2941920" y="384120"/>
            <a:ext cx="614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Overview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전체 상태와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Alert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를 한눈에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3838680" y="822960"/>
            <a:ext cx="4024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요약 카드는 상태를 넓게 보여주고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Alert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는 조치가 필요한 조건만 선별합니다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0" name="Rounded Rectangle 9"/>
          <p:cNvSpPr/>
          <p:nvPr/>
        </p:nvSpPr>
        <p:spPr>
          <a:xfrm>
            <a:off x="77724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· Topic · Service · Action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요약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1" name="Rounded Rectangle 10"/>
          <p:cNvSpPr/>
          <p:nvPr/>
        </p:nvSpPr>
        <p:spPr>
          <a:xfrm>
            <a:off x="436788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최근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상태 분포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2" name="Rounded Rectangle 11"/>
          <p:cNvSpPr/>
          <p:nvPr/>
        </p:nvSpPr>
        <p:spPr>
          <a:xfrm>
            <a:off x="795816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Badge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는 별도 기준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3" name="TextBox 12"/>
          <p:cNvSpPr/>
          <p:nvPr/>
        </p:nvSpPr>
        <p:spPr>
          <a:xfrm>
            <a:off x="457200" y="6565320"/>
            <a:ext cx="1123992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Overview / Recent Alert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상태 분포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04" name="Picture 1" descr="overview.png"/>
          <p:cNvPicPr/>
          <p:nvPr/>
        </p:nvPicPr>
        <p:blipFill>
          <a:blip r:embed="rId1"/>
          <a:srcRect l="3293" t="0" r="0" b="0"/>
          <a:stretch/>
        </p:blipFill>
        <p:spPr>
          <a:xfrm>
            <a:off x="1080000" y="1170360"/>
            <a:ext cx="10021320" cy="4519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6360" cy="67680"/>
          </a:xfrm>
          <a:prstGeom prst="rect">
            <a:avLst/>
          </a:prstGeom>
          <a:solidFill>
            <a:srgbClr val="00928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685800" y="255960"/>
            <a:ext cx="18234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02d4e"/>
                </a:solidFill>
                <a:latin typeface="Aptos"/>
                <a:ea typeface="Calibri"/>
              </a:rPr>
              <a:t>MONITORING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8" name="TextBox 4"/>
          <p:cNvSpPr/>
          <p:nvPr/>
        </p:nvSpPr>
        <p:spPr>
          <a:xfrm>
            <a:off x="685800" y="548640"/>
            <a:ext cx="10053000" cy="46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r>
              <a:rPr b="1" lang="ko-KR" sz="2450" spc="-1" strike="noStrike">
                <a:solidFill>
                  <a:srgbClr val="002d4e"/>
                </a:solidFill>
                <a:latin typeface="Aptos"/>
                <a:ea typeface="Calibri"/>
              </a:rPr>
              <a:t>는 현재 장애와 최근 해결된 장애를 구분합니다</a:t>
            </a:r>
            <a:endParaRPr b="0" lang="en-US" sz="2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9" name="TextBox 5"/>
          <p:cNvSpPr/>
          <p:nvPr/>
        </p:nvSpPr>
        <p:spPr>
          <a:xfrm>
            <a:off x="685800" y="1078920"/>
            <a:ext cx="10784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장애가 지속되는 동안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active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표시하고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, 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해결된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Alert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는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60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초간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resolved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남겨 원인 확인 시간을 확보합니다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0" name="Rectangle 7"/>
          <p:cNvSpPr/>
          <p:nvPr/>
        </p:nvSpPr>
        <p:spPr>
          <a:xfrm>
            <a:off x="713160" y="1800000"/>
            <a:ext cx="58680" cy="1074960"/>
          </a:xfrm>
          <a:prstGeom prst="rect">
            <a:avLst/>
          </a:prstGeom>
          <a:solidFill>
            <a:srgbClr val="f4b84e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1" name="TextBox 8"/>
          <p:cNvSpPr/>
          <p:nvPr/>
        </p:nvSpPr>
        <p:spPr>
          <a:xfrm>
            <a:off x="941760" y="1901880"/>
            <a:ext cx="3835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현재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2" name="TextBox 9"/>
          <p:cNvSpPr/>
          <p:nvPr/>
        </p:nvSpPr>
        <p:spPr>
          <a:xfrm>
            <a:off x="941760" y="2340720"/>
            <a:ext cx="3835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장애가 남아 있는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warning/error 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집계에 포함되며 즉시 확인해야 합니다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713160" y="3182400"/>
            <a:ext cx="58680" cy="1058040"/>
          </a:xfrm>
          <a:prstGeom prst="rect">
            <a:avLst/>
          </a:prstGeom>
          <a:solidFill>
            <a:srgbClr val="009989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839880" y="3240000"/>
            <a:ext cx="3835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이전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5" name="TextBox 13"/>
          <p:cNvSpPr/>
          <p:nvPr/>
        </p:nvSpPr>
        <p:spPr>
          <a:xfrm>
            <a:off x="900000" y="3721320"/>
            <a:ext cx="3835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이미 해결된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 집계에서는 제외하고 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초 동안만 남깁니다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6" name="Rectangle 15"/>
          <p:cNvSpPr/>
          <p:nvPr/>
        </p:nvSpPr>
        <p:spPr>
          <a:xfrm>
            <a:off x="713160" y="4680000"/>
            <a:ext cx="58680" cy="1254960"/>
          </a:xfrm>
          <a:prstGeom prst="rect">
            <a:avLst/>
          </a:prstGeom>
          <a:solidFill>
            <a:srgbClr val="006cbe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7" name="TextBox 16"/>
          <p:cNvSpPr/>
          <p:nvPr/>
        </p:nvSpPr>
        <p:spPr>
          <a:xfrm>
            <a:off x="900000" y="4860000"/>
            <a:ext cx="3835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정책 요약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8" name="TextBox 17"/>
          <p:cNvSpPr/>
          <p:nvPr/>
        </p:nvSpPr>
        <p:spPr>
          <a:xfrm>
            <a:off x="1019880" y="5190840"/>
            <a:ext cx="383508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장애가 지속되는 동안 유지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resolved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초 동안 보관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재발 시 기존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Alert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를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로 전환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9" name="TextBox 18"/>
          <p:cNvSpPr/>
          <p:nvPr/>
        </p:nvSpPr>
        <p:spPr>
          <a:xfrm>
            <a:off x="5440680" y="1499760"/>
            <a:ext cx="29206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장애 발생 중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현재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0" name="Picture 19" descr="f9ce5687-c7cb-4d53-9f64-706c61919ae1.png"/>
          <p:cNvPicPr/>
          <p:nvPr/>
        </p:nvPicPr>
        <p:blipFill>
          <a:blip r:embed="rId1"/>
          <a:stretch/>
        </p:blipFill>
        <p:spPr>
          <a:xfrm>
            <a:off x="5440680" y="1764720"/>
            <a:ext cx="6029640" cy="2056320"/>
          </a:xfrm>
          <a:prstGeom prst="rect">
            <a:avLst/>
          </a:prstGeom>
          <a:ln w="0">
            <a:noFill/>
          </a:ln>
        </p:spPr>
      </p:pic>
      <p:sp>
        <p:nvSpPr>
          <p:cNvPr id="221" name="Rectangle 20"/>
          <p:cNvSpPr/>
          <p:nvPr/>
        </p:nvSpPr>
        <p:spPr>
          <a:xfrm>
            <a:off x="5440680" y="1764720"/>
            <a:ext cx="6029640" cy="205632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2" name="TextBox 21"/>
          <p:cNvSpPr/>
          <p:nvPr/>
        </p:nvSpPr>
        <p:spPr>
          <a:xfrm>
            <a:off x="5440680" y="3875040"/>
            <a:ext cx="29206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해결 후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이전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3" name="Picture 22" descr="b96b9ba0-d3ea-4188-9e0f-1f3b5e065d65.png"/>
          <p:cNvPicPr/>
          <p:nvPr/>
        </p:nvPicPr>
        <p:blipFill>
          <a:blip r:embed="rId2"/>
          <a:stretch/>
        </p:blipFill>
        <p:spPr>
          <a:xfrm>
            <a:off x="5440680" y="4238640"/>
            <a:ext cx="6029640" cy="2056320"/>
          </a:xfrm>
          <a:prstGeom prst="rect">
            <a:avLst/>
          </a:prstGeom>
          <a:ln w="0">
            <a:noFill/>
          </a:ln>
        </p:spPr>
      </p:pic>
      <p:sp>
        <p:nvSpPr>
          <p:cNvPr id="224" name="Rectangle 23"/>
          <p:cNvSpPr/>
          <p:nvPr/>
        </p:nvSpPr>
        <p:spPr>
          <a:xfrm>
            <a:off x="5440680" y="4238640"/>
            <a:ext cx="6029640" cy="205632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5" name="Rectangle 24"/>
          <p:cNvSpPr/>
          <p:nvPr/>
        </p:nvSpPr>
        <p:spPr>
          <a:xfrm>
            <a:off x="621720" y="6437520"/>
            <a:ext cx="10967400" cy="3600"/>
          </a:xfrm>
          <a:prstGeom prst="rect">
            <a:avLst/>
          </a:prstGeom>
          <a:solidFill>
            <a:srgbClr val="cddae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6" name="TextBox 25"/>
          <p:cNvSpPr/>
          <p:nvPr/>
        </p:nvSpPr>
        <p:spPr>
          <a:xfrm>
            <a:off x="685800" y="6473880"/>
            <a:ext cx="849852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실제 화면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: Alerts ·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현재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/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이전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· active/resolved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구분</a:t>
            </a:r>
            <a:endParaRPr b="0" lang="en-US" sz="6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7" name="Rectangle 4"/>
          <p:cNvSpPr/>
          <p:nvPr/>
        </p:nvSpPr>
        <p:spPr>
          <a:xfrm>
            <a:off x="720000" y="1800000"/>
            <a:ext cx="3774960" cy="107496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8" name="Rectangle 13"/>
          <p:cNvSpPr/>
          <p:nvPr/>
        </p:nvSpPr>
        <p:spPr>
          <a:xfrm>
            <a:off x="720000" y="3182400"/>
            <a:ext cx="3774960" cy="107496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9" name="Rectangle 16"/>
          <p:cNvSpPr/>
          <p:nvPr/>
        </p:nvSpPr>
        <p:spPr>
          <a:xfrm>
            <a:off x="713160" y="4680000"/>
            <a:ext cx="3774960" cy="125496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ectangle 1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3" name="TextBox 4"/>
          <p:cNvSpPr/>
          <p:nvPr/>
        </p:nvSpPr>
        <p:spPr>
          <a:xfrm>
            <a:off x="2700000" y="360000"/>
            <a:ext cx="6210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Topic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latest · Hz · stale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을 실시간으로 확인합니다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4" name="TextBox 5"/>
          <p:cNvSpPr/>
          <p:nvPr/>
        </p:nvSpPr>
        <p:spPr>
          <a:xfrm>
            <a:off x="3434760" y="822960"/>
            <a:ext cx="4832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지원 타입을 자동 구독하고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callback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최신값과 수신 속도를 갱신합니다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35" name="Picture 7" descr="topic.png"/>
          <p:cNvPicPr/>
          <p:nvPr/>
        </p:nvPicPr>
        <p:blipFill>
          <a:blip r:embed="rId1"/>
          <a:srcRect l="330" t="1035" r="0" b="1853"/>
          <a:stretch/>
        </p:blipFill>
        <p:spPr>
          <a:xfrm>
            <a:off x="536040" y="1620000"/>
            <a:ext cx="11157120" cy="3593160"/>
          </a:xfrm>
          <a:prstGeom prst="rect">
            <a:avLst/>
          </a:prstGeom>
          <a:ln w="0">
            <a:noFill/>
          </a:ln>
        </p:spPr>
      </p:pic>
      <p:sp>
        <p:nvSpPr>
          <p:cNvPr id="236" name="Rounded Rectangle 9"/>
          <p:cNvSpPr/>
          <p:nvPr/>
        </p:nvSpPr>
        <p:spPr>
          <a:xfrm>
            <a:off x="77724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Publisher / Subscriber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수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7" name="Rounded Rectangle 10"/>
          <p:cNvSpPr/>
          <p:nvPr/>
        </p:nvSpPr>
        <p:spPr>
          <a:xfrm>
            <a:off x="436788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Hz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최신 데이터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8" name="Rounded Rectangle 11"/>
          <p:cNvSpPr/>
          <p:nvPr/>
        </p:nvSpPr>
        <p:spPr>
          <a:xfrm>
            <a:off x="795816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발행자 대기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 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미수신 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9" name="TextBox 12"/>
          <p:cNvSpPr/>
          <p:nvPr/>
        </p:nvSpPr>
        <p:spPr>
          <a:xfrm>
            <a:off x="457200" y="6565320"/>
            <a:ext cx="1123992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Topics table / Hz / latest preview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 패널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3" name="TextBox 4"/>
          <p:cNvSpPr/>
          <p:nvPr/>
        </p:nvSpPr>
        <p:spPr>
          <a:xfrm>
            <a:off x="2734560" y="384120"/>
            <a:ext cx="65620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목록 수집과 실제 호출 가능 여부를 분리합니다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4" name="TextBox 5"/>
          <p:cNvSpPr/>
          <p:nvPr/>
        </p:nvSpPr>
        <p:spPr>
          <a:xfrm>
            <a:off x="2803680" y="822960"/>
            <a:ext cx="6091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존재 여부를 자동으로 관찰하고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응답 시간과 결과는 요청이 있을 때만 발생하며 사용자가 호출했을 때 기록됩니다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45" name="Picture 7" descr="service.png"/>
          <p:cNvPicPr/>
          <p:nvPr/>
        </p:nvPicPr>
        <p:blipFill>
          <a:blip r:embed="rId1"/>
          <a:stretch/>
        </p:blipFill>
        <p:spPr>
          <a:xfrm>
            <a:off x="502920" y="2175480"/>
            <a:ext cx="11194200" cy="2508840"/>
          </a:xfrm>
          <a:prstGeom prst="rect">
            <a:avLst/>
          </a:prstGeom>
          <a:ln w="0">
            <a:noFill/>
          </a:ln>
        </p:spPr>
      </p:pic>
      <p:sp>
        <p:nvSpPr>
          <p:cNvPr id="246" name="Rounded Rectangle 9"/>
          <p:cNvSpPr/>
          <p:nvPr/>
        </p:nvSpPr>
        <p:spPr>
          <a:xfrm>
            <a:off x="77724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Server / Client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관계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7" name="Rounded Rectangle 10"/>
          <p:cNvSpPr/>
          <p:nvPr/>
        </p:nvSpPr>
        <p:spPr>
          <a:xfrm>
            <a:off x="436788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호출 가능 여부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8" name="Rounded Rectangle 11"/>
          <p:cNvSpPr/>
          <p:nvPr/>
        </p:nvSpPr>
        <p:spPr>
          <a:xfrm>
            <a:off x="795816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마지막 요청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응답과 응답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9" name="TextBox 12"/>
          <p:cNvSpPr/>
          <p:nvPr/>
        </p:nvSpPr>
        <p:spPr>
          <a:xfrm>
            <a:off x="457200" y="6565320"/>
            <a:ext cx="1123992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Services table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응답 측정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Service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1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10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3" name="TextBox 4"/>
          <p:cNvSpPr/>
          <p:nvPr/>
        </p:nvSpPr>
        <p:spPr>
          <a:xfrm>
            <a:off x="2718000" y="384120"/>
            <a:ext cx="6595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Goal · Feedback · Result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상태를 관찰합니다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4" name="TextBox 5"/>
          <p:cNvSpPr/>
          <p:nvPr/>
        </p:nvSpPr>
        <p:spPr>
          <a:xfrm>
            <a:off x="3514680" y="822960"/>
            <a:ext cx="4672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모니터링은 새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을 만들지 않고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관찰된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의 진행과 종료 상태를 화면에 보여줍니다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55" name="Picture 7" descr="action.png"/>
          <p:cNvPicPr/>
          <p:nvPr/>
        </p:nvPicPr>
        <p:blipFill>
          <a:blip r:embed="rId1"/>
          <a:stretch/>
        </p:blipFill>
        <p:spPr>
          <a:xfrm>
            <a:off x="502920" y="1355040"/>
            <a:ext cx="11194200" cy="4149720"/>
          </a:xfrm>
          <a:prstGeom prst="rect">
            <a:avLst/>
          </a:prstGeom>
          <a:ln w="0">
            <a:noFill/>
          </a:ln>
        </p:spPr>
      </p:pic>
      <p:sp>
        <p:nvSpPr>
          <p:cNvPr id="256" name="Rounded Rectangle 9"/>
          <p:cNvSpPr/>
          <p:nvPr/>
        </p:nvSpPr>
        <p:spPr>
          <a:xfrm>
            <a:off x="77724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7" name="Rounded Rectangle 10"/>
          <p:cNvSpPr/>
          <p:nvPr/>
        </p:nvSpPr>
        <p:spPr>
          <a:xfrm>
            <a:off x="436788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8" name="Rounded Rectangle 11"/>
          <p:cNvSpPr/>
          <p:nvPr/>
        </p:nvSpPr>
        <p:spPr>
          <a:xfrm>
            <a:off x="795816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Result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실행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9" name="TextBox 12"/>
          <p:cNvSpPr/>
          <p:nvPr/>
        </p:nvSpPr>
        <p:spPr>
          <a:xfrm>
            <a:off x="457200" y="6565320"/>
            <a:ext cx="1123992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Actions table / Feedback / Result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관찰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"/>
          <p:cNvSpPr/>
          <p:nvPr/>
        </p:nvSpPr>
        <p:spPr>
          <a:xfrm>
            <a:off x="0" y="0"/>
            <a:ext cx="12186000" cy="57960"/>
          </a:xfrm>
          <a:prstGeom prst="rect">
            <a:avLst/>
          </a:prstGeom>
          <a:solidFill>
            <a:srgbClr val="008c84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1" name="TextBox 2"/>
          <p:cNvSpPr/>
          <p:nvPr/>
        </p:nvSpPr>
        <p:spPr>
          <a:xfrm>
            <a:off x="685800" y="311040"/>
            <a:ext cx="1182600" cy="1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02b4a"/>
                </a:solidFill>
                <a:latin typeface="Aptos"/>
                <a:ea typeface="Calibri"/>
              </a:rPr>
              <a:t>MONITORING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2" name="TextBox 3"/>
          <p:cNvSpPr/>
          <p:nvPr/>
        </p:nvSpPr>
        <p:spPr>
          <a:xfrm>
            <a:off x="11251800" y="340920"/>
            <a:ext cx="12600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11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3" name="TextBox 4"/>
          <p:cNvSpPr/>
          <p:nvPr/>
        </p:nvSpPr>
        <p:spPr>
          <a:xfrm>
            <a:off x="685800" y="594360"/>
            <a:ext cx="106009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002b4a"/>
                </a:solidFill>
                <a:latin typeface="Aptos"/>
                <a:ea typeface="Calibri"/>
              </a:rPr>
              <a:t>Node </a:t>
            </a:r>
            <a:r>
              <a:rPr b="1" lang="ko-KR" sz="2600" spc="-1" strike="noStrike">
                <a:solidFill>
                  <a:srgbClr val="002b4a"/>
                </a:solidFill>
                <a:latin typeface="Aptos"/>
                <a:ea typeface="Calibri"/>
              </a:rPr>
              <a:t>화면은 실행 단위의 통신 참여 관계를 보여줍니다</a:t>
            </a:r>
            <a:endParaRPr b="0" lang="en-US" sz="2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4" name="TextBox 5"/>
          <p:cNvSpPr/>
          <p:nvPr/>
        </p:nvSpPr>
        <p:spPr>
          <a:xfrm>
            <a:off x="685800" y="1051560"/>
            <a:ext cx="106923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Node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하나를 선택하면 발행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구독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Topic,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응답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요청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Service, Action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관계를 함께 확인합니다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5" name="Rounded Rectangle 7"/>
          <p:cNvSpPr/>
          <p:nvPr/>
        </p:nvSpPr>
        <p:spPr>
          <a:xfrm>
            <a:off x="685800" y="2880360"/>
            <a:ext cx="2142720" cy="286560"/>
          </a:xfrm>
          <a:prstGeom prst="roundRect">
            <a:avLst>
              <a:gd name="adj" fmla="val 16667"/>
            </a:avLst>
          </a:prstGeom>
          <a:solidFill>
            <a:srgbClr val="eaf4f4"/>
          </a:solidFill>
          <a:ln w="10080">
            <a:solidFill>
              <a:srgbClr val="b7d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1.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목록</a:t>
            </a: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: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참여 수 요약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6" name="Rounded Rectangle 8"/>
          <p:cNvSpPr/>
          <p:nvPr/>
        </p:nvSpPr>
        <p:spPr>
          <a:xfrm>
            <a:off x="3286080" y="2880000"/>
            <a:ext cx="1411200" cy="28656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2.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상세정보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7" name="Rounded Rectangle 9"/>
          <p:cNvSpPr/>
          <p:nvPr/>
        </p:nvSpPr>
        <p:spPr>
          <a:xfrm>
            <a:off x="7362000" y="2880000"/>
            <a:ext cx="1475280" cy="28656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4. Service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8" name="Rounded Rectangle 13"/>
          <p:cNvSpPr/>
          <p:nvPr/>
        </p:nvSpPr>
        <p:spPr>
          <a:xfrm>
            <a:off x="9280080" y="3514320"/>
            <a:ext cx="2234160" cy="2599920"/>
          </a:xfrm>
          <a:prstGeom prst="roundRect">
            <a:avLst>
              <a:gd name="adj" fmla="val 16667"/>
            </a:avLst>
          </a:prstGeom>
          <a:solidFill>
            <a:srgbClr val="eef8f7"/>
          </a:solidFill>
          <a:ln w="12600">
            <a:solidFill>
              <a:srgbClr val="b7d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핵심 포인트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1.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현재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active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상태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2. Topic·Service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연결 수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3.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상세 패널에서 실제 이름과 타입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br>
              <a:rPr sz="1100"/>
            </a:b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사라진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는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timeout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동안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stale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로 남겨 화면 흔들림을 줄입니다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9" name="Rectangle 14"/>
          <p:cNvSpPr/>
          <p:nvPr/>
        </p:nvSpPr>
        <p:spPr>
          <a:xfrm>
            <a:off x="540000" y="6660000"/>
            <a:ext cx="11058120" cy="2880"/>
          </a:xfrm>
          <a:prstGeom prst="rect">
            <a:avLst/>
          </a:prstGeom>
          <a:solidFill>
            <a:srgbClr val="cad5e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0" name="TextBox 15"/>
          <p:cNvSpPr/>
          <p:nvPr/>
        </p:nvSpPr>
        <p:spPr>
          <a:xfrm>
            <a:off x="685800" y="6473880"/>
            <a:ext cx="868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pic>
        <p:nvPicPr>
          <p:cNvPr id="271" name="" descr=""/>
          <p:cNvPicPr/>
          <p:nvPr/>
        </p:nvPicPr>
        <p:blipFill>
          <a:blip r:embed="rId1"/>
          <a:stretch/>
        </p:blipFill>
        <p:spPr>
          <a:xfrm>
            <a:off x="3083040" y="3413520"/>
            <a:ext cx="1856160" cy="3054600"/>
          </a:xfrm>
          <a:prstGeom prst="rect">
            <a:avLst/>
          </a:prstGeom>
          <a:ln w="0">
            <a:noFill/>
          </a:ln>
        </p:spPr>
      </p:pic>
      <p:sp>
        <p:nvSpPr>
          <p:cNvPr id="272" name="Rounded Rectangle 1"/>
          <p:cNvSpPr/>
          <p:nvPr/>
        </p:nvSpPr>
        <p:spPr>
          <a:xfrm>
            <a:off x="5266080" y="2880000"/>
            <a:ext cx="1411200" cy="28656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3. Topic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3" name="" descr=""/>
          <p:cNvPicPr/>
          <p:nvPr/>
        </p:nvPicPr>
        <p:blipFill>
          <a:blip r:embed="rId2"/>
          <a:stretch/>
        </p:blipFill>
        <p:spPr>
          <a:xfrm>
            <a:off x="5063040" y="3420000"/>
            <a:ext cx="1974240" cy="3048120"/>
          </a:xfrm>
          <a:prstGeom prst="rect">
            <a:avLst/>
          </a:prstGeom>
          <a:ln w="0">
            <a:noFill/>
          </a:ln>
        </p:spPr>
      </p:pic>
      <p:pic>
        <p:nvPicPr>
          <p:cNvPr id="274" name="" descr=""/>
          <p:cNvPicPr/>
          <p:nvPr/>
        </p:nvPicPr>
        <p:blipFill>
          <a:blip r:embed="rId3"/>
          <a:stretch/>
        </p:blipFill>
        <p:spPr>
          <a:xfrm>
            <a:off x="7223040" y="3420000"/>
            <a:ext cx="1771920" cy="3048120"/>
          </a:xfrm>
          <a:prstGeom prst="rect">
            <a:avLst/>
          </a:prstGeom>
          <a:ln w="0">
            <a:noFill/>
          </a:ln>
        </p:spPr>
      </p:pic>
      <p:sp>
        <p:nvSpPr>
          <p:cNvPr id="275" name="Rounded Rectangle 2"/>
          <p:cNvSpPr/>
          <p:nvPr/>
        </p:nvSpPr>
        <p:spPr>
          <a:xfrm>
            <a:off x="720000" y="3420000"/>
            <a:ext cx="2131200" cy="287424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목록에서 보는 값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발행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구독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서버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클라이언트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Action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서버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클라이언트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br>
              <a:rPr sz="1100"/>
            </a:b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이름만이 아니라 통신 참여 관계를 함께 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4"/>
          <a:stretch/>
        </p:blipFill>
        <p:spPr>
          <a:xfrm>
            <a:off x="360000" y="1260000"/>
            <a:ext cx="11339640" cy="1216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8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0" name="TextBox 4"/>
          <p:cNvSpPr/>
          <p:nvPr/>
        </p:nvSpPr>
        <p:spPr>
          <a:xfrm>
            <a:off x="2284920" y="384120"/>
            <a:ext cx="7461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Visualization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Node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중심의 통신 관계를 그래프로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1" name="TextBox 5"/>
          <p:cNvSpPr/>
          <p:nvPr/>
        </p:nvSpPr>
        <p:spPr>
          <a:xfrm>
            <a:off x="3578760" y="822960"/>
            <a:ext cx="4544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기존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REST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데이터를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Frontend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에서 조합해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React Flow nodes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와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edges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로 변환합니다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2" name="Rounded Rectangle 9"/>
          <p:cNvSpPr/>
          <p:nvPr/>
        </p:nvSpPr>
        <p:spPr>
          <a:xfrm>
            <a:off x="77724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선택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중심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1-hop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3" name="Rounded Rectangle 10"/>
          <p:cNvSpPr/>
          <p:nvPr/>
        </p:nvSpPr>
        <p:spPr>
          <a:xfrm>
            <a:off x="436788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Topic · Service ·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연결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4" name="Rounded Rectangle 11"/>
          <p:cNvSpPr/>
          <p:nvPr/>
        </p:nvSpPr>
        <p:spPr>
          <a:xfrm>
            <a:off x="795816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전체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Graph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배치 초기화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5" name="TextBox 12"/>
          <p:cNvSpPr/>
          <p:nvPr/>
        </p:nvSpPr>
        <p:spPr>
          <a:xfrm>
            <a:off x="457200" y="6565320"/>
            <a:ext cx="1123992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Visualization / React Flow graph / Node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중심 관계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86" name="Picture 13" descr="viz_clean_top_crop.png"/>
          <p:cNvPicPr/>
          <p:nvPr/>
        </p:nvPicPr>
        <p:blipFill>
          <a:blip r:embed="rId1"/>
          <a:srcRect l="1936" t="0" r="3252" b="0"/>
          <a:stretch/>
        </p:blipFill>
        <p:spPr>
          <a:xfrm>
            <a:off x="720360" y="1143000"/>
            <a:ext cx="10612800" cy="4513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>
            <a:off x="609480" y="266760"/>
            <a:ext cx="208836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8" name=""/>
          <p:cNvSpPr/>
          <p:nvPr/>
        </p:nvSpPr>
        <p:spPr>
          <a:xfrm>
            <a:off x="609480" y="552600"/>
            <a:ext cx="1027980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자동 모니터링은 관찰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, Interface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사용자 실행입니다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9" name=""/>
          <p:cNvSpPr/>
          <p:nvPr/>
        </p:nvSpPr>
        <p:spPr>
          <a:xfrm>
            <a:off x="609480" y="1047600"/>
            <a:ext cx="104702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두 영역은 목적과 실행 시점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저장하는 결과가 다릅니다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0" name=""/>
          <p:cNvSpPr/>
          <p:nvPr/>
        </p:nvSpPr>
        <p:spPr>
          <a:xfrm>
            <a:off x="11064240" y="292680"/>
            <a:ext cx="499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1" name=""/>
          <p:cNvSpPr/>
          <p:nvPr/>
        </p:nvSpPr>
        <p:spPr>
          <a:xfrm>
            <a:off x="666720" y="1752480"/>
            <a:ext cx="5041080" cy="351720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2" name=""/>
          <p:cNvSpPr/>
          <p:nvPr/>
        </p:nvSpPr>
        <p:spPr>
          <a:xfrm>
            <a:off x="933480" y="2019240"/>
            <a:ext cx="332640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AUTOMATIC MONITORING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3" name=""/>
          <p:cNvSpPr/>
          <p:nvPr/>
        </p:nvSpPr>
        <p:spPr>
          <a:xfrm>
            <a:off x="952560" y="2495520"/>
            <a:ext cx="41839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현재 </a:t>
            </a:r>
            <a:r>
              <a:rPr b="1" lang="en-US" sz="1500" spc="-1" strike="noStrike">
                <a:solidFill>
                  <a:srgbClr val="172b3a"/>
                </a:solidFill>
                <a:latin typeface="Calibri"/>
                <a:ea typeface="Calibri"/>
              </a:rPr>
              <a:t>ROS2 </a:t>
            </a: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시스템을 자동으로 관찰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4" name=""/>
          <p:cNvSpPr/>
          <p:nvPr/>
        </p:nvSpPr>
        <p:spPr>
          <a:xfrm>
            <a:off x="1009800" y="3048120"/>
            <a:ext cx="4088520" cy="159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Graph discovery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수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·latest·Hz·stale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Runtime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새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Call / Goal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자동 실행 안 함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5" name=""/>
          <p:cNvSpPr/>
          <p:nvPr/>
        </p:nvSpPr>
        <p:spPr>
          <a:xfrm>
            <a:off x="6477120" y="1752480"/>
            <a:ext cx="5041080" cy="351720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6" name=""/>
          <p:cNvSpPr/>
          <p:nvPr/>
        </p:nvSpPr>
        <p:spPr>
          <a:xfrm>
            <a:off x="6743880" y="2019240"/>
            <a:ext cx="26596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7" name=""/>
          <p:cNvSpPr/>
          <p:nvPr/>
        </p:nvSpPr>
        <p:spPr>
          <a:xfrm>
            <a:off x="6762600" y="2495520"/>
            <a:ext cx="41839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등록한 타입으로 통신을 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8" name=""/>
          <p:cNvSpPr/>
          <p:nvPr/>
        </p:nvSpPr>
        <p:spPr>
          <a:xfrm>
            <a:off x="6819840" y="3048120"/>
            <a:ext cx="4088520" cy="159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업로드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Build / Apply / import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Publish · Receive · Call · Goal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결과와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9" name=""/>
          <p:cNvSpPr/>
          <p:nvPr/>
        </p:nvSpPr>
        <p:spPr>
          <a:xfrm>
            <a:off x="4476600" y="5619600"/>
            <a:ext cx="142164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12304a"/>
                </a:solidFill>
                <a:latin typeface="Calibri"/>
                <a:ea typeface="Calibri"/>
              </a:rPr>
              <a:t>관찰 결과를 보고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0" name=""/>
          <p:cNvSpPr/>
          <p:nvPr/>
        </p:nvSpPr>
        <p:spPr>
          <a:xfrm>
            <a:off x="5810040" y="5752800"/>
            <a:ext cx="571680" cy="360"/>
          </a:xfrm>
          <a:prstGeom prst="line">
            <a:avLst/>
          </a:prstGeom>
          <a:ln w="2844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1" name=""/>
          <p:cNvSpPr/>
          <p:nvPr/>
        </p:nvSpPr>
        <p:spPr>
          <a:xfrm>
            <a:off x="6477120" y="5619600"/>
            <a:ext cx="17074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8b8b"/>
                </a:solidFill>
                <a:latin typeface="Calibri"/>
                <a:ea typeface="Calibri"/>
              </a:rPr>
              <a:t>필요할 때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3" name=""/>
          <p:cNvSpPr/>
          <p:nvPr/>
        </p:nvSpPr>
        <p:spPr>
          <a:xfrm>
            <a:off x="609480" y="6534000"/>
            <a:ext cx="109656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AGENTS.md §12 · routers/interface_* · interface_lab/management · apply · execution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4" name="Rectangle 5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Rectangle 1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06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8" name="TextBox 4"/>
          <p:cNvSpPr/>
          <p:nvPr/>
        </p:nvSpPr>
        <p:spPr>
          <a:xfrm>
            <a:off x="2593440" y="384120"/>
            <a:ext cx="6766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Interface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직접 작성하거나 업로드로 등록할 수 있습니다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9" name="TextBox 5"/>
          <p:cNvSpPr/>
          <p:nvPr/>
        </p:nvSpPr>
        <p:spPr>
          <a:xfrm>
            <a:off x="3680280" y="822960"/>
            <a:ext cx="4341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간단한 정의는 화면에서 작성하고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실제 장비 타입은 원본 패키지 단위로 등록합니다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0" name="Rounded Rectangle 9"/>
          <p:cNvSpPr/>
          <p:nvPr/>
        </p:nvSpPr>
        <p:spPr>
          <a:xfrm>
            <a:off x="77724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kind · type name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1" name="Rounded Rectangle 10"/>
          <p:cNvSpPr/>
          <p:nvPr/>
        </p:nvSpPr>
        <p:spPr>
          <a:xfrm>
            <a:off x="436788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/ srv /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정의 작성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2" name="Rounded Rectangle 11"/>
          <p:cNvSpPr/>
          <p:nvPr/>
        </p:nvSpPr>
        <p:spPr>
          <a:xfrm>
            <a:off x="795816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문법 검증 후 저장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3" name="TextBox 12"/>
          <p:cNvSpPr/>
          <p:nvPr/>
        </p:nvSpPr>
        <p:spPr>
          <a:xfrm>
            <a:off x="457200" y="6565320"/>
            <a:ext cx="1123992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직접 작성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문법 검증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저장 위치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4" name="Rectangle 6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1"/>
          <a:stretch/>
        </p:blipFill>
        <p:spPr>
          <a:xfrm>
            <a:off x="1080000" y="1271520"/>
            <a:ext cx="4319280" cy="4302720"/>
          </a:xfrm>
          <a:prstGeom prst="rect">
            <a:avLst/>
          </a:prstGeom>
          <a:ln w="0">
            <a:noFill/>
          </a:ln>
        </p:spPr>
      </p:pic>
      <p:pic>
        <p:nvPicPr>
          <p:cNvPr id="316" name="" descr=""/>
          <p:cNvPicPr/>
          <p:nvPr/>
        </p:nvPicPr>
        <p:blipFill>
          <a:blip r:embed="rId2"/>
          <a:stretch/>
        </p:blipFill>
        <p:spPr>
          <a:xfrm>
            <a:off x="5760000" y="1260000"/>
            <a:ext cx="5234400" cy="4314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Rectangle 1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18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0" name="TextBox 4"/>
          <p:cNvSpPr/>
          <p:nvPr/>
        </p:nvSpPr>
        <p:spPr>
          <a:xfrm>
            <a:off x="2944800" y="384120"/>
            <a:ext cx="6141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Apply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패키지 빌드와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import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확인까지 포함합니다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1" name="TextBox 5"/>
          <p:cNvSpPr/>
          <p:nvPr/>
        </p:nvSpPr>
        <p:spPr>
          <a:xfrm>
            <a:off x="2958480" y="822960"/>
            <a:ext cx="57852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업로드된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Interface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패키지를 빌드하고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실제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Python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타입을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import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할 수 있는지 확인합니다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322" name="Picture 7" descr="package.png"/>
          <p:cNvPicPr/>
          <p:nvPr/>
        </p:nvPicPr>
        <p:blipFill>
          <a:blip r:embed="rId1"/>
          <a:stretch/>
        </p:blipFill>
        <p:spPr>
          <a:xfrm>
            <a:off x="502920" y="1341360"/>
            <a:ext cx="11194200" cy="4177080"/>
          </a:xfrm>
          <a:prstGeom prst="rect">
            <a:avLst/>
          </a:prstGeom>
          <a:ln w="0">
            <a:noFill/>
          </a:ln>
        </p:spPr>
      </p:pic>
      <p:sp>
        <p:nvSpPr>
          <p:cNvPr id="323" name="Rounded Rectangle 9"/>
          <p:cNvSpPr/>
          <p:nvPr/>
        </p:nvSpPr>
        <p:spPr>
          <a:xfrm>
            <a:off x="77724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패키지 경로와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source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4" name="Rounded Rectangle 10"/>
          <p:cNvSpPr/>
          <p:nvPr/>
        </p:nvSpPr>
        <p:spPr>
          <a:xfrm>
            <a:off x="436788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· srv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타입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import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됨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5" name="Rounded Rectangle 11"/>
          <p:cNvSpPr/>
          <p:nvPr/>
        </p:nvSpPr>
        <p:spPr>
          <a:xfrm>
            <a:off x="7958160" y="587952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실제 장비 타입 확장 가능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6" name="TextBox 12"/>
          <p:cNvSpPr/>
          <p:nvPr/>
        </p:nvSpPr>
        <p:spPr>
          <a:xfrm>
            <a:off x="457200" y="6565320"/>
            <a:ext cx="1123992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Uploaded Interface Packages / rths_interfaces / import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됨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7" name="Rectangle 7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609480" y="266760"/>
            <a:ext cx="208836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9" name=""/>
          <p:cNvSpPr/>
          <p:nvPr/>
        </p:nvSpPr>
        <p:spPr>
          <a:xfrm>
            <a:off x="609480" y="552600"/>
            <a:ext cx="1027980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Topic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같은 타입으로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Publish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와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Receive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를 시험합니다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0" name=""/>
          <p:cNvSpPr/>
          <p:nvPr/>
        </p:nvSpPr>
        <p:spPr>
          <a:xfrm>
            <a:off x="609480" y="1047600"/>
            <a:ext cx="104702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채널 이름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Message full type, payload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입력하고 송수신 결과를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에서 확인합니다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1" name=""/>
          <p:cNvSpPr/>
          <p:nvPr/>
        </p:nvSpPr>
        <p:spPr>
          <a:xfrm>
            <a:off x="11064240" y="292680"/>
            <a:ext cx="499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2" name=""/>
          <p:cNvSpPr/>
          <p:nvPr/>
        </p:nvSpPr>
        <p:spPr>
          <a:xfrm>
            <a:off x="647640" y="1752480"/>
            <a:ext cx="5174280" cy="351720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33" name=""/>
          <p:cNvSpPr/>
          <p:nvPr/>
        </p:nvSpPr>
        <p:spPr>
          <a:xfrm>
            <a:off x="914400" y="2000160"/>
            <a:ext cx="15166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4" name=""/>
          <p:cNvSpPr/>
          <p:nvPr/>
        </p:nvSpPr>
        <p:spPr>
          <a:xfrm>
            <a:off x="952560" y="2610000"/>
            <a:ext cx="123120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Topic name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5" name=""/>
          <p:cNvSpPr/>
          <p:nvPr/>
        </p:nvSpPr>
        <p:spPr>
          <a:xfrm>
            <a:off x="2266920" y="2610000"/>
            <a:ext cx="304092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데이터를 보낼 채널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6" name=""/>
          <p:cNvSpPr/>
          <p:nvPr/>
        </p:nvSpPr>
        <p:spPr>
          <a:xfrm>
            <a:off x="952560" y="3295800"/>
            <a:ext cx="123120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Full type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7" name=""/>
          <p:cNvSpPr/>
          <p:nvPr/>
        </p:nvSpPr>
        <p:spPr>
          <a:xfrm>
            <a:off x="2266920" y="3295800"/>
            <a:ext cx="304092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사용할 </a:t>
            </a: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 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구조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8" name=""/>
          <p:cNvSpPr/>
          <p:nvPr/>
        </p:nvSpPr>
        <p:spPr>
          <a:xfrm>
            <a:off x="952560" y="3981600"/>
            <a:ext cx="123120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Payload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9" name=""/>
          <p:cNvSpPr/>
          <p:nvPr/>
        </p:nvSpPr>
        <p:spPr>
          <a:xfrm>
            <a:off x="2266920" y="3981600"/>
            <a:ext cx="304092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에 넣을 실제 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0" name=""/>
          <p:cNvSpPr/>
          <p:nvPr/>
        </p:nvSpPr>
        <p:spPr>
          <a:xfrm>
            <a:off x="952560" y="4762440"/>
            <a:ext cx="1421640" cy="31680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1" name=""/>
          <p:cNvSpPr/>
          <p:nvPr/>
        </p:nvSpPr>
        <p:spPr>
          <a:xfrm>
            <a:off x="1028880" y="4791240"/>
            <a:ext cx="126900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2" name=""/>
          <p:cNvSpPr/>
          <p:nvPr/>
        </p:nvSpPr>
        <p:spPr>
          <a:xfrm>
            <a:off x="2571840" y="4762440"/>
            <a:ext cx="28504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payload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변환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발행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3" name=""/>
          <p:cNvSpPr/>
          <p:nvPr/>
        </p:nvSpPr>
        <p:spPr>
          <a:xfrm>
            <a:off x="6362640" y="1752480"/>
            <a:ext cx="5174280" cy="351720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4" name=""/>
          <p:cNvSpPr/>
          <p:nvPr/>
        </p:nvSpPr>
        <p:spPr>
          <a:xfrm>
            <a:off x="6629400" y="2000160"/>
            <a:ext cx="15166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RECEIVE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5" name=""/>
          <p:cNvSpPr/>
          <p:nvPr/>
        </p:nvSpPr>
        <p:spPr>
          <a:xfrm>
            <a:off x="767700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6" name=""/>
          <p:cNvSpPr/>
          <p:nvPr/>
        </p:nvSpPr>
        <p:spPr>
          <a:xfrm>
            <a:off x="6724800" y="2762280"/>
            <a:ext cx="945360" cy="71676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7" name=""/>
          <p:cNvSpPr/>
          <p:nvPr/>
        </p:nvSpPr>
        <p:spPr>
          <a:xfrm>
            <a:off x="6819840" y="2857680"/>
            <a:ext cx="754920" cy="5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start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8" name=""/>
          <p:cNvSpPr/>
          <p:nvPr/>
        </p:nvSpPr>
        <p:spPr>
          <a:xfrm>
            <a:off x="883908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9" name=""/>
          <p:cNvSpPr/>
          <p:nvPr/>
        </p:nvSpPr>
        <p:spPr>
          <a:xfrm>
            <a:off x="7886880" y="2762280"/>
            <a:ext cx="945360" cy="71676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0" name=""/>
          <p:cNvSpPr/>
          <p:nvPr/>
        </p:nvSpPr>
        <p:spPr>
          <a:xfrm>
            <a:off x="7981920" y="2857680"/>
            <a:ext cx="754920" cy="5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메시지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수신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1" name=""/>
          <p:cNvSpPr/>
          <p:nvPr/>
        </p:nvSpPr>
        <p:spPr>
          <a:xfrm>
            <a:off x="1000116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2" name=""/>
          <p:cNvSpPr/>
          <p:nvPr/>
        </p:nvSpPr>
        <p:spPr>
          <a:xfrm>
            <a:off x="9048600" y="2762280"/>
            <a:ext cx="945360" cy="71676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3" name=""/>
          <p:cNvSpPr/>
          <p:nvPr/>
        </p:nvSpPr>
        <p:spPr>
          <a:xfrm>
            <a:off x="9144000" y="2857680"/>
            <a:ext cx="754920" cy="5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history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저장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4" name=""/>
          <p:cNvSpPr/>
          <p:nvPr/>
        </p:nvSpPr>
        <p:spPr>
          <a:xfrm>
            <a:off x="10210680" y="2762280"/>
            <a:ext cx="945360" cy="71676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5" name=""/>
          <p:cNvSpPr/>
          <p:nvPr/>
        </p:nvSpPr>
        <p:spPr>
          <a:xfrm>
            <a:off x="10306080" y="2857680"/>
            <a:ext cx="754920" cy="5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stop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6" name=""/>
          <p:cNvSpPr/>
          <p:nvPr/>
        </p:nvSpPr>
        <p:spPr>
          <a:xfrm>
            <a:off x="6781680" y="4095720"/>
            <a:ext cx="4278960" cy="5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사용자가 시작한 구독만 유지하며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, stop 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시 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subscription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을 정리합니다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.</a:t>
            </a:r>
            <a:endParaRPr b="0" lang="en-US" sz="12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7" name=""/>
          <p:cNvSpPr/>
          <p:nvPr/>
        </p:nvSpPr>
        <p:spPr>
          <a:xfrm>
            <a:off x="1295280" y="5619600"/>
            <a:ext cx="95940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입력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 execution router → InterfaceReceiveRuntime → value converter → ROS2 → 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8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9" name=""/>
          <p:cNvSpPr/>
          <p:nvPr/>
        </p:nvSpPr>
        <p:spPr>
          <a:xfrm>
            <a:off x="609480" y="6534000"/>
            <a:ext cx="109656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routers/topic_execution.py · InterfaceReceiveRuntime · value_converter.py · InterfaceLabPage.jsx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0" name="Rectangle 8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1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62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3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4" name="TextBox 4"/>
          <p:cNvSpPr/>
          <p:nvPr/>
        </p:nvSpPr>
        <p:spPr>
          <a:xfrm>
            <a:off x="2291760" y="384120"/>
            <a:ext cx="7447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 Call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과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 Goal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사용자가 명시적으로 실행합니다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5" name="TextBox 5"/>
          <p:cNvSpPr/>
          <p:nvPr/>
        </p:nvSpPr>
        <p:spPr>
          <a:xfrm>
            <a:off x="3133080" y="822960"/>
            <a:ext cx="54363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full type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 schema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를 만들고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입력값을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객체로 변환해 실행 결과를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 저장합니다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6" name="Rounded Rectangle 9"/>
          <p:cNvSpPr/>
          <p:nvPr/>
        </p:nvSpPr>
        <p:spPr>
          <a:xfrm>
            <a:off x="777240" y="612000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Action 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 폼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7" name="Rounded Rectangle 10"/>
          <p:cNvSpPr/>
          <p:nvPr/>
        </p:nvSpPr>
        <p:spPr>
          <a:xfrm>
            <a:off x="4367880" y="612000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/ Result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 영역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8" name="Rounded Rectangle 11"/>
          <p:cNvSpPr/>
          <p:nvPr/>
        </p:nvSpPr>
        <p:spPr>
          <a:xfrm>
            <a:off x="7958160" y="6120000"/>
            <a:ext cx="3418920" cy="28548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history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로 실행 결과 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9" name="TextBox 12"/>
          <p:cNvSpPr/>
          <p:nvPr/>
        </p:nvSpPr>
        <p:spPr>
          <a:xfrm>
            <a:off x="457200" y="6565320"/>
            <a:ext cx="1123992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Lab Action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실행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Goal schema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0" name="Rectangle 9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71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1147400" cy="4853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Box 1"/>
          <p:cNvSpPr/>
          <p:nvPr/>
        </p:nvSpPr>
        <p:spPr>
          <a:xfrm>
            <a:off x="502920" y="255960"/>
            <a:ext cx="200520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3" name="TextBox 2"/>
          <p:cNvSpPr/>
          <p:nvPr/>
        </p:nvSpPr>
        <p:spPr>
          <a:xfrm>
            <a:off x="11206080" y="31464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4" name="TextBox 3"/>
          <p:cNvSpPr/>
          <p:nvPr/>
        </p:nvSpPr>
        <p:spPr>
          <a:xfrm>
            <a:off x="502920" y="567000"/>
            <a:ext cx="986904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1 ·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실제 장비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패키지 의존성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5" name="TextBox 4"/>
          <p:cNvSpPr/>
          <p:nvPr/>
        </p:nvSpPr>
        <p:spPr>
          <a:xfrm>
            <a:off x="502920" y="1005840"/>
            <a:ext cx="102348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타입 정의뿐 아니라 원본 패키지 구조와 의존성까지 있어야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build · import ·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통신이 가능했습니다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6" name="Rounded Rectangle 5"/>
          <p:cNvSpPr/>
          <p:nvPr/>
        </p:nvSpPr>
        <p:spPr>
          <a:xfrm>
            <a:off x="502920" y="1463040"/>
            <a:ext cx="2919600" cy="9079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77" name="TextBox 6"/>
          <p:cNvSpPr/>
          <p:nvPr/>
        </p:nvSpPr>
        <p:spPr>
          <a:xfrm>
            <a:off x="631080" y="1554480"/>
            <a:ext cx="26636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8" name="TextBox 7"/>
          <p:cNvSpPr/>
          <p:nvPr/>
        </p:nvSpPr>
        <p:spPr>
          <a:xfrm>
            <a:off x="631080" y="1847160"/>
            <a:ext cx="266364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실제 장비의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받았지만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대시보드 환경에는 해당 패키지가 없어 정확한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Service·Action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타입을 불러올 수 없었습니다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9" name="Rounded Rectangle 8"/>
          <p:cNvSpPr/>
          <p:nvPr/>
        </p:nvSpPr>
        <p:spPr>
          <a:xfrm>
            <a:off x="502920" y="2514600"/>
            <a:ext cx="2919600" cy="11365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0" name="TextBox 9"/>
          <p:cNvSpPr/>
          <p:nvPr/>
        </p:nvSpPr>
        <p:spPr>
          <a:xfrm>
            <a:off x="631080" y="2606040"/>
            <a:ext cx="26636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1" name="TextBox 10"/>
          <p:cNvSpPr/>
          <p:nvPr/>
        </p:nvSpPr>
        <p:spPr>
          <a:xfrm>
            <a:off x="631080" y="2898720"/>
            <a:ext cx="26636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사용자 정의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타입 이름만으로 사용할 수 없습니다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 msg/srv/action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정의와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package.xml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의존성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CMakeLists.txt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빌드 설정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원본 패키지명이 함께 필요했습니다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2" name="Rounded Rectangle 11"/>
          <p:cNvSpPr/>
          <p:nvPr/>
        </p:nvSpPr>
        <p:spPr>
          <a:xfrm>
            <a:off x="502920" y="3794760"/>
            <a:ext cx="2919600" cy="10591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3" name="TextBox 12"/>
          <p:cNvSpPr/>
          <p:nvPr/>
        </p:nvSpPr>
        <p:spPr>
          <a:xfrm>
            <a:off x="631080" y="3886200"/>
            <a:ext cx="26636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4" name="TextBox 13"/>
          <p:cNvSpPr/>
          <p:nvPr/>
        </p:nvSpPr>
        <p:spPr>
          <a:xfrm>
            <a:off x="631080" y="4178880"/>
            <a:ext cx="26636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장비별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패키지를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ZIP/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폴더 단위로 업로드하고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build/apply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import-check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거쳐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Backend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가 실제 타입을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하도록 구성했습니다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5" name="Rounded Rectangle 14"/>
          <p:cNvSpPr/>
          <p:nvPr/>
        </p:nvSpPr>
        <p:spPr>
          <a:xfrm>
            <a:off x="494280" y="5040000"/>
            <a:ext cx="2919600" cy="8593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6" name="TextBox 15"/>
          <p:cNvSpPr/>
          <p:nvPr/>
        </p:nvSpPr>
        <p:spPr>
          <a:xfrm>
            <a:off x="631080" y="5114880"/>
            <a:ext cx="26636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7" name="TextBox 16"/>
          <p:cNvSpPr/>
          <p:nvPr/>
        </p:nvSpPr>
        <p:spPr>
          <a:xfrm>
            <a:off x="631080" y="5321880"/>
            <a:ext cx="26636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Service·Action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타입 인식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Feedback/Result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해석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장비별 패키지 확장이 가능해졌습니다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3794760" y="4316040"/>
            <a:ext cx="73544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실제 화면</a:t>
            </a:r>
            <a:r>
              <a:rPr b="0" lang="en-US" sz="950" spc="-1" strike="noStrike">
                <a:solidFill>
                  <a:srgbClr val="475569"/>
                </a:solidFill>
                <a:latin typeface="Aptos"/>
                <a:ea typeface="Calibri"/>
              </a:rPr>
              <a:t>: Uploaded Interface Packages / rths_interfaces / msg·srv import</a:t>
            </a: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됨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9" name="Rounded Rectangle 19"/>
          <p:cNvSpPr/>
          <p:nvPr/>
        </p:nvSpPr>
        <p:spPr>
          <a:xfrm>
            <a:off x="3931920" y="4864680"/>
            <a:ext cx="816480" cy="52380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0" name="TextBox 20"/>
          <p:cNvSpPr/>
          <p:nvPr/>
        </p:nvSpPr>
        <p:spPr>
          <a:xfrm>
            <a:off x="3977640" y="4984920"/>
            <a:ext cx="72504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패키지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업로드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1" name="Rounded Rectangle 21"/>
          <p:cNvSpPr/>
          <p:nvPr/>
        </p:nvSpPr>
        <p:spPr>
          <a:xfrm>
            <a:off x="5074920" y="4864680"/>
            <a:ext cx="816480" cy="52380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2" name="TextBox 22"/>
          <p:cNvSpPr/>
          <p:nvPr/>
        </p:nvSpPr>
        <p:spPr>
          <a:xfrm>
            <a:off x="5120640" y="4984920"/>
            <a:ext cx="72504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colcon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build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3" name="Rounded Rectangle 23"/>
          <p:cNvSpPr/>
          <p:nvPr/>
        </p:nvSpPr>
        <p:spPr>
          <a:xfrm>
            <a:off x="6217920" y="4864680"/>
            <a:ext cx="816480" cy="52380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4" name="TextBox 24"/>
          <p:cNvSpPr/>
          <p:nvPr/>
        </p:nvSpPr>
        <p:spPr>
          <a:xfrm>
            <a:off x="6263640" y="4984920"/>
            <a:ext cx="72504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install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반영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5" name="Rounded Rectangle 25"/>
          <p:cNvSpPr/>
          <p:nvPr/>
        </p:nvSpPr>
        <p:spPr>
          <a:xfrm>
            <a:off x="7360920" y="4864680"/>
            <a:ext cx="816480" cy="52380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6" name="TextBox 26"/>
          <p:cNvSpPr/>
          <p:nvPr/>
        </p:nvSpPr>
        <p:spPr>
          <a:xfrm>
            <a:off x="7406640" y="4984920"/>
            <a:ext cx="72504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확인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7" name="Rounded Rectangle 27"/>
          <p:cNvSpPr/>
          <p:nvPr/>
        </p:nvSpPr>
        <p:spPr>
          <a:xfrm>
            <a:off x="8503920" y="4864680"/>
            <a:ext cx="816480" cy="52380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8" name="TextBox 28"/>
          <p:cNvSpPr/>
          <p:nvPr/>
        </p:nvSpPr>
        <p:spPr>
          <a:xfrm>
            <a:off x="8549640" y="4984920"/>
            <a:ext cx="72504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가능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399" name="Connector 29"/>
          <p:cNvCxnSpPr/>
          <p:nvPr/>
        </p:nvCxnSpPr>
        <p:spPr>
          <a:xfrm>
            <a:off x="4772880" y="5129640"/>
            <a:ext cx="262800" cy="648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0" name="Connector 30"/>
          <p:cNvCxnSpPr/>
          <p:nvPr/>
        </p:nvCxnSpPr>
        <p:spPr>
          <a:xfrm>
            <a:off x="5915880" y="5129640"/>
            <a:ext cx="262800" cy="648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1" name="Connector 31"/>
          <p:cNvCxnSpPr/>
          <p:nvPr/>
        </p:nvCxnSpPr>
        <p:spPr>
          <a:xfrm>
            <a:off x="7058880" y="5129640"/>
            <a:ext cx="262800" cy="648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2" name="Connector 32"/>
          <p:cNvCxnSpPr/>
          <p:nvPr/>
        </p:nvCxnSpPr>
        <p:spPr>
          <a:xfrm>
            <a:off x="8201880" y="5129640"/>
            <a:ext cx="262800" cy="648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03" name="TextBox 33"/>
          <p:cNvSpPr/>
          <p:nvPr/>
        </p:nvSpPr>
        <p:spPr>
          <a:xfrm>
            <a:off x="3794760" y="5632560"/>
            <a:ext cx="73087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핵심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: .msg/.srv/.action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은 타입 정의이고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package.xml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과 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CMakeLists.txt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는 의존성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·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빌드 방법을 담습니다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4" name="Rectangle 10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405" name="" descr=""/>
          <p:cNvPicPr/>
          <p:nvPr/>
        </p:nvPicPr>
        <p:blipFill>
          <a:blip r:embed="rId1"/>
          <a:stretch/>
        </p:blipFill>
        <p:spPr>
          <a:xfrm>
            <a:off x="3600000" y="1440000"/>
            <a:ext cx="5580000" cy="2805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Box 1"/>
          <p:cNvSpPr/>
          <p:nvPr/>
        </p:nvSpPr>
        <p:spPr>
          <a:xfrm>
            <a:off x="502920" y="255960"/>
            <a:ext cx="200520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7" name="TextBox 2"/>
          <p:cNvSpPr/>
          <p:nvPr/>
        </p:nvSpPr>
        <p:spPr>
          <a:xfrm>
            <a:off x="11206080" y="31464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8" name="TextBox 3"/>
          <p:cNvSpPr/>
          <p:nvPr/>
        </p:nvSpPr>
        <p:spPr>
          <a:xfrm>
            <a:off x="502920" y="567000"/>
            <a:ext cx="986904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2 · FastAPI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ROS2 spin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실행 충돌 방지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9" name="TextBox 4"/>
          <p:cNvSpPr/>
          <p:nvPr/>
        </p:nvSpPr>
        <p:spPr>
          <a:xfrm>
            <a:off x="502920" y="1005840"/>
            <a:ext cx="102348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웹 서버 요청 처리와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ROS2 callback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처리를 동시에 유지하기 위해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spin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을 별도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thread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로 분리했습니다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0" name="Rounded Rectangle 5"/>
          <p:cNvSpPr/>
          <p:nvPr/>
        </p:nvSpPr>
        <p:spPr>
          <a:xfrm>
            <a:off x="502920" y="1417320"/>
            <a:ext cx="3056760" cy="10454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1" name="TextBox 6"/>
          <p:cNvSpPr/>
          <p:nvPr/>
        </p:nvSpPr>
        <p:spPr>
          <a:xfrm>
            <a:off x="631080" y="1508760"/>
            <a:ext cx="28008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2" name="TextBox 7"/>
          <p:cNvSpPr/>
          <p:nvPr/>
        </p:nvSpPr>
        <p:spPr>
          <a:xfrm>
            <a:off x="631080" y="1801440"/>
            <a:ext cx="280080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REST/WebSocket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요청을 계속 처리해야 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ROS2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spin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으로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timer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callback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을 계속 처리해야 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3" name="Rounded Rectangle 8"/>
          <p:cNvSpPr/>
          <p:nvPr/>
        </p:nvSpPr>
        <p:spPr>
          <a:xfrm>
            <a:off x="502920" y="2548800"/>
            <a:ext cx="3056760" cy="10450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4" name="TextBox 9"/>
          <p:cNvSpPr/>
          <p:nvPr/>
        </p:nvSpPr>
        <p:spPr>
          <a:xfrm>
            <a:off x="631080" y="2560320"/>
            <a:ext cx="28008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5" name="TextBox 10"/>
          <p:cNvSpPr/>
          <p:nvPr/>
        </p:nvSpPr>
        <p:spPr>
          <a:xfrm>
            <a:off x="631080" y="2853000"/>
            <a:ext cx="280080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두 작업은 모두 계속 실행되는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blocking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성격이 있어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같은 실행 흐름에서 순서대로 실행하면 한쪽이 다른 쪽을 막을 수 있었습니다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6" name="Rounded Rectangle 11"/>
          <p:cNvSpPr/>
          <p:nvPr/>
        </p:nvSpPr>
        <p:spPr>
          <a:xfrm>
            <a:off x="502920" y="3657600"/>
            <a:ext cx="3056760" cy="101628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7" name="TextBox 12"/>
          <p:cNvSpPr/>
          <p:nvPr/>
        </p:nvSpPr>
        <p:spPr>
          <a:xfrm>
            <a:off x="631080" y="3749040"/>
            <a:ext cx="28008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8" name="TextBox 13"/>
          <p:cNvSpPr/>
          <p:nvPr/>
        </p:nvSpPr>
        <p:spPr>
          <a:xfrm>
            <a:off x="631080" y="4041720"/>
            <a:ext cx="280080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 lifespan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RosMonitor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시작하고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rclpy.spin()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daemon thread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실행하도록 분리했습니다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9" name="Rounded Rectangle 14"/>
          <p:cNvSpPr/>
          <p:nvPr/>
        </p:nvSpPr>
        <p:spPr>
          <a:xfrm>
            <a:off x="502920" y="4813560"/>
            <a:ext cx="3056760" cy="9403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0" name="TextBox 15"/>
          <p:cNvSpPr/>
          <p:nvPr/>
        </p:nvSpPr>
        <p:spPr>
          <a:xfrm>
            <a:off x="613080" y="4860000"/>
            <a:ext cx="28008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1" name="TextBox 16"/>
          <p:cNvSpPr/>
          <p:nvPr/>
        </p:nvSpPr>
        <p:spPr>
          <a:xfrm>
            <a:off x="631080" y="5067000"/>
            <a:ext cx="280080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웹 요청 처리와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메시지 수신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·Graph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갱신을 동시에 유지하고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서버 종료 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자원도 함께 정리했습니다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2" name="TextBox 17"/>
          <p:cNvSpPr/>
          <p:nvPr/>
        </p:nvSpPr>
        <p:spPr>
          <a:xfrm>
            <a:off x="3886200" y="1408320"/>
            <a:ext cx="11822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ef4444"/>
                </a:solidFill>
                <a:latin typeface="Aptos"/>
                <a:ea typeface="Calibri"/>
              </a:rPr>
              <a:t>BEFORE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3" name="Rounded Rectangle 18"/>
          <p:cNvSpPr/>
          <p:nvPr/>
        </p:nvSpPr>
        <p:spPr>
          <a:xfrm>
            <a:off x="3886200" y="1719000"/>
            <a:ext cx="2050920" cy="39600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4" name="TextBox 19"/>
          <p:cNvSpPr/>
          <p:nvPr/>
        </p:nvSpPr>
        <p:spPr>
          <a:xfrm>
            <a:off x="3931920" y="1847520"/>
            <a:ext cx="1959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5" name="Rounded Rectangle 20"/>
          <p:cNvSpPr/>
          <p:nvPr/>
        </p:nvSpPr>
        <p:spPr>
          <a:xfrm>
            <a:off x="3886200" y="2331720"/>
            <a:ext cx="2050920" cy="65196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6" name="TextBox 21"/>
          <p:cNvSpPr/>
          <p:nvPr/>
        </p:nvSpPr>
        <p:spPr>
          <a:xfrm>
            <a:off x="3931920" y="2516040"/>
            <a:ext cx="195948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 </a:t>
            </a: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또는 </a:t>
            </a: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7" name="Rounded Rectangle 22"/>
          <p:cNvSpPr/>
          <p:nvPr/>
        </p:nvSpPr>
        <p:spPr>
          <a:xfrm>
            <a:off x="3886200" y="3273480"/>
            <a:ext cx="2050920" cy="65196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8" name="TextBox 23"/>
          <p:cNvSpPr/>
          <p:nvPr/>
        </p:nvSpPr>
        <p:spPr>
          <a:xfrm>
            <a:off x="3931920" y="3457800"/>
            <a:ext cx="195948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한쪽이 계속 대기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다른 작업 실행 지연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29" name="Connector 24"/>
          <p:cNvCxnSpPr/>
          <p:nvPr/>
        </p:nvCxnSpPr>
        <p:spPr>
          <a:xfrm>
            <a:off x="4919400" y="2139480"/>
            <a:ext cx="6480" cy="17100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cxnSp>
        <p:nvCxnSpPr>
          <p:cNvPr id="430" name="Connector 25"/>
          <p:cNvCxnSpPr/>
          <p:nvPr/>
        </p:nvCxnSpPr>
        <p:spPr>
          <a:xfrm>
            <a:off x="4919400" y="3008160"/>
            <a:ext cx="6480" cy="24444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sp>
        <p:nvSpPr>
          <p:cNvPr id="431" name="TextBox 26"/>
          <p:cNvSpPr/>
          <p:nvPr/>
        </p:nvSpPr>
        <p:spPr>
          <a:xfrm>
            <a:off x="4507920" y="4041720"/>
            <a:ext cx="127368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ef4444"/>
                </a:solidFill>
                <a:latin typeface="Aptos"/>
                <a:ea typeface="Calibri"/>
              </a:rPr>
              <a:t>blocking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2" name="TextBox 27"/>
          <p:cNvSpPr/>
          <p:nvPr/>
        </p:nvSpPr>
        <p:spPr>
          <a:xfrm>
            <a:off x="6766560" y="1408320"/>
            <a:ext cx="11822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0ea5a4"/>
                </a:solidFill>
                <a:latin typeface="Aptos"/>
                <a:ea typeface="Calibri"/>
              </a:rPr>
              <a:t>AFTER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3" name="Rounded Rectangle 28"/>
          <p:cNvSpPr/>
          <p:nvPr/>
        </p:nvSpPr>
        <p:spPr>
          <a:xfrm>
            <a:off x="6766560" y="1719000"/>
            <a:ext cx="2050920" cy="39600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4" name="TextBox 29"/>
          <p:cNvSpPr/>
          <p:nvPr/>
        </p:nvSpPr>
        <p:spPr>
          <a:xfrm>
            <a:off x="6812280" y="1847520"/>
            <a:ext cx="1959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5" name="Rounded Rectangle 30"/>
          <p:cNvSpPr/>
          <p:nvPr/>
        </p:nvSpPr>
        <p:spPr>
          <a:xfrm>
            <a:off x="6766560" y="2331720"/>
            <a:ext cx="2050920" cy="65196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6" name="TextBox 31"/>
          <p:cNvSpPr/>
          <p:nvPr/>
        </p:nvSpPr>
        <p:spPr>
          <a:xfrm>
            <a:off x="6812280" y="2516040"/>
            <a:ext cx="195948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REST / WebSocket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7" name="Rounded Rectangle 32"/>
          <p:cNvSpPr/>
          <p:nvPr/>
        </p:nvSpPr>
        <p:spPr>
          <a:xfrm>
            <a:off x="9144000" y="1719000"/>
            <a:ext cx="2050920" cy="39600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8" name="TextBox 33"/>
          <p:cNvSpPr/>
          <p:nvPr/>
        </p:nvSpPr>
        <p:spPr>
          <a:xfrm>
            <a:off x="9189720" y="1847520"/>
            <a:ext cx="1959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ROS2 Spin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9" name="Rounded Rectangle 34"/>
          <p:cNvSpPr/>
          <p:nvPr/>
        </p:nvSpPr>
        <p:spPr>
          <a:xfrm>
            <a:off x="9144000" y="2331720"/>
            <a:ext cx="2050920" cy="65196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40" name="TextBox 35"/>
          <p:cNvSpPr/>
          <p:nvPr/>
        </p:nvSpPr>
        <p:spPr>
          <a:xfrm>
            <a:off x="9189720" y="2516040"/>
            <a:ext cx="195948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timer / callback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41" name="Connector 36"/>
          <p:cNvCxnSpPr/>
          <p:nvPr/>
        </p:nvCxnSpPr>
        <p:spPr>
          <a:xfrm>
            <a:off x="8869680" y="2679120"/>
            <a:ext cx="280800" cy="648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42" name="TextBox 37"/>
          <p:cNvSpPr/>
          <p:nvPr/>
        </p:nvSpPr>
        <p:spPr>
          <a:xfrm>
            <a:off x="8092440" y="3154680"/>
            <a:ext cx="17766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ko-KR" sz="1200" spc="-1" strike="noStrike">
                <a:solidFill>
                  <a:srgbClr val="0ea5a4"/>
                </a:solidFill>
                <a:latin typeface="Aptos"/>
                <a:ea typeface="Calibri"/>
              </a:rPr>
              <a:t>동시에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43" name="Picture 38" descr="1e56b5ef-0fa1-412f-bdbb-d92b084fb9b7.png"/>
          <p:cNvPicPr/>
          <p:nvPr/>
        </p:nvPicPr>
        <p:blipFill>
          <a:blip r:embed="rId1"/>
          <a:stretch/>
        </p:blipFill>
        <p:spPr>
          <a:xfrm>
            <a:off x="3840480" y="4498920"/>
            <a:ext cx="3148200" cy="1550880"/>
          </a:xfrm>
          <a:prstGeom prst="rect">
            <a:avLst/>
          </a:prstGeom>
          <a:ln w="0">
            <a:noFill/>
          </a:ln>
        </p:spPr>
      </p:pic>
      <p:pic>
        <p:nvPicPr>
          <p:cNvPr id="444" name="Picture 39" descr="569d6930-8348-4474-95f2-d05bb2fe0853.png"/>
          <p:cNvPicPr/>
          <p:nvPr/>
        </p:nvPicPr>
        <p:blipFill>
          <a:blip r:embed="rId2"/>
          <a:stretch/>
        </p:blipFill>
        <p:spPr>
          <a:xfrm>
            <a:off x="7498080" y="4498920"/>
            <a:ext cx="2736720" cy="1959840"/>
          </a:xfrm>
          <a:prstGeom prst="rect">
            <a:avLst/>
          </a:prstGeom>
          <a:ln w="0">
            <a:noFill/>
          </a:ln>
        </p:spPr>
      </p:pic>
      <p:sp>
        <p:nvSpPr>
          <p:cNvPr id="445" name="TextBox 40"/>
          <p:cNvSpPr/>
          <p:nvPr/>
        </p:nvSpPr>
        <p:spPr>
          <a:xfrm>
            <a:off x="4680000" y="6620760"/>
            <a:ext cx="4700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코드 근거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: lifespan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에서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start/stop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연결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· Thread(target=self._spin, daemon=True)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spin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분리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6" name="Rectangle 11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TextBox 1"/>
          <p:cNvSpPr/>
          <p:nvPr/>
        </p:nvSpPr>
        <p:spPr>
          <a:xfrm>
            <a:off x="502920" y="292680"/>
            <a:ext cx="182628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237089"/>
                </a:solidFill>
                <a:latin typeface="Malgun Gothic"/>
                <a:ea typeface="Calibri"/>
              </a:rPr>
              <a:t>DEMO VIDEO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8" name="TextBox 2"/>
          <p:cNvSpPr/>
          <p:nvPr/>
        </p:nvSpPr>
        <p:spPr>
          <a:xfrm>
            <a:off x="10972800" y="292680"/>
            <a:ext cx="45468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20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9" name="Rectangle 3"/>
          <p:cNvSpPr/>
          <p:nvPr/>
        </p:nvSpPr>
        <p:spPr>
          <a:xfrm>
            <a:off x="502920" y="631080"/>
            <a:ext cx="619200" cy="29520"/>
          </a:xfrm>
          <a:prstGeom prst="rect">
            <a:avLst/>
          </a:prstGeom>
          <a:solidFill>
            <a:srgbClr val="23a4a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0" name="TextBox 4"/>
          <p:cNvSpPr/>
          <p:nvPr/>
        </p:nvSpPr>
        <p:spPr>
          <a:xfrm>
            <a:off x="502920" y="749880"/>
            <a:ext cx="4935240" cy="4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28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 영상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1" name="TextBox 5"/>
          <p:cNvSpPr/>
          <p:nvPr/>
        </p:nvSpPr>
        <p:spPr>
          <a:xfrm>
            <a:off x="502920" y="1170360"/>
            <a:ext cx="767844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실제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UI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기능 검수 영상으로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,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자동 모니터링과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Interface Lab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실행 흐름을 확인합니다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2" name="Right Triangle 13"/>
          <p:cNvSpPr/>
          <p:nvPr/>
        </p:nvSpPr>
        <p:spPr>
          <a:xfrm>
            <a:off x="3675960" y="3246120"/>
            <a:ext cx="317520" cy="454680"/>
          </a:xfrm>
          <a:prstGeom prst="rtTriangle">
            <a:avLst/>
          </a:prstGeom>
          <a:solidFill>
            <a:srgbClr val="ffffff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3" name="TextBox 14"/>
          <p:cNvSpPr/>
          <p:nvPr/>
        </p:nvSpPr>
        <p:spPr>
          <a:xfrm>
            <a:off x="987480" y="5230440"/>
            <a:ext cx="5666760" cy="1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54" name="Rounded Rectangle 15"/>
          <p:cNvSpPr/>
          <p:nvPr/>
        </p:nvSpPr>
        <p:spPr>
          <a:xfrm>
            <a:off x="7296840" y="1691640"/>
            <a:ext cx="4313520" cy="3883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080">
            <a:solidFill>
              <a:srgbClr val="d7dd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5" name="TextBox 16"/>
          <p:cNvSpPr/>
          <p:nvPr/>
        </p:nvSpPr>
        <p:spPr>
          <a:xfrm>
            <a:off x="7589520" y="1938600"/>
            <a:ext cx="347220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6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시연에서 확인할 흐름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6" name="TextBox 17"/>
          <p:cNvSpPr/>
          <p:nvPr/>
        </p:nvSpPr>
        <p:spPr>
          <a:xfrm>
            <a:off x="7589520" y="2221920"/>
            <a:ext cx="3609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화면을 따라가며 “관찰 → 실행 → 경고 확인”을 순서대로 보여줍니다</a:t>
            </a:r>
            <a:r>
              <a:rPr b="0" lang="en-US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7" name="Rounded Rectangle 18"/>
          <p:cNvSpPr/>
          <p:nvPr/>
        </p:nvSpPr>
        <p:spPr>
          <a:xfrm>
            <a:off x="7571160" y="2670120"/>
            <a:ext cx="417960" cy="41796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8" name="TextBox 19"/>
          <p:cNvSpPr/>
          <p:nvPr/>
        </p:nvSpPr>
        <p:spPr>
          <a:xfrm>
            <a:off x="7571160" y="2787840"/>
            <a:ext cx="4179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9" name="TextBox 20"/>
          <p:cNvSpPr/>
          <p:nvPr/>
        </p:nvSpPr>
        <p:spPr>
          <a:xfrm>
            <a:off x="8119800" y="2660760"/>
            <a:ext cx="8204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관찰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8119800" y="2898720"/>
            <a:ext cx="2832120" cy="31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Overview · Topic · Service · Action · Node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상태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1" name="Rounded Rectangle 22"/>
          <p:cNvSpPr/>
          <p:nvPr/>
        </p:nvSpPr>
        <p:spPr>
          <a:xfrm>
            <a:off x="7571160" y="3447360"/>
            <a:ext cx="417960" cy="41796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2" name="TextBox 23"/>
          <p:cNvSpPr/>
          <p:nvPr/>
        </p:nvSpPr>
        <p:spPr>
          <a:xfrm>
            <a:off x="7571160" y="3565080"/>
            <a:ext cx="4179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3" name="TextBox 24"/>
          <p:cNvSpPr/>
          <p:nvPr/>
        </p:nvSpPr>
        <p:spPr>
          <a:xfrm>
            <a:off x="8119800" y="3438000"/>
            <a:ext cx="8204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실행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4" name="TextBox 25"/>
          <p:cNvSpPr/>
          <p:nvPr/>
        </p:nvSpPr>
        <p:spPr>
          <a:xfrm>
            <a:off x="8119800" y="3675960"/>
            <a:ext cx="2832120" cy="31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Interface Lab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에서 </a:t>
            </a: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Publish · Receive · Call · Goal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실행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5" name="Rounded Rectangle 26"/>
          <p:cNvSpPr/>
          <p:nvPr/>
        </p:nvSpPr>
        <p:spPr>
          <a:xfrm>
            <a:off x="7571160" y="4224600"/>
            <a:ext cx="417960" cy="41796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6" name="TextBox 27"/>
          <p:cNvSpPr/>
          <p:nvPr/>
        </p:nvSpPr>
        <p:spPr>
          <a:xfrm>
            <a:off x="7571160" y="4342320"/>
            <a:ext cx="4179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7" name="TextBox 28"/>
          <p:cNvSpPr/>
          <p:nvPr/>
        </p:nvSpPr>
        <p:spPr>
          <a:xfrm>
            <a:off x="8119800" y="4215240"/>
            <a:ext cx="8204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검증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8" name="TextBox 29"/>
          <p:cNvSpPr/>
          <p:nvPr/>
        </p:nvSpPr>
        <p:spPr>
          <a:xfrm>
            <a:off x="8119800" y="4453200"/>
            <a:ext cx="28321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Alert, Visualization, history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로 결과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9" name="Rounded Rectangle 30"/>
          <p:cNvSpPr/>
          <p:nvPr/>
        </p:nvSpPr>
        <p:spPr>
          <a:xfrm>
            <a:off x="594360" y="5742360"/>
            <a:ext cx="11016000" cy="473040"/>
          </a:xfrm>
          <a:prstGeom prst="roundRect">
            <a:avLst>
              <a:gd name="adj" fmla="val 10000"/>
            </a:avLst>
          </a:prstGeom>
          <a:solidFill>
            <a:srgbClr val="e7f6f6"/>
          </a:solidFill>
          <a:ln w="10080">
            <a:solidFill>
              <a:srgbClr val="e7f6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0" name="TextBox 31"/>
          <p:cNvSpPr/>
          <p:nvPr/>
        </p:nvSpPr>
        <p:spPr>
          <a:xfrm>
            <a:off x="822960" y="5857200"/>
            <a:ext cx="1051308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핵심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: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시연 영상은 실제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UI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에서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ROS2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통신 상태를 확인하고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,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등록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Interface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로 직접 통신을 실행하는 과정을 보여줍니다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.</a:t>
            </a:r>
            <a:endParaRPr b="0" lang="en-US" sz="11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71" name="" descr="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720000" y="1800000"/>
            <a:ext cx="6298200" cy="3542760"/>
          </a:xfrm>
          <a:prstGeom prst="rect">
            <a:avLst/>
          </a:prstGeom>
          <a:ln w="0">
            <a:noFill/>
          </a:ln>
        </p:spPr>
      </p:pic>
      <p:sp>
        <p:nvSpPr>
          <p:cNvPr id="472" name="Rectangle 12"/>
          <p:cNvSpPr/>
          <p:nvPr/>
        </p:nvSpPr>
        <p:spPr>
          <a:xfrm>
            <a:off x="0" y="0"/>
            <a:ext cx="12184920" cy="6588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1"/>
          <p:cNvSpPr/>
          <p:nvPr/>
        </p:nvSpPr>
        <p:spPr>
          <a:xfrm>
            <a:off x="0" y="0"/>
            <a:ext cx="12188160" cy="60120"/>
          </a:xfrm>
          <a:prstGeom prst="rect">
            <a:avLst/>
          </a:prstGeom>
          <a:solidFill>
            <a:srgbClr val="00908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4" name="TextBox 2"/>
          <p:cNvSpPr/>
          <p:nvPr/>
        </p:nvSpPr>
        <p:spPr>
          <a:xfrm>
            <a:off x="640080" y="298080"/>
            <a:ext cx="182484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750" spc="-1" strike="noStrike">
                <a:solidFill>
                  <a:srgbClr val="082d4b"/>
                </a:solidFill>
                <a:latin typeface="Malgun Gothic"/>
                <a:ea typeface="Calibri"/>
              </a:rPr>
              <a:t>NEXT STEP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5" name="TextBox 3"/>
          <p:cNvSpPr/>
          <p:nvPr/>
        </p:nvSpPr>
        <p:spPr>
          <a:xfrm>
            <a:off x="11163960" y="280440"/>
            <a:ext cx="1641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21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6" name="TextBox 4"/>
          <p:cNvSpPr/>
          <p:nvPr/>
        </p:nvSpPr>
        <p:spPr>
          <a:xfrm>
            <a:off x="3154680" y="518400"/>
            <a:ext cx="60310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 </a:t>
            </a:r>
            <a:r>
              <a:rPr b="1" lang="ko-KR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확장 개발</a:t>
            </a:r>
            <a:endParaRPr b="0" lang="en-US" sz="2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7" name="TextBox 5"/>
          <p:cNvSpPr/>
          <p:nvPr/>
        </p:nvSpPr>
        <p:spPr>
          <a:xfrm>
            <a:off x="1828800" y="1043280"/>
            <a:ext cx="859140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현재 구현된 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Monitoring / Interface Lab</a:t>
            </a: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을 기반으로 현장 장비화와 지능형 진단까지 확장합니다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8" name="Rounded Rectangle 6"/>
          <p:cNvSpPr/>
          <p:nvPr/>
        </p:nvSpPr>
        <p:spPr>
          <a:xfrm>
            <a:off x="777240" y="1417320"/>
            <a:ext cx="5025240" cy="1349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9" name="Rectangle 7"/>
          <p:cNvSpPr/>
          <p:nvPr/>
        </p:nvSpPr>
        <p:spPr>
          <a:xfrm>
            <a:off x="777240" y="1417320"/>
            <a:ext cx="60120" cy="1349280"/>
          </a:xfrm>
          <a:prstGeom prst="rect">
            <a:avLst/>
          </a:prstGeom>
          <a:solidFill>
            <a:srgbClr val="00968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0" name="TextBox 8"/>
          <p:cNvSpPr/>
          <p:nvPr/>
        </p:nvSpPr>
        <p:spPr>
          <a:xfrm>
            <a:off x="1005840" y="1617120"/>
            <a:ext cx="44766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1.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현장형 엣지 모니터링 장비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1" name="TextBox 9"/>
          <p:cNvSpPr/>
          <p:nvPr/>
        </p:nvSpPr>
        <p:spPr>
          <a:xfrm>
            <a:off x="1005840" y="1920240"/>
            <a:ext cx="443088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Jetson Nano·Raspberry Pi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와 터치 디스플레이에 대시보드를 탑재해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현장에서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ROS2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연결 상태와 통신 이상을 바로 확인하는 독립형 진단 장비로 확장합니다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2" name="Rounded Rectangle 10"/>
          <p:cNvSpPr/>
          <p:nvPr/>
        </p:nvSpPr>
        <p:spPr>
          <a:xfrm>
            <a:off x="5989320" y="1417320"/>
            <a:ext cx="5025240" cy="1349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3" name="Rectangle 11"/>
          <p:cNvSpPr/>
          <p:nvPr/>
        </p:nvSpPr>
        <p:spPr>
          <a:xfrm>
            <a:off x="5989320" y="1417320"/>
            <a:ext cx="60120" cy="1349280"/>
          </a:xfrm>
          <a:prstGeom prst="rect">
            <a:avLst/>
          </a:prstGeom>
          <a:solidFill>
            <a:srgbClr val="7759cb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4" name="TextBox 12"/>
          <p:cNvSpPr/>
          <p:nvPr/>
        </p:nvSpPr>
        <p:spPr>
          <a:xfrm>
            <a:off x="6217920" y="1617120"/>
            <a:ext cx="44766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2. LLM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기반 장애 원인 추정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5" name="TextBox 13"/>
          <p:cNvSpPr/>
          <p:nvPr/>
        </p:nvSpPr>
        <p:spPr>
          <a:xfrm>
            <a:off x="6217920" y="1920240"/>
            <a:ext cx="443088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로그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Alert, Node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Service Timeout, Action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실패 결과를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LLM API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또는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Local LLM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과 연결해 원인 후보와 우선 점검 항목을 제안합니다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6" name="Rounded Rectangle 14"/>
          <p:cNvSpPr/>
          <p:nvPr/>
        </p:nvSpPr>
        <p:spPr>
          <a:xfrm>
            <a:off x="777240" y="3246120"/>
            <a:ext cx="5025240" cy="1349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7" name="Rectangle 15"/>
          <p:cNvSpPr/>
          <p:nvPr/>
        </p:nvSpPr>
        <p:spPr>
          <a:xfrm>
            <a:off x="777240" y="3246120"/>
            <a:ext cx="60120" cy="1349280"/>
          </a:xfrm>
          <a:prstGeom prst="rect">
            <a:avLst/>
          </a:prstGeom>
          <a:solidFill>
            <a:srgbClr val="f5a623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8" name="TextBox 16"/>
          <p:cNvSpPr/>
          <p:nvPr/>
        </p:nvSpPr>
        <p:spPr>
          <a:xfrm>
            <a:off x="1005840" y="3445920"/>
            <a:ext cx="44766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3.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주요 통신 자동 선별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9" name="TextBox 17"/>
          <p:cNvSpPr/>
          <p:nvPr/>
        </p:nvSpPr>
        <p:spPr>
          <a:xfrm>
            <a:off x="1005840" y="3749040"/>
            <a:ext cx="443088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YAML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필터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Graph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관계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발생 빈도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의존도를 함께 분석해 우선 확인해야 할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Topic·Service·Action·Node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를 자동 선별합니다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0" name="Rounded Rectangle 18"/>
          <p:cNvSpPr/>
          <p:nvPr/>
        </p:nvSpPr>
        <p:spPr>
          <a:xfrm>
            <a:off x="5989320" y="3246120"/>
            <a:ext cx="5025240" cy="1349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1" name="Rectangle 19"/>
          <p:cNvSpPr/>
          <p:nvPr/>
        </p:nvSpPr>
        <p:spPr>
          <a:xfrm>
            <a:off x="5989320" y="3246120"/>
            <a:ext cx="60120" cy="1349280"/>
          </a:xfrm>
          <a:prstGeom prst="rect">
            <a:avLst/>
          </a:prstGeom>
          <a:solidFill>
            <a:srgbClr val="eb5555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2" name="TextBox 20"/>
          <p:cNvSpPr/>
          <p:nvPr/>
        </p:nvSpPr>
        <p:spPr>
          <a:xfrm>
            <a:off x="6217920" y="3445920"/>
            <a:ext cx="44766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4.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 유형별 관리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3" name="TextBox 21"/>
          <p:cNvSpPr/>
          <p:nvPr/>
        </p:nvSpPr>
        <p:spPr>
          <a:xfrm>
            <a:off x="6217920" y="3749040"/>
            <a:ext cx="4430880" cy="3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향후 통신 명세의 목적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발행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예상 주기와 통신 관계를 기준으로</a:t>
            </a:r>
            <a:br>
              <a:rPr sz="850"/>
            </a:b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생존 통신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 센서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Stream,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명령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Event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통신을 구분 하여</a:t>
            </a:r>
            <a:br>
              <a:rPr sz="850"/>
            </a:b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특성에 맞는 관리가 가능하도록 개선합니다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4" name="Rounded Rectangle 22"/>
          <p:cNvSpPr/>
          <p:nvPr/>
        </p:nvSpPr>
        <p:spPr>
          <a:xfrm>
            <a:off x="777240" y="5559480"/>
            <a:ext cx="10511640" cy="617760"/>
          </a:xfrm>
          <a:prstGeom prst="roundRect">
            <a:avLst>
              <a:gd name="adj" fmla="val 12000"/>
            </a:avLst>
          </a:prstGeom>
          <a:solidFill>
            <a:srgbClr val="e5f8f6"/>
          </a:solidFill>
          <a:ln w="10080">
            <a:solidFill>
              <a:srgbClr val="78cdc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5" name="TextBox 23"/>
          <p:cNvSpPr/>
          <p:nvPr/>
        </p:nvSpPr>
        <p:spPr>
          <a:xfrm>
            <a:off x="960120" y="5774400"/>
            <a:ext cx="101458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최종 목표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: ROS2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통신을 보여주는 대시보드를 넘어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,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현장에서 상태 확인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장애 분석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우선순위 판단까지 지원하는 지능형 진단 플랫폼으로 확장합니다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1916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2026-07-22T06:46:56Z</dcterms:created>
  <dc:creator>Walnut Exporter</dc:creator>
  <dc:description/>
  <dc:language>ko-KR</dc:language>
  <cp:lastModifiedBy/>
  <cp:lastPrinted>2026-07-29T15:54:40Z</cp:lastPrinted>
  <dcterms:modified xsi:type="dcterms:W3CDTF">2026-08-03T14:19:50Z</dcterms:modified>
  <cp:revision>65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