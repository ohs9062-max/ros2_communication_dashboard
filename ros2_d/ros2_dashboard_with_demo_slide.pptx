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9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슬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클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릭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십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메모 서식을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편집하려면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클릭하십시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fld id="{D804C1AE-6EE4-418A-AE4B-A491C8F23DC4}" type="slidenum"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프로젝트는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상태를 관찰하는 기능과 사용자가 직접 통신을 실행하는 기능을 한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오늘은 코드 파일을 따라가기보다 실제 화면에서 무엇을 확인하고 무엇을 실행할 수 있는지 중심으로 설명하겠습니다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크게는 자동 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영역으로 나뉩니다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로봇 프로그램들이 서로 데이터를 주고받는 실행 환경입니다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직접 제어하나요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관찰만 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버튼을 눌렀을 때만 통신을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세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룹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령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놓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erf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erf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pic,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erf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넓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줍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높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없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_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q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속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뜻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겨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줍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횟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당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뜻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요청 창구를 관찰하고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요청을 실제로 보냅니다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화면에서는 이름과 타입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사용 가능 상태를 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일반 모니터링은 요청을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등록한 안전한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Active 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백그라운드로 확인하며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사용자의 실제 요청은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받는 창구이고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보내는 프로그램입니다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호출해도 안전하다고 미리 허용한 목록입니다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화면을 열면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발생하나요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 조회는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눌렀을 때만 명시 요청이 전송됩니다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사용자의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실행은 서로 다른 경로입니다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시간이 걸리는 작업에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 화면은 이미 진행되거나 관찰된 상태를 보여줄 뿐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자동으로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succeeded, aborted, canceled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작업이 끝난 뒤의 최종 결과입니다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모니터가 모든 과거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조회하나요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status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관찰된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조회 대상으로 삼습니다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각 실행 단위가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어떻게 참여하는지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이름만 보면 역할을 알기 어렵습니다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그래서 이 화면은 발행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·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제공하거나 사용하는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실행하거나 요청하는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관계를 함께 표시합니다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깜빡임을 줄이기 위해 잠시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상태로 보존됩니다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프로세스 종료를 직접 확인한 뜻이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더 이상 보이지 않는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계속 남아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timeout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동안만 보존한 뒤 제거됩니다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aliza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ken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납니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Mon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itori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ng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옵니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parti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cipa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nt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맞게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hTra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nsfo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ct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Flo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hop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연결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방식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ct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Flo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연결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브러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리입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ken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/gra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ph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없습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/no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des,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cs,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ices,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ons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섞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못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속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찾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없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파일과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필요 없고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나머지 방식은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코드를 만들어야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시스템에 설치되어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문자열만 등록하면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정의를 화면에서 작성하거나 단일 파일 또는 패키지를 업로드하면 파일이 생기므로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확인이 필요합니다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등록만 성공했다고 바로 실행 가능한 것은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package/msg/Type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package/srv/Type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패키지와 종류까지 포함한 전체 타입 이름입니다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아무 문자열이나 넣어도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타입이어야 실제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타입 코드를 생성하는 단계이고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 앞뒤 과정을 포함합니다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업로드한 파일은 정의서일 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바로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수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패키지 구조와 설정 파일을 준비하고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사용할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코드가 생성됩니다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설치 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import-check, registry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갱신까지 묶은 상위 흐름이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workspace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패키지를 빌드하는 명령입니다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생성된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실제로 불러올 수 있는지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성공이면 바로 실행 가능한가요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항상 그렇지는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install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까지 통과해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상태인지 확인해야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한 번 발행하거나 사용자가 구독을 시작하고 멈추는 기능입니다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name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보낼 채널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 구조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실제 필드 값입니다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Publish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입력을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 Message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변환해 발행하고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남깁니다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버튼으로 구독을 만들고 받은 메시지를 저장하며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정리합니다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예를 들어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speed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enabled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필드에 넣을 실제 값의 묶음입니다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모니터링의 구독과 같은 기능인가요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supported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관찰용이고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사용자가 명시적으로 시작한 테스트 구독입니다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둘 다 직접 실행하지만 응답 구조가 다릅니다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Request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보내고 한 번의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Response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accepted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기능 모두 등록과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가능하고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이름과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정확히 일치해야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exact match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통신 이름과 전체 타입이 모두 정확히 같아야 한다는 뜻입니다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validation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 구조에 맞는지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입력값이 틀려도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전송되나요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validation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실패 시 전송하지 않고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sent_to_server=false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기록합니다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시연은 먼저 관찰 기능을 보여준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실행으로 넘어갑니다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전체 상태를 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실시간 값과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Service, Action,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관계를 본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연결을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다음으로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등록하거나 업로드하고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 여부를 확인한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실행하고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 하나가 아니라 파일 준비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Build, 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Backend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반영을 포함하는 전체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발표에서 가장 중요한 구분은 무엇인가요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execution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직접 실행한다는 구분입니다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6680" cy="113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6680" cy="1139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목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텍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스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트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식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편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집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클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릭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십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8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Noto Sans CJK KR"/>
              </a:rPr>
              <a:t>3</a:t>
            </a:r>
            <a:r>
              <a:rPr b="0" lang="ko-KR" sz="24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image" Target="../media/image3.png"/><Relationship Id="rId20" Type="http://schemas.openxmlformats.org/officeDocument/2006/relationships/image" Target="../media/image4.png"/><Relationship Id="rId21" Type="http://schemas.openxmlformats.org/officeDocument/2006/relationships/image" Target="../media/image5.png"/><Relationship Id="rId22" Type="http://schemas.openxmlformats.org/officeDocument/2006/relationships/image" Target="../media/image6.png"/><Relationship Id="rId23" Type="http://schemas.openxmlformats.org/officeDocument/2006/relationships/image" Target="../media/image7.png"/><Relationship Id="rId24" Type="http://schemas.openxmlformats.org/officeDocument/2006/relationships/image" Target="../media/image8.png"/><Relationship Id="rId25" Type="http://schemas.openxmlformats.org/officeDocument/2006/relationships/image" Target="../media/image9.png"/><Relationship Id="rId26" Type="http://schemas.openxmlformats.org/officeDocument/2006/relationships/image" Target="../media/image10.png"/><Relationship Id="rId27" Type="http://schemas.openxmlformats.org/officeDocument/2006/relationships/image" Target="../media/image11.png"/><Relationship Id="rId28" Type="http://schemas.openxmlformats.org/officeDocument/2006/relationships/image" Target="../media/image12.png"/><Relationship Id="rId29" Type="http://schemas.openxmlformats.org/officeDocument/2006/relationships/image" Target="../media/image13.png"/><Relationship Id="rId30" Type="http://schemas.openxmlformats.org/officeDocument/2006/relationships/image" Target="../media/image14.png"/><Relationship Id="rId31" Type="http://schemas.openxmlformats.org/officeDocument/2006/relationships/image" Target="../media/image15.png"/><Relationship Id="rId32" Type="http://schemas.openxmlformats.org/officeDocument/2006/relationships/image" Target="../media/image16.pn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home/hs/&#45796;&#50868;&#47196;&#46300;/ros2_d/final_final.mp4" TargetMode="External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0"/>
            <a:ext cx="12186000" cy="165240"/>
          </a:xfrm>
          <a:prstGeom prst="rect">
            <a:avLst/>
          </a:prstGeom>
          <a:solidFill>
            <a:srgbClr val="008b8b"/>
          </a:solidFill>
          <a:ln w="9525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11" name=""/>
          <p:cNvSpPr/>
          <p:nvPr/>
        </p:nvSpPr>
        <p:spPr>
          <a:xfrm>
            <a:off x="685800" y="685800"/>
            <a:ext cx="2851560" cy="317880"/>
          </a:xfrm>
          <a:prstGeom prst="roundRect">
            <a:avLst>
              <a:gd name="adj" fmla="val 23529"/>
            </a:avLst>
          </a:prstGeom>
          <a:solidFill>
            <a:srgbClr val="e8f0f8"/>
          </a:solidFill>
          <a:ln w="9525">
            <a:solidFill>
              <a:srgbClr val="e8f0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2" name=""/>
          <p:cNvSpPr/>
          <p:nvPr/>
        </p:nvSpPr>
        <p:spPr>
          <a:xfrm>
            <a:off x="762120" y="714240"/>
            <a:ext cx="269892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2304a"/>
                </a:solidFill>
                <a:latin typeface="Calibri"/>
                <a:ea typeface="Calibri"/>
              </a:rPr>
              <a:t>ROS2 · rclpy · FastAPI · React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1504800"/>
            <a:ext cx="7232760" cy="14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ROS2 Communication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Monitor Dashboard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" name=""/>
          <p:cNvSpPr/>
          <p:nvPr/>
        </p:nvSpPr>
        <p:spPr>
          <a:xfrm>
            <a:off x="723960" y="3143160"/>
            <a:ext cx="6566040" cy="41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870" spc="-1" strike="noStrike">
                <a:solidFill>
                  <a:srgbClr val="008b8b"/>
                </a:solidFill>
                <a:latin typeface="Calibri"/>
                <a:ea typeface="Calibri"/>
              </a:rPr>
              <a:t>실시간 통신 모니터링과 </a:t>
            </a:r>
            <a:r>
              <a:rPr b="1" lang="en-US" sz="187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" name=""/>
          <p:cNvSpPr/>
          <p:nvPr/>
        </p:nvSpPr>
        <p:spPr>
          <a:xfrm>
            <a:off x="723960" y="3714840"/>
            <a:ext cx="6661440" cy="64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상태를 한눈에 보고</a:t>
            </a: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필요한 통신을 직접 실행하는 웹 대시보드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" name=""/>
          <p:cNvSpPr/>
          <p:nvPr/>
        </p:nvSpPr>
        <p:spPr>
          <a:xfrm>
            <a:off x="8477280" y="1285920"/>
            <a:ext cx="1994040" cy="1994040"/>
          </a:xfrm>
          <a:prstGeom prst="ellipse">
            <a:avLst/>
          </a:prstGeom>
          <a:solidFill>
            <a:srgbClr val="dff4f2"/>
          </a:solidFill>
          <a:ln w="9525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7" name=""/>
          <p:cNvSpPr/>
          <p:nvPr/>
        </p:nvSpPr>
        <p:spPr>
          <a:xfrm>
            <a:off x="8858160" y="1952640"/>
            <a:ext cx="12322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50" spc="-1" strike="noStrike">
                <a:solidFill>
                  <a:srgbClr val="008b8b"/>
                </a:solidFill>
                <a:latin typeface="Calibri"/>
                <a:ea typeface="Calibri"/>
              </a:rPr>
              <a:t>ROS2</a:t>
            </a:r>
            <a:endParaRPr b="0" lang="en-US" sz="2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" name=""/>
          <p:cNvSpPr/>
          <p:nvPr/>
        </p:nvSpPr>
        <p:spPr>
          <a:xfrm>
            <a:off x="7477200" y="3905280"/>
            <a:ext cx="3994560" cy="9939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9" name=""/>
          <p:cNvSpPr/>
          <p:nvPr/>
        </p:nvSpPr>
        <p:spPr>
          <a:xfrm>
            <a:off x="7715160" y="4095720"/>
            <a:ext cx="15177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2304a"/>
                </a:solidFill>
                <a:latin typeface="Calibri"/>
                <a:ea typeface="Calibri"/>
              </a:rPr>
              <a:t>MONITOR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" name=""/>
          <p:cNvSpPr/>
          <p:nvPr/>
        </p:nvSpPr>
        <p:spPr>
          <a:xfrm>
            <a:off x="7715160" y="4438800"/>
            <a:ext cx="15177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관찰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" name=""/>
          <p:cNvSpPr/>
          <p:nvPr/>
        </p:nvSpPr>
        <p:spPr>
          <a:xfrm>
            <a:off x="9315360" y="4210200"/>
            <a:ext cx="279720" cy="37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cbd7e1"/>
                </a:solidFill>
                <a:latin typeface="Calibri"/>
                <a:ea typeface="Calibri"/>
              </a:rPr>
              <a:t>+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" name=""/>
          <p:cNvSpPr/>
          <p:nvPr/>
        </p:nvSpPr>
        <p:spPr>
          <a:xfrm>
            <a:off x="9715680" y="4095720"/>
            <a:ext cx="15177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" name=""/>
          <p:cNvSpPr/>
          <p:nvPr/>
        </p:nvSpPr>
        <p:spPr>
          <a:xfrm>
            <a:off x="9715680" y="4438800"/>
            <a:ext cx="1517760" cy="2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직접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" name=""/>
          <p:cNvSpPr/>
          <p:nvPr/>
        </p:nvSpPr>
        <p:spPr>
          <a:xfrm>
            <a:off x="723960" y="6095880"/>
            <a:ext cx="247032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50" spc="-1" strike="noStrike">
                <a:solidFill>
                  <a:srgbClr val="5b6b78"/>
                </a:solidFill>
                <a:latin typeface="Calibri"/>
                <a:ea typeface="Calibri"/>
              </a:rPr>
              <a:t>기능 중심 발표 자료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609480" y="266760"/>
            <a:ext cx="2089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" name=""/>
          <p:cNvSpPr/>
          <p:nvPr/>
        </p:nvSpPr>
        <p:spPr>
          <a:xfrm>
            <a:off x="609480" y="552600"/>
            <a:ext cx="102808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보이지 않던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통신을 화면으로 확인합니다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" name=""/>
          <p:cNvSpPr/>
          <p:nvPr/>
        </p:nvSpPr>
        <p:spPr>
          <a:xfrm>
            <a:off x="609480" y="1047600"/>
            <a:ext cx="1047132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목록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관계를 자동으로 모으고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등록한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로 실제 통신도 시험합니다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" name=""/>
          <p:cNvSpPr/>
          <p:nvPr/>
        </p:nvSpPr>
        <p:spPr>
          <a:xfrm>
            <a:off x="11064240" y="292680"/>
            <a:ext cx="500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" name=""/>
          <p:cNvSpPr/>
          <p:nvPr/>
        </p:nvSpPr>
        <p:spPr>
          <a:xfrm>
            <a:off x="666720" y="1790640"/>
            <a:ext cx="3327480" cy="3137040"/>
          </a:xfrm>
          <a:prstGeom prst="roundRect">
            <a:avLst>
              <a:gd name="adj" fmla="val 2424"/>
            </a:avLst>
          </a:prstGeom>
          <a:solidFill>
            <a:srgbClr val="eaf2fb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" name=""/>
          <p:cNvSpPr/>
          <p:nvPr/>
        </p:nvSpPr>
        <p:spPr>
          <a:xfrm>
            <a:off x="666720" y="1790640"/>
            <a:ext cx="60480" cy="3137040"/>
          </a:xfrm>
          <a:prstGeom prst="rect">
            <a:avLst/>
          </a:prstGeom>
          <a:solidFill>
            <a:srgbClr val="12304a"/>
          </a:solidFill>
          <a:ln w="9525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1" name=""/>
          <p:cNvSpPr/>
          <p:nvPr/>
        </p:nvSpPr>
        <p:spPr>
          <a:xfrm>
            <a:off x="895320" y="1943280"/>
            <a:ext cx="294660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①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상태 확인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" name=""/>
          <p:cNvSpPr/>
          <p:nvPr/>
        </p:nvSpPr>
        <p:spPr>
          <a:xfrm>
            <a:off x="895320" y="2286000"/>
            <a:ext cx="2946600" cy="25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Node, Topic, Service, Action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현재 존재 여부와 통신 상태를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" name=""/>
          <p:cNvSpPr/>
          <p:nvPr/>
        </p:nvSpPr>
        <p:spPr>
          <a:xfrm>
            <a:off x="4429080" y="1790640"/>
            <a:ext cx="3327480" cy="3137040"/>
          </a:xfrm>
          <a:prstGeom prst="roundRect">
            <a:avLst>
              <a:gd name="adj" fmla="val 2424"/>
            </a:avLst>
          </a:prstGeom>
          <a:solidFill>
            <a:srgbClr val="f1eff9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" name=""/>
          <p:cNvSpPr/>
          <p:nvPr/>
        </p:nvSpPr>
        <p:spPr>
          <a:xfrm>
            <a:off x="4429080" y="1790640"/>
            <a:ext cx="60480" cy="3137040"/>
          </a:xfrm>
          <a:prstGeom prst="rect">
            <a:avLst/>
          </a:prstGeom>
          <a:solidFill>
            <a:srgbClr val="7568b4"/>
          </a:solidFill>
          <a:ln w="9525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5" name=""/>
          <p:cNvSpPr/>
          <p:nvPr/>
        </p:nvSpPr>
        <p:spPr>
          <a:xfrm>
            <a:off x="4657680" y="1943280"/>
            <a:ext cx="294660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②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관계 이해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" name=""/>
          <p:cNvSpPr/>
          <p:nvPr/>
        </p:nvSpPr>
        <p:spPr>
          <a:xfrm>
            <a:off x="4657680" y="2286000"/>
            <a:ext cx="2946600" cy="25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어떤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 발행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구독하고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요청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응답하는지 연결 관계를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" name=""/>
          <p:cNvSpPr/>
          <p:nvPr/>
        </p:nvSpPr>
        <p:spPr>
          <a:xfrm>
            <a:off x="8191440" y="1790640"/>
            <a:ext cx="3327480" cy="3137040"/>
          </a:xfrm>
          <a:prstGeom prst="roundRect">
            <a:avLst>
              <a:gd name="adj" fmla="val 2424"/>
            </a:avLst>
          </a:prstGeom>
          <a:solidFill>
            <a:srgbClr val="e6f6f3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8" name=""/>
          <p:cNvSpPr/>
          <p:nvPr/>
        </p:nvSpPr>
        <p:spPr>
          <a:xfrm>
            <a:off x="8191440" y="1790640"/>
            <a:ext cx="60480" cy="3137040"/>
          </a:xfrm>
          <a:prstGeom prst="rect">
            <a:avLst/>
          </a:prstGeom>
          <a:solidFill>
            <a:srgbClr val="008b8b"/>
          </a:solidFill>
          <a:ln w="9525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9" name=""/>
          <p:cNvSpPr/>
          <p:nvPr/>
        </p:nvSpPr>
        <p:spPr>
          <a:xfrm>
            <a:off x="8420040" y="1943280"/>
            <a:ext cx="294660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③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" name=""/>
          <p:cNvSpPr/>
          <p:nvPr/>
        </p:nvSpPr>
        <p:spPr>
          <a:xfrm>
            <a:off x="8420040" y="2286000"/>
            <a:ext cx="2946600" cy="252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등록한 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Publish, Call,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Goal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실행 결과와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확인합니다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" name=""/>
          <p:cNvSpPr/>
          <p:nvPr/>
        </p:nvSpPr>
        <p:spPr>
          <a:xfrm>
            <a:off x="800280" y="5391000"/>
            <a:ext cx="1058580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Node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기능을 수행하는 실행 단위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Topic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계속 전달되는 채널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Service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요청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+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응답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Action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진행 상황이 있는 작업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3" name=""/>
          <p:cNvSpPr/>
          <p:nvPr/>
        </p:nvSpPr>
        <p:spPr>
          <a:xfrm>
            <a:off x="609480" y="6534000"/>
            <a:ext cx="1096668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609480" y="266760"/>
            <a:ext cx="2089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552600"/>
            <a:ext cx="102808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Graph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상태가 웹 화면까지 전달되는 구조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" name=""/>
          <p:cNvSpPr/>
          <p:nvPr/>
        </p:nvSpPr>
        <p:spPr>
          <a:xfrm>
            <a:off x="609480" y="1047600"/>
            <a:ext cx="1047132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Backend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ROS2 Graph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주기적으로 수집하고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거쳐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화면에 출력합니다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 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" name=""/>
          <p:cNvSpPr/>
          <p:nvPr/>
        </p:nvSpPr>
        <p:spPr>
          <a:xfrm>
            <a:off x="11064240" y="292680"/>
            <a:ext cx="500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" name=""/>
          <p:cNvSpPr/>
          <p:nvPr/>
        </p:nvSpPr>
        <p:spPr>
          <a:xfrm>
            <a:off x="2636280" y="249552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0" name=""/>
          <p:cNvSpPr/>
          <p:nvPr/>
        </p:nvSpPr>
        <p:spPr>
          <a:xfrm>
            <a:off x="609480" y="2133720"/>
            <a:ext cx="2020680" cy="71784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1" name=""/>
          <p:cNvSpPr/>
          <p:nvPr/>
        </p:nvSpPr>
        <p:spPr>
          <a:xfrm>
            <a:off x="704880" y="2228760"/>
            <a:ext cx="183024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ROS2 Graph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현재 통신 관계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" name=""/>
          <p:cNvSpPr/>
          <p:nvPr/>
        </p:nvSpPr>
        <p:spPr>
          <a:xfrm>
            <a:off x="4872960" y="249552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3" name=""/>
          <p:cNvSpPr/>
          <p:nvPr/>
        </p:nvSpPr>
        <p:spPr>
          <a:xfrm>
            <a:off x="2846160" y="2133720"/>
            <a:ext cx="2020680" cy="71784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4" name=""/>
          <p:cNvSpPr/>
          <p:nvPr/>
        </p:nvSpPr>
        <p:spPr>
          <a:xfrm>
            <a:off x="2941200" y="2228760"/>
            <a:ext cx="183024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Rclpy Backend Graph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조회 </a:t>
            </a: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수집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5" name=""/>
          <p:cNvSpPr/>
          <p:nvPr/>
        </p:nvSpPr>
        <p:spPr>
          <a:xfrm>
            <a:off x="7109280" y="249552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6" name=""/>
          <p:cNvSpPr/>
          <p:nvPr/>
        </p:nvSpPr>
        <p:spPr>
          <a:xfrm>
            <a:off x="5082480" y="2133720"/>
            <a:ext cx="2020680" cy="717840"/>
          </a:xfrm>
          <a:prstGeom prst="roundRect">
            <a:avLst>
              <a:gd name="adj" fmla="val 10526"/>
            </a:avLst>
          </a:prstGeom>
          <a:solidFill>
            <a:srgbClr val="eef2f6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7" name=""/>
          <p:cNvSpPr/>
          <p:nvPr/>
        </p:nvSpPr>
        <p:spPr>
          <a:xfrm>
            <a:off x="5177880" y="2228760"/>
            <a:ext cx="183024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Runtime cache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최신 상태 보관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8" name=""/>
          <p:cNvSpPr/>
          <p:nvPr/>
        </p:nvSpPr>
        <p:spPr>
          <a:xfrm>
            <a:off x="9345600" y="2495520"/>
            <a:ext cx="20988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9" name=""/>
          <p:cNvSpPr/>
          <p:nvPr/>
        </p:nvSpPr>
        <p:spPr>
          <a:xfrm>
            <a:off x="7319160" y="2133720"/>
            <a:ext cx="2020680" cy="71784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0" name=""/>
          <p:cNvSpPr/>
          <p:nvPr/>
        </p:nvSpPr>
        <p:spPr>
          <a:xfrm>
            <a:off x="7414200" y="2228760"/>
            <a:ext cx="183024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REST / WebSocket </a:t>
            </a:r>
            <a:br>
              <a:rPr sz="1130"/>
            </a:b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조회 결과 전달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1" name=""/>
          <p:cNvSpPr/>
          <p:nvPr/>
        </p:nvSpPr>
        <p:spPr>
          <a:xfrm>
            <a:off x="9555480" y="2133720"/>
            <a:ext cx="2020680" cy="71784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2" name=""/>
          <p:cNvSpPr/>
          <p:nvPr/>
        </p:nvSpPr>
        <p:spPr>
          <a:xfrm>
            <a:off x="9650880" y="2228760"/>
            <a:ext cx="183024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React Frontend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목록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상세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시각화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3" name=""/>
          <p:cNvSpPr/>
          <p:nvPr/>
        </p:nvSpPr>
        <p:spPr>
          <a:xfrm>
            <a:off x="723960" y="3390840"/>
            <a:ext cx="3270600" cy="16131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4" name=""/>
          <p:cNvSpPr/>
          <p:nvPr/>
        </p:nvSpPr>
        <p:spPr>
          <a:xfrm>
            <a:off x="723960" y="3390840"/>
            <a:ext cx="60480" cy="1613160"/>
          </a:xfrm>
          <a:prstGeom prst="rect">
            <a:avLst/>
          </a:prstGeom>
          <a:solidFill>
            <a:srgbClr val="12304a"/>
          </a:solidFill>
          <a:ln w="9525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5" name=""/>
          <p:cNvSpPr/>
          <p:nvPr/>
        </p:nvSpPr>
        <p:spPr>
          <a:xfrm>
            <a:off x="952560" y="3543480"/>
            <a:ext cx="28893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왜 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cache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를 쓰나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6" name=""/>
          <p:cNvSpPr/>
          <p:nvPr/>
        </p:nvSpPr>
        <p:spPr>
          <a:xfrm>
            <a:off x="952560" y="3886200"/>
            <a:ext cx="28893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화면 요청마다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다시 스캔하지 않고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이미 모은 최신 상태를 빠르게 반환합니다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7" name=""/>
          <p:cNvSpPr/>
          <p:nvPr/>
        </p:nvSpPr>
        <p:spPr>
          <a:xfrm>
            <a:off x="4457880" y="3390840"/>
            <a:ext cx="3270600" cy="16131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8" name=""/>
          <p:cNvSpPr/>
          <p:nvPr/>
        </p:nvSpPr>
        <p:spPr>
          <a:xfrm>
            <a:off x="4457880" y="3390840"/>
            <a:ext cx="60480" cy="1613160"/>
          </a:xfrm>
          <a:prstGeom prst="rect">
            <a:avLst/>
          </a:prstGeom>
          <a:solidFill>
            <a:srgbClr val="7568b4"/>
          </a:solidFill>
          <a:ln w="9525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9" name=""/>
          <p:cNvSpPr/>
          <p:nvPr/>
        </p:nvSpPr>
        <p:spPr>
          <a:xfrm>
            <a:off x="4686480" y="3543480"/>
            <a:ext cx="28893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REST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0" name=""/>
          <p:cNvSpPr/>
          <p:nvPr/>
        </p:nvSpPr>
        <p:spPr>
          <a:xfrm>
            <a:off x="4686480" y="3886200"/>
            <a:ext cx="28893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Topic·Service·Action·Node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상세 목록과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을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1" name=""/>
          <p:cNvSpPr/>
          <p:nvPr/>
        </p:nvSpPr>
        <p:spPr>
          <a:xfrm>
            <a:off x="8191440" y="3390840"/>
            <a:ext cx="3270600" cy="16131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8191440" y="3390840"/>
            <a:ext cx="60480" cy="1613160"/>
          </a:xfrm>
          <a:prstGeom prst="rect">
            <a:avLst/>
          </a:prstGeom>
          <a:solidFill>
            <a:srgbClr val="008b8b"/>
          </a:solidFill>
          <a:ln w="9525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73" name=""/>
          <p:cNvSpPr/>
          <p:nvPr/>
        </p:nvSpPr>
        <p:spPr>
          <a:xfrm>
            <a:off x="8420040" y="3543480"/>
            <a:ext cx="28893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WebSocket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4" name=""/>
          <p:cNvSpPr/>
          <p:nvPr/>
        </p:nvSpPr>
        <p:spPr>
          <a:xfrm>
            <a:off x="8420040" y="3886200"/>
            <a:ext cx="28893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연결 상태와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Alert count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같은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가벼운 요약을 보조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5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609480" y="6534000"/>
            <a:ext cx="1096668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main.py · ros_monitor.py · routers/monitoring.py · 02_backend_flow.md · 08_websocket_flow.md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7" name="Rectangle 3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1"/>
          <p:cNvSpPr/>
          <p:nvPr/>
        </p:nvSpPr>
        <p:spPr>
          <a:xfrm>
            <a:off x="1230480" y="320040"/>
            <a:ext cx="956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ARCHITECTURE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0" name="TextBox 30"/>
          <p:cNvSpPr/>
          <p:nvPr/>
        </p:nvSpPr>
        <p:spPr>
          <a:xfrm>
            <a:off x="4386240" y="576000"/>
            <a:ext cx="3425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400" spc="-1" strike="noStrike">
                <a:solidFill>
                  <a:srgbClr val="022948"/>
                </a:solidFill>
                <a:latin typeface="Malgun Gothic"/>
                <a:ea typeface="Calibri"/>
              </a:rPr>
              <a:t>사용 기술 스택과 사용 목적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2445840" y="1080000"/>
            <a:ext cx="73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에 사용한 핵심 기술과 각 기술의 역할을 정리했습니다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Rectangle 82"/>
          <p:cNvSpPr/>
          <p:nvPr/>
        </p:nvSpPr>
        <p:spPr>
          <a:xfrm>
            <a:off x="696960" y="1463040"/>
            <a:ext cx="10999800" cy="1505160"/>
          </a:xfrm>
          <a:prstGeom prst="rect">
            <a:avLst/>
          </a:prstGeom>
          <a:solidFill>
            <a:srgbClr val="ffffff"/>
          </a:solidFill>
          <a:ln>
            <a:solidFill>
              <a:srgbClr val="c8d6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3" name="Rectangle 83"/>
          <p:cNvSpPr/>
          <p:nvPr/>
        </p:nvSpPr>
        <p:spPr>
          <a:xfrm>
            <a:off x="696960" y="1486080"/>
            <a:ext cx="10999800" cy="499320"/>
          </a:xfrm>
          <a:prstGeom prst="rect">
            <a:avLst/>
          </a:prstGeom>
          <a:solidFill>
            <a:srgbClr val="f6f9fc"/>
          </a:solidFill>
          <a:ln>
            <a:solidFill>
              <a:srgbClr val="c8d6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4" name="Rectangle 84"/>
          <p:cNvSpPr/>
          <p:nvPr/>
        </p:nvSpPr>
        <p:spPr>
          <a:xfrm>
            <a:off x="696960" y="1980000"/>
            <a:ext cx="10999800" cy="5400"/>
          </a:xfrm>
          <a:prstGeom prst="rect">
            <a:avLst/>
          </a:prstGeom>
          <a:solidFill>
            <a:srgbClr val="c8d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5" name="Rectangle 85"/>
          <p:cNvSpPr/>
          <p:nvPr/>
        </p:nvSpPr>
        <p:spPr>
          <a:xfrm>
            <a:off x="696960" y="2460600"/>
            <a:ext cx="10999800" cy="5400"/>
          </a:xfrm>
          <a:prstGeom prst="rect">
            <a:avLst/>
          </a:prstGeom>
          <a:solidFill>
            <a:srgbClr val="c8d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6" name="Rectangle 86"/>
          <p:cNvSpPr/>
          <p:nvPr/>
        </p:nvSpPr>
        <p:spPr>
          <a:xfrm>
            <a:off x="2011680" y="1463040"/>
            <a:ext cx="5400" cy="1505160"/>
          </a:xfrm>
          <a:prstGeom prst="rect">
            <a:avLst/>
          </a:prstGeom>
          <a:solidFill>
            <a:srgbClr val="c8d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7" name="TextBox 87"/>
          <p:cNvSpPr/>
          <p:nvPr/>
        </p:nvSpPr>
        <p:spPr>
          <a:xfrm>
            <a:off x="1098360" y="1614240"/>
            <a:ext cx="30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구분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8" name="TextBox 88"/>
          <p:cNvSpPr/>
          <p:nvPr/>
        </p:nvSpPr>
        <p:spPr>
          <a:xfrm>
            <a:off x="5473800" y="1614240"/>
            <a:ext cx="650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기술 스택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9" name="TextBox 89"/>
          <p:cNvSpPr/>
          <p:nvPr/>
        </p:nvSpPr>
        <p:spPr>
          <a:xfrm>
            <a:off x="1002960" y="2125080"/>
            <a:ext cx="6123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0" name="TextBox 90"/>
          <p:cNvSpPr/>
          <p:nvPr/>
        </p:nvSpPr>
        <p:spPr>
          <a:xfrm>
            <a:off x="982440" y="2628000"/>
            <a:ext cx="653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1" name="Rectangle 101"/>
          <p:cNvSpPr/>
          <p:nvPr/>
        </p:nvSpPr>
        <p:spPr>
          <a:xfrm>
            <a:off x="594360" y="3780000"/>
            <a:ext cx="69480" cy="2157120"/>
          </a:xfrm>
          <a:prstGeom prst="rect">
            <a:avLst/>
          </a:prstGeom>
          <a:solidFill>
            <a:srgbClr val="0a9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92" name="TextBox 103"/>
          <p:cNvSpPr/>
          <p:nvPr/>
        </p:nvSpPr>
        <p:spPr>
          <a:xfrm>
            <a:off x="2000160" y="3824280"/>
            <a:ext cx="314676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Topic, Service, Action, Node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 구성된</a:t>
            </a:r>
            <a:br>
              <a:rPr sz="1150"/>
            </a:b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로봇 통신 환경 플랫폼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3" name="TextBox 105"/>
          <p:cNvSpPr/>
          <p:nvPr/>
        </p:nvSpPr>
        <p:spPr>
          <a:xfrm>
            <a:off x="2000160" y="4351680"/>
            <a:ext cx="31467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실행중인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리소스와 연결관계를 조회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4" name="TextBox 107"/>
          <p:cNvSpPr/>
          <p:nvPr/>
        </p:nvSpPr>
        <p:spPr>
          <a:xfrm>
            <a:off x="2000160" y="4791600"/>
            <a:ext cx="31467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Python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환경에서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Node, Subscription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TextBox 109"/>
          <p:cNvSpPr/>
          <p:nvPr/>
        </p:nvSpPr>
        <p:spPr>
          <a:xfrm>
            <a:off x="1980000" y="5223960"/>
            <a:ext cx="31467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수집된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상태와 기능을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Front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에 제공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6" name="TextBox 111"/>
          <p:cNvSpPr/>
          <p:nvPr/>
        </p:nvSpPr>
        <p:spPr>
          <a:xfrm>
            <a:off x="7250040" y="3911760"/>
            <a:ext cx="33966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연결 상태와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Alert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요약을 실시간 전달하는 통신채널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7" name="TextBox 113"/>
          <p:cNvSpPr/>
          <p:nvPr/>
        </p:nvSpPr>
        <p:spPr>
          <a:xfrm>
            <a:off x="7250040" y="4351680"/>
            <a:ext cx="33966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상태를 실시간 반영하기 위한 동적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UI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15"/>
          <p:cNvSpPr/>
          <p:nvPr/>
        </p:nvSpPr>
        <p:spPr>
          <a:xfrm>
            <a:off x="7250040" y="4791600"/>
            <a:ext cx="33966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React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개발 환경 단순화 및 빠른 화면 수정 과 실행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17"/>
          <p:cNvSpPr/>
          <p:nvPr/>
        </p:nvSpPr>
        <p:spPr>
          <a:xfrm>
            <a:off x="7250040" y="5231880"/>
            <a:ext cx="33966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Node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와 통신 관계를 확대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,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이동 가능한 그래프로 시각화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0" name="Picture 101" descr="image.png"/>
          <p:cNvPicPr/>
          <p:nvPr/>
        </p:nvPicPr>
        <p:blipFill>
          <a:blip r:embed="rId1"/>
          <a:stretch/>
        </p:blipFill>
        <p:spPr>
          <a:xfrm>
            <a:off x="2180160" y="2070000"/>
            <a:ext cx="756720" cy="296640"/>
          </a:xfrm>
          <a:prstGeom prst="rect">
            <a:avLst/>
          </a:prstGeom>
          <a:ln w="0">
            <a:noFill/>
          </a:ln>
        </p:spPr>
      </p:pic>
      <p:pic>
        <p:nvPicPr>
          <p:cNvPr id="101" name="Picture 102" descr="image.png"/>
          <p:cNvPicPr/>
          <p:nvPr/>
        </p:nvPicPr>
        <p:blipFill>
          <a:blip r:embed="rId2"/>
          <a:stretch/>
        </p:blipFill>
        <p:spPr>
          <a:xfrm>
            <a:off x="2234160" y="2139120"/>
            <a:ext cx="158760" cy="158760"/>
          </a:xfrm>
          <a:prstGeom prst="rect">
            <a:avLst/>
          </a:prstGeom>
          <a:ln w="0">
            <a:noFill/>
          </a:ln>
        </p:spPr>
      </p:pic>
      <p:sp>
        <p:nvSpPr>
          <p:cNvPr id="102" name="TextBox 34"/>
          <p:cNvSpPr/>
          <p:nvPr/>
        </p:nvSpPr>
        <p:spPr>
          <a:xfrm>
            <a:off x="2504160" y="2143080"/>
            <a:ext cx="325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3" name="Picture 104" descr="image.png"/>
          <p:cNvPicPr/>
          <p:nvPr/>
        </p:nvPicPr>
        <p:blipFill>
          <a:blip r:embed="rId3"/>
          <a:stretch/>
        </p:blipFill>
        <p:spPr>
          <a:xfrm>
            <a:off x="3049920" y="2070000"/>
            <a:ext cx="1146600" cy="296640"/>
          </a:xfrm>
          <a:prstGeom prst="rect">
            <a:avLst/>
          </a:prstGeom>
          <a:ln w="0">
            <a:noFill/>
          </a:ln>
        </p:spPr>
      </p:pic>
      <p:pic>
        <p:nvPicPr>
          <p:cNvPr id="104" name="Picture 105" descr="image.png"/>
          <p:cNvPicPr/>
          <p:nvPr/>
        </p:nvPicPr>
        <p:blipFill>
          <a:blip r:embed="rId4"/>
          <a:stretch/>
        </p:blipFill>
        <p:spPr>
          <a:xfrm>
            <a:off x="3103920" y="2139120"/>
            <a:ext cx="158760" cy="158760"/>
          </a:xfrm>
          <a:prstGeom prst="rect">
            <a:avLst/>
          </a:prstGeom>
          <a:ln w="0">
            <a:noFill/>
          </a:ln>
        </p:spPr>
      </p:pic>
      <p:sp>
        <p:nvSpPr>
          <p:cNvPr id="105" name="TextBox 106"/>
          <p:cNvSpPr/>
          <p:nvPr/>
        </p:nvSpPr>
        <p:spPr>
          <a:xfrm>
            <a:off x="3388680" y="2143080"/>
            <a:ext cx="6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6" name="Picture 107" descr="image.png"/>
          <p:cNvPicPr/>
          <p:nvPr/>
        </p:nvPicPr>
        <p:blipFill>
          <a:blip r:embed="rId5"/>
          <a:stretch/>
        </p:blipFill>
        <p:spPr>
          <a:xfrm>
            <a:off x="4309920" y="2070000"/>
            <a:ext cx="816840" cy="296640"/>
          </a:xfrm>
          <a:prstGeom prst="rect">
            <a:avLst/>
          </a:prstGeom>
          <a:ln w="0">
            <a:noFill/>
          </a:ln>
        </p:spPr>
      </p:pic>
      <p:pic>
        <p:nvPicPr>
          <p:cNvPr id="107" name="Picture 108" descr="image.png"/>
          <p:cNvPicPr/>
          <p:nvPr/>
        </p:nvPicPr>
        <p:blipFill>
          <a:blip r:embed="rId6"/>
          <a:stretch/>
        </p:blipFill>
        <p:spPr>
          <a:xfrm>
            <a:off x="4363920" y="2139120"/>
            <a:ext cx="158760" cy="158760"/>
          </a:xfrm>
          <a:prstGeom prst="rect">
            <a:avLst/>
          </a:prstGeom>
          <a:ln w="0">
            <a:noFill/>
          </a:ln>
        </p:spPr>
      </p:pic>
      <p:sp>
        <p:nvSpPr>
          <p:cNvPr id="108" name="TextBox 36"/>
          <p:cNvSpPr/>
          <p:nvPr/>
        </p:nvSpPr>
        <p:spPr>
          <a:xfrm>
            <a:off x="4630680" y="2143080"/>
            <a:ext cx="392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9" name="Picture 110" descr="image.png"/>
          <p:cNvPicPr/>
          <p:nvPr/>
        </p:nvPicPr>
        <p:blipFill>
          <a:blip r:embed="rId7"/>
          <a:stretch/>
        </p:blipFill>
        <p:spPr>
          <a:xfrm>
            <a:off x="5240160" y="2070000"/>
            <a:ext cx="926640" cy="296640"/>
          </a:xfrm>
          <a:prstGeom prst="rect">
            <a:avLst/>
          </a:prstGeom>
          <a:ln w="0">
            <a:noFill/>
          </a:ln>
        </p:spPr>
      </p:pic>
      <p:pic>
        <p:nvPicPr>
          <p:cNvPr id="110" name="Picture 111" descr="image.png"/>
          <p:cNvPicPr/>
          <p:nvPr/>
        </p:nvPicPr>
        <p:blipFill>
          <a:blip r:embed="rId8"/>
          <a:stretch/>
        </p:blipFill>
        <p:spPr>
          <a:xfrm>
            <a:off x="5294160" y="2139120"/>
            <a:ext cx="158760" cy="158760"/>
          </a:xfrm>
          <a:prstGeom prst="rect">
            <a:avLst/>
          </a:prstGeom>
          <a:ln w="0">
            <a:noFill/>
          </a:ln>
        </p:spPr>
      </p:pic>
      <p:sp>
        <p:nvSpPr>
          <p:cNvPr id="111" name="TextBox 112"/>
          <p:cNvSpPr/>
          <p:nvPr/>
        </p:nvSpPr>
        <p:spPr>
          <a:xfrm>
            <a:off x="5560920" y="2143080"/>
            <a:ext cx="502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2" name="Picture 113" descr="image.png"/>
          <p:cNvPicPr/>
          <p:nvPr/>
        </p:nvPicPr>
        <p:blipFill>
          <a:blip r:embed="rId9"/>
          <a:stretch/>
        </p:blipFill>
        <p:spPr>
          <a:xfrm>
            <a:off x="6279840" y="2070000"/>
            <a:ext cx="1216800" cy="296640"/>
          </a:xfrm>
          <a:prstGeom prst="rect">
            <a:avLst/>
          </a:prstGeom>
          <a:ln w="0">
            <a:noFill/>
          </a:ln>
        </p:spPr>
      </p:pic>
      <p:pic>
        <p:nvPicPr>
          <p:cNvPr id="113" name="Picture 114" descr="image.png"/>
          <p:cNvPicPr/>
          <p:nvPr/>
        </p:nvPicPr>
        <p:blipFill>
          <a:blip r:embed="rId10"/>
          <a:stretch/>
        </p:blipFill>
        <p:spPr>
          <a:xfrm>
            <a:off x="6333840" y="2139120"/>
            <a:ext cx="158760" cy="158760"/>
          </a:xfrm>
          <a:prstGeom prst="rect">
            <a:avLst/>
          </a:prstGeom>
          <a:ln w="0">
            <a:noFill/>
          </a:ln>
        </p:spPr>
      </p:pic>
      <p:sp>
        <p:nvSpPr>
          <p:cNvPr id="114" name="TextBox 38"/>
          <p:cNvSpPr/>
          <p:nvPr/>
        </p:nvSpPr>
        <p:spPr>
          <a:xfrm>
            <a:off x="6619320" y="2143080"/>
            <a:ext cx="755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5" name="Picture 116" descr="image.png"/>
          <p:cNvPicPr/>
          <p:nvPr/>
        </p:nvPicPr>
        <p:blipFill>
          <a:blip r:embed="rId11"/>
          <a:stretch/>
        </p:blipFill>
        <p:spPr>
          <a:xfrm>
            <a:off x="2180160" y="2570040"/>
            <a:ext cx="816840" cy="296640"/>
          </a:xfrm>
          <a:prstGeom prst="rect">
            <a:avLst/>
          </a:prstGeom>
          <a:ln w="0">
            <a:noFill/>
          </a:ln>
        </p:spPr>
      </p:pic>
      <p:pic>
        <p:nvPicPr>
          <p:cNvPr id="116" name="Picture 117" descr="image.png"/>
          <p:cNvPicPr/>
          <p:nvPr/>
        </p:nvPicPr>
        <p:blipFill>
          <a:blip r:embed="rId12"/>
          <a:stretch/>
        </p:blipFill>
        <p:spPr>
          <a:xfrm>
            <a:off x="2234160" y="2639160"/>
            <a:ext cx="158760" cy="158760"/>
          </a:xfrm>
          <a:prstGeom prst="rect">
            <a:avLst/>
          </a:prstGeom>
          <a:ln w="0">
            <a:noFill/>
          </a:ln>
        </p:spPr>
      </p:pic>
      <p:sp>
        <p:nvSpPr>
          <p:cNvPr id="117" name="TextBox 118"/>
          <p:cNvSpPr/>
          <p:nvPr/>
        </p:nvSpPr>
        <p:spPr>
          <a:xfrm>
            <a:off x="2501280" y="2643120"/>
            <a:ext cx="39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8" name="Picture 119" descr="image.png"/>
          <p:cNvPicPr/>
          <p:nvPr/>
        </p:nvPicPr>
        <p:blipFill>
          <a:blip r:embed="rId13"/>
          <a:stretch/>
        </p:blipFill>
        <p:spPr>
          <a:xfrm>
            <a:off x="3110040" y="2570040"/>
            <a:ext cx="696600" cy="296640"/>
          </a:xfrm>
          <a:prstGeom prst="rect">
            <a:avLst/>
          </a:prstGeom>
          <a:ln w="0">
            <a:noFill/>
          </a:ln>
        </p:spPr>
      </p:pic>
      <p:pic>
        <p:nvPicPr>
          <p:cNvPr id="119" name="Picture 120" descr="image.png"/>
          <p:cNvPicPr/>
          <p:nvPr/>
        </p:nvPicPr>
        <p:blipFill>
          <a:blip r:embed="rId14"/>
          <a:stretch/>
        </p:blipFill>
        <p:spPr>
          <a:xfrm>
            <a:off x="3164040" y="2639160"/>
            <a:ext cx="158760" cy="158760"/>
          </a:xfrm>
          <a:prstGeom prst="rect">
            <a:avLst/>
          </a:prstGeom>
          <a:ln w="0">
            <a:noFill/>
          </a:ln>
        </p:spPr>
      </p:pic>
      <p:sp>
        <p:nvSpPr>
          <p:cNvPr id="120" name="TextBox 121"/>
          <p:cNvSpPr/>
          <p:nvPr/>
        </p:nvSpPr>
        <p:spPr>
          <a:xfrm>
            <a:off x="3430080" y="2643120"/>
            <a:ext cx="2739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1" name="Picture 122" descr="image.png"/>
          <p:cNvPicPr/>
          <p:nvPr/>
        </p:nvPicPr>
        <p:blipFill>
          <a:blip r:embed="rId15"/>
          <a:stretch/>
        </p:blipFill>
        <p:spPr>
          <a:xfrm>
            <a:off x="3920040" y="2570040"/>
            <a:ext cx="1246680" cy="296640"/>
          </a:xfrm>
          <a:prstGeom prst="rect">
            <a:avLst/>
          </a:prstGeom>
          <a:ln w="0">
            <a:noFill/>
          </a:ln>
        </p:spPr>
      </p:pic>
      <p:pic>
        <p:nvPicPr>
          <p:cNvPr id="122" name="Picture 123" descr="image.png"/>
          <p:cNvPicPr/>
          <p:nvPr/>
        </p:nvPicPr>
        <p:blipFill>
          <a:blip r:embed="rId16"/>
          <a:stretch/>
        </p:blipFill>
        <p:spPr>
          <a:xfrm>
            <a:off x="3974040" y="2639160"/>
            <a:ext cx="158760" cy="158760"/>
          </a:xfrm>
          <a:prstGeom prst="rect">
            <a:avLst/>
          </a:prstGeom>
          <a:ln w="0">
            <a:noFill/>
          </a:ln>
        </p:spPr>
      </p:pic>
      <p:sp>
        <p:nvSpPr>
          <p:cNvPr id="123" name="TextBox 124"/>
          <p:cNvSpPr/>
          <p:nvPr/>
        </p:nvSpPr>
        <p:spPr>
          <a:xfrm>
            <a:off x="4259880" y="2643120"/>
            <a:ext cx="7844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4" name="TextBox 125"/>
          <p:cNvSpPr/>
          <p:nvPr/>
        </p:nvSpPr>
        <p:spPr>
          <a:xfrm>
            <a:off x="825840" y="3184920"/>
            <a:ext cx="2046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100" spc="-1" strike="noStrike">
                <a:solidFill>
                  <a:srgbClr val="052f4f"/>
                </a:solidFill>
                <a:latin typeface="Malgun Gothic"/>
                <a:ea typeface="Calibri"/>
              </a:rPr>
              <a:t>기술별 사용 목적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5" name="Picture 126" descr="image.png"/>
          <p:cNvPicPr/>
          <p:nvPr/>
        </p:nvPicPr>
        <p:blipFill>
          <a:blip r:embed="rId17"/>
          <a:stretch/>
        </p:blipFill>
        <p:spPr>
          <a:xfrm>
            <a:off x="820080" y="3850200"/>
            <a:ext cx="846720" cy="271800"/>
          </a:xfrm>
          <a:prstGeom prst="rect">
            <a:avLst/>
          </a:prstGeom>
          <a:ln w="0">
            <a:noFill/>
          </a:ln>
        </p:spPr>
      </p:pic>
      <p:pic>
        <p:nvPicPr>
          <p:cNvPr id="126" name="Picture 127" descr="image.png"/>
          <p:cNvPicPr/>
          <p:nvPr/>
        </p:nvPicPr>
        <p:blipFill>
          <a:blip r:embed="rId18"/>
          <a:stretch/>
        </p:blipFill>
        <p:spPr>
          <a:xfrm>
            <a:off x="869400" y="3913560"/>
            <a:ext cx="145440" cy="145440"/>
          </a:xfrm>
          <a:prstGeom prst="rect">
            <a:avLst/>
          </a:prstGeom>
          <a:ln w="0">
            <a:noFill/>
          </a:ln>
        </p:spPr>
      </p:pic>
      <p:sp>
        <p:nvSpPr>
          <p:cNvPr id="127" name="TextBox 128"/>
          <p:cNvSpPr/>
          <p:nvPr/>
        </p:nvSpPr>
        <p:spPr>
          <a:xfrm>
            <a:off x="1180080" y="3910680"/>
            <a:ext cx="325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8" name="Picture 129" descr="image.png"/>
          <p:cNvPicPr/>
          <p:nvPr/>
        </p:nvPicPr>
        <p:blipFill>
          <a:blip r:embed="rId19"/>
          <a:stretch/>
        </p:blipFill>
        <p:spPr>
          <a:xfrm>
            <a:off x="820080" y="4290120"/>
            <a:ext cx="1046880" cy="271800"/>
          </a:xfrm>
          <a:prstGeom prst="rect">
            <a:avLst/>
          </a:prstGeom>
          <a:ln w="0">
            <a:noFill/>
          </a:ln>
        </p:spPr>
      </p:pic>
      <p:pic>
        <p:nvPicPr>
          <p:cNvPr id="129" name="Picture 130" descr="image.png"/>
          <p:cNvPicPr/>
          <p:nvPr/>
        </p:nvPicPr>
        <p:blipFill>
          <a:blip r:embed="rId20"/>
          <a:stretch/>
        </p:blipFill>
        <p:spPr>
          <a:xfrm>
            <a:off x="869400" y="4353480"/>
            <a:ext cx="145440" cy="145440"/>
          </a:xfrm>
          <a:prstGeom prst="rect">
            <a:avLst/>
          </a:prstGeom>
          <a:ln w="0">
            <a:noFill/>
          </a:ln>
        </p:spPr>
      </p:pic>
      <p:sp>
        <p:nvSpPr>
          <p:cNvPr id="130" name="TextBox 131"/>
          <p:cNvSpPr/>
          <p:nvPr/>
        </p:nvSpPr>
        <p:spPr>
          <a:xfrm>
            <a:off x="1099440" y="4350600"/>
            <a:ext cx="6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1" name="Picture 132" descr="image.png"/>
          <p:cNvPicPr/>
          <p:nvPr/>
        </p:nvPicPr>
        <p:blipFill>
          <a:blip r:embed="rId21"/>
          <a:stretch/>
        </p:blipFill>
        <p:spPr>
          <a:xfrm>
            <a:off x="820080" y="4730040"/>
            <a:ext cx="846720" cy="27180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33" descr="image.png"/>
          <p:cNvPicPr/>
          <p:nvPr/>
        </p:nvPicPr>
        <p:blipFill>
          <a:blip r:embed="rId22"/>
          <a:stretch/>
        </p:blipFill>
        <p:spPr>
          <a:xfrm>
            <a:off x="869400" y="4793400"/>
            <a:ext cx="145440" cy="145440"/>
          </a:xfrm>
          <a:prstGeom prst="rect">
            <a:avLst/>
          </a:prstGeom>
          <a:ln w="0">
            <a:noFill/>
          </a:ln>
        </p:spPr>
      </p:pic>
      <p:sp>
        <p:nvSpPr>
          <p:cNvPr id="133" name="TextBox 134"/>
          <p:cNvSpPr/>
          <p:nvPr/>
        </p:nvSpPr>
        <p:spPr>
          <a:xfrm>
            <a:off x="1146600" y="4790520"/>
            <a:ext cx="392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4" name="Picture 135" descr="image.png"/>
          <p:cNvPicPr/>
          <p:nvPr/>
        </p:nvPicPr>
        <p:blipFill>
          <a:blip r:embed="rId23"/>
          <a:stretch/>
        </p:blipFill>
        <p:spPr>
          <a:xfrm>
            <a:off x="820080" y="5170320"/>
            <a:ext cx="846720" cy="271800"/>
          </a:xfrm>
          <a:prstGeom prst="rect">
            <a:avLst/>
          </a:prstGeom>
          <a:ln w="0">
            <a:noFill/>
          </a:ln>
        </p:spPr>
      </p:pic>
      <p:pic>
        <p:nvPicPr>
          <p:cNvPr id="135" name="Picture 136" descr="image.png"/>
          <p:cNvPicPr/>
          <p:nvPr/>
        </p:nvPicPr>
        <p:blipFill>
          <a:blip r:embed="rId24"/>
          <a:stretch/>
        </p:blipFill>
        <p:spPr>
          <a:xfrm>
            <a:off x="869400" y="5233320"/>
            <a:ext cx="145440" cy="145440"/>
          </a:xfrm>
          <a:prstGeom prst="rect">
            <a:avLst/>
          </a:prstGeom>
          <a:ln w="0">
            <a:noFill/>
          </a:ln>
        </p:spPr>
      </p:pic>
      <p:sp>
        <p:nvSpPr>
          <p:cNvPr id="136" name="TextBox 137"/>
          <p:cNvSpPr/>
          <p:nvPr/>
        </p:nvSpPr>
        <p:spPr>
          <a:xfrm>
            <a:off x="1091520" y="5230800"/>
            <a:ext cx="502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7" name="Picture 138" descr="image.png"/>
          <p:cNvPicPr/>
          <p:nvPr/>
        </p:nvPicPr>
        <p:blipFill>
          <a:blip r:embed="rId25"/>
          <a:stretch/>
        </p:blipFill>
        <p:spPr>
          <a:xfrm>
            <a:off x="5950080" y="3850200"/>
            <a:ext cx="1146600" cy="271800"/>
          </a:xfrm>
          <a:prstGeom prst="rect">
            <a:avLst/>
          </a:prstGeom>
          <a:ln w="0">
            <a:noFill/>
          </a:ln>
        </p:spPr>
      </p:pic>
      <p:pic>
        <p:nvPicPr>
          <p:cNvPr id="138" name="Picture 139" descr="image.png"/>
          <p:cNvPicPr/>
          <p:nvPr/>
        </p:nvPicPr>
        <p:blipFill>
          <a:blip r:embed="rId26"/>
          <a:stretch/>
        </p:blipFill>
        <p:spPr>
          <a:xfrm>
            <a:off x="5999400" y="3913560"/>
            <a:ext cx="145440" cy="145440"/>
          </a:xfrm>
          <a:prstGeom prst="rect">
            <a:avLst/>
          </a:prstGeom>
          <a:ln w="0">
            <a:noFill/>
          </a:ln>
        </p:spPr>
      </p:pic>
      <p:sp>
        <p:nvSpPr>
          <p:cNvPr id="139" name="TextBox 140"/>
          <p:cNvSpPr/>
          <p:nvPr/>
        </p:nvSpPr>
        <p:spPr>
          <a:xfrm>
            <a:off x="6245280" y="3910680"/>
            <a:ext cx="755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0" name="Picture 141" descr="image.png"/>
          <p:cNvPicPr/>
          <p:nvPr/>
        </p:nvPicPr>
        <p:blipFill>
          <a:blip r:embed="rId27"/>
          <a:stretch/>
        </p:blipFill>
        <p:spPr>
          <a:xfrm>
            <a:off x="5950080" y="4290120"/>
            <a:ext cx="846720" cy="271800"/>
          </a:xfrm>
          <a:prstGeom prst="rect">
            <a:avLst/>
          </a:prstGeom>
          <a:ln w="0">
            <a:noFill/>
          </a:ln>
        </p:spPr>
      </p:pic>
      <p:pic>
        <p:nvPicPr>
          <p:cNvPr id="141" name="Picture 142" descr="image.png"/>
          <p:cNvPicPr/>
          <p:nvPr/>
        </p:nvPicPr>
        <p:blipFill>
          <a:blip r:embed="rId28"/>
          <a:stretch/>
        </p:blipFill>
        <p:spPr>
          <a:xfrm>
            <a:off x="5999400" y="4353480"/>
            <a:ext cx="145440" cy="145440"/>
          </a:xfrm>
          <a:prstGeom prst="rect">
            <a:avLst/>
          </a:prstGeom>
          <a:ln w="0">
            <a:noFill/>
          </a:ln>
        </p:spPr>
      </p:pic>
      <p:sp>
        <p:nvSpPr>
          <p:cNvPr id="142" name="TextBox 143"/>
          <p:cNvSpPr/>
          <p:nvPr/>
        </p:nvSpPr>
        <p:spPr>
          <a:xfrm>
            <a:off x="6277320" y="4350600"/>
            <a:ext cx="39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3" name="Picture 144" descr="image.png"/>
          <p:cNvPicPr/>
          <p:nvPr/>
        </p:nvPicPr>
        <p:blipFill>
          <a:blip r:embed="rId29"/>
          <a:stretch/>
        </p:blipFill>
        <p:spPr>
          <a:xfrm>
            <a:off x="5950080" y="4730040"/>
            <a:ext cx="846720" cy="271800"/>
          </a:xfrm>
          <a:prstGeom prst="rect">
            <a:avLst/>
          </a:prstGeom>
          <a:ln w="0">
            <a:noFill/>
          </a:ln>
        </p:spPr>
      </p:pic>
      <p:pic>
        <p:nvPicPr>
          <p:cNvPr id="144" name="Picture 145" descr="image.png"/>
          <p:cNvPicPr/>
          <p:nvPr/>
        </p:nvPicPr>
        <p:blipFill>
          <a:blip r:embed="rId30"/>
          <a:stretch/>
        </p:blipFill>
        <p:spPr>
          <a:xfrm>
            <a:off x="5999400" y="4793400"/>
            <a:ext cx="145440" cy="145440"/>
          </a:xfrm>
          <a:prstGeom prst="rect">
            <a:avLst/>
          </a:prstGeom>
          <a:ln w="0">
            <a:noFill/>
          </a:ln>
        </p:spPr>
      </p:pic>
      <p:sp>
        <p:nvSpPr>
          <p:cNvPr id="145" name="TextBox 146"/>
          <p:cNvSpPr/>
          <p:nvPr/>
        </p:nvSpPr>
        <p:spPr>
          <a:xfrm>
            <a:off x="6336000" y="4790520"/>
            <a:ext cx="2739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6" name="Picture 147" descr="image.png"/>
          <p:cNvPicPr/>
          <p:nvPr/>
        </p:nvPicPr>
        <p:blipFill>
          <a:blip r:embed="rId31"/>
          <a:stretch/>
        </p:blipFill>
        <p:spPr>
          <a:xfrm>
            <a:off x="5950080" y="5170320"/>
            <a:ext cx="1146600" cy="271800"/>
          </a:xfrm>
          <a:prstGeom prst="rect">
            <a:avLst/>
          </a:prstGeom>
          <a:ln w="0">
            <a:noFill/>
          </a:ln>
        </p:spPr>
      </p:pic>
      <p:pic>
        <p:nvPicPr>
          <p:cNvPr id="147" name="Picture 148" descr="image.png"/>
          <p:cNvPicPr/>
          <p:nvPr/>
        </p:nvPicPr>
        <p:blipFill>
          <a:blip r:embed="rId32"/>
          <a:stretch/>
        </p:blipFill>
        <p:spPr>
          <a:xfrm>
            <a:off x="5999400" y="5233320"/>
            <a:ext cx="145440" cy="145440"/>
          </a:xfrm>
          <a:prstGeom prst="rect">
            <a:avLst/>
          </a:prstGeom>
          <a:ln w="0">
            <a:noFill/>
          </a:ln>
        </p:spPr>
      </p:pic>
      <p:sp>
        <p:nvSpPr>
          <p:cNvPr id="148" name="TextBox 149"/>
          <p:cNvSpPr/>
          <p:nvPr/>
        </p:nvSpPr>
        <p:spPr>
          <a:xfrm>
            <a:off x="6230880" y="5230800"/>
            <a:ext cx="7844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9" name="Picture 4" descr="image.png"/>
          <p:cNvPicPr/>
          <p:nvPr/>
        </p:nvPicPr>
        <p:blipFill>
          <a:blip r:embed="rId33"/>
          <a:stretch/>
        </p:blipFill>
        <p:spPr>
          <a:xfrm>
            <a:off x="820080" y="5654520"/>
            <a:ext cx="798480" cy="282600"/>
          </a:xfrm>
          <a:prstGeom prst="rect">
            <a:avLst/>
          </a:prstGeom>
          <a:ln w="0">
            <a:noFill/>
          </a:ln>
        </p:spPr>
      </p:pic>
      <p:pic>
        <p:nvPicPr>
          <p:cNvPr id="150" name="Picture 2" descr="image.png"/>
          <p:cNvPicPr/>
          <p:nvPr/>
        </p:nvPicPr>
        <p:blipFill>
          <a:blip r:embed="rId34"/>
          <a:stretch/>
        </p:blipFill>
        <p:spPr>
          <a:xfrm>
            <a:off x="900000" y="5760000"/>
            <a:ext cx="107280" cy="129960"/>
          </a:xfrm>
          <a:prstGeom prst="rect">
            <a:avLst/>
          </a:prstGeom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1010160" y="5678280"/>
            <a:ext cx="4993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980" spc="-1" strike="noStrike">
                <a:solidFill>
                  <a:srgbClr val="ffffff"/>
                </a:solidFill>
                <a:latin typeface="Inter ExtraBold"/>
                <a:ea typeface="Calibri"/>
              </a:rPr>
              <a:t>YAMl</a:t>
            </a:r>
            <a:endParaRPr b="0" lang="en-US" sz="9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2" name="TextBox 39"/>
          <p:cNvSpPr/>
          <p:nvPr/>
        </p:nvSpPr>
        <p:spPr>
          <a:xfrm>
            <a:off x="1980000" y="5718960"/>
            <a:ext cx="341712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Message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타입과 주요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Interface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외부 설정으로 분리 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3" name="Rectangle 17"/>
          <p:cNvSpPr/>
          <p:nvPr/>
        </p:nvSpPr>
        <p:spPr>
          <a:xfrm>
            <a:off x="5760000" y="3780000"/>
            <a:ext cx="69480" cy="2157120"/>
          </a:xfrm>
          <a:prstGeom prst="rect">
            <a:avLst/>
          </a:prstGeom>
          <a:solidFill>
            <a:srgbClr val="0a9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4" name="Rectangle 18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89600" cy="52200"/>
          </a:xfrm>
          <a:prstGeom prst="rect">
            <a:avLst/>
          </a:prstGeom>
          <a:solidFill>
            <a:srgbClr val="008f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685800" y="333000"/>
            <a:ext cx="127764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a2f4f"/>
                </a:solidFill>
                <a:latin typeface="Malgun Gothic"/>
                <a:ea typeface="Calibri"/>
              </a:rPr>
              <a:t>ARCHITECTURE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11233440" y="324000"/>
            <a:ext cx="16272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685800" y="617400"/>
            <a:ext cx="53010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3000" spc="-1" strike="noStrike">
                <a:solidFill>
                  <a:srgbClr val="0a2f4f"/>
                </a:solidFill>
                <a:latin typeface="Malgun Gothic"/>
                <a:ea typeface="Calibri"/>
              </a:rPr>
              <a:t>프로젝트 폴더 구조</a:t>
            </a:r>
            <a:endParaRPr b="0" lang="en-US" sz="3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685800" y="1104840"/>
            <a:ext cx="8958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Backend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ROS2 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상태 수집과 실행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API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를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, Frontend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화면 표시와 관계 시각화를 담당합니다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0" name="Rounded Rectangle 6"/>
          <p:cNvSpPr/>
          <p:nvPr/>
        </p:nvSpPr>
        <p:spPr>
          <a:xfrm>
            <a:off x="502920" y="1554480"/>
            <a:ext cx="5621040" cy="4478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c9d8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713160" y="1714680"/>
            <a:ext cx="200916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500" spc="-1" strike="noStrike">
                <a:solidFill>
                  <a:srgbClr val="0a2f4f"/>
                </a:solidFill>
                <a:latin typeface="Malgun Gothic"/>
                <a:ea typeface="Calibri"/>
              </a:rPr>
              <a:t>핵심 폴더 구조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4160520" y="1761840"/>
            <a:ext cx="16434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0" lang="ko-KR" sz="880" spc="-1" strike="noStrike">
                <a:solidFill>
                  <a:srgbClr val="5b6e7d"/>
                </a:solidFill>
                <a:latin typeface="Malgun Gothic"/>
                <a:ea typeface="Calibri"/>
              </a:rPr>
              <a:t>생성물과 로그 폴더는 제외</a:t>
            </a:r>
            <a:endParaRPr b="0" lang="en-US" sz="8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3" name="Rounded Rectangle 11"/>
          <p:cNvSpPr/>
          <p:nvPr/>
        </p:nvSpPr>
        <p:spPr>
          <a:xfrm>
            <a:off x="6309360" y="1554480"/>
            <a:ext cx="5346720" cy="4478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c9d8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519600" y="1714680"/>
            <a:ext cx="2923560" cy="26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65" name="Rounded Rectangle 13"/>
          <p:cNvSpPr/>
          <p:nvPr/>
        </p:nvSpPr>
        <p:spPr>
          <a:xfrm>
            <a:off x="6519600" y="2084760"/>
            <a:ext cx="4789080" cy="47304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>
            <a:solidFill>
              <a:srgbClr val="c7d7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6" name="TextBox 14"/>
          <p:cNvSpPr/>
          <p:nvPr/>
        </p:nvSpPr>
        <p:spPr>
          <a:xfrm>
            <a:off x="6675120" y="2160360"/>
            <a:ext cx="15062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backend/config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7" name="TextBox 15"/>
          <p:cNvSpPr/>
          <p:nvPr/>
        </p:nvSpPr>
        <p:spPr>
          <a:xfrm>
            <a:off x="8247960" y="2166480"/>
            <a:ext cx="28778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모니터링 대상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 상태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Timeout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정책을 보관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8" name="Rounded Rectangle 16"/>
          <p:cNvSpPr/>
          <p:nvPr/>
        </p:nvSpPr>
        <p:spPr>
          <a:xfrm>
            <a:off x="6519600" y="2706480"/>
            <a:ext cx="4789080" cy="47304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>
            <a:solidFill>
              <a:srgbClr val="c7d7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9" name="TextBox 17"/>
          <p:cNvSpPr/>
          <p:nvPr/>
        </p:nvSpPr>
        <p:spPr>
          <a:xfrm>
            <a:off x="6675120" y="2782440"/>
            <a:ext cx="15062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0" name="TextBox 18"/>
          <p:cNvSpPr/>
          <p:nvPr/>
        </p:nvSpPr>
        <p:spPr>
          <a:xfrm>
            <a:off x="8247960" y="2719080"/>
            <a:ext cx="28778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FastAPI, rclpy Runtime, Topic·Service·Action·Node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감시 로직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1" name="Rounded Rectangle 19"/>
          <p:cNvSpPr/>
          <p:nvPr/>
        </p:nvSpPr>
        <p:spPr>
          <a:xfrm>
            <a:off x="6519600" y="3328560"/>
            <a:ext cx="4789080" cy="47304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>
            <a:solidFill>
              <a:srgbClr val="c7d7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2" name="TextBox 20"/>
          <p:cNvSpPr/>
          <p:nvPr/>
        </p:nvSpPr>
        <p:spPr>
          <a:xfrm>
            <a:off x="6675120" y="3404160"/>
            <a:ext cx="15062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interface_lab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TextBox 21"/>
          <p:cNvSpPr/>
          <p:nvPr/>
        </p:nvSpPr>
        <p:spPr>
          <a:xfrm>
            <a:off x="8247960" y="3340800"/>
            <a:ext cx="28778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업로드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·Build·Publish·Receive·Call·Goal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실행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4" name="Rounded Rectangle 22"/>
          <p:cNvSpPr/>
          <p:nvPr/>
        </p:nvSpPr>
        <p:spPr>
          <a:xfrm>
            <a:off x="6519600" y="3950280"/>
            <a:ext cx="4789080" cy="47304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>
            <a:solidFill>
              <a:srgbClr val="c7d7e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5" name="TextBox 23"/>
          <p:cNvSpPr/>
          <p:nvPr/>
        </p:nvSpPr>
        <p:spPr>
          <a:xfrm>
            <a:off x="6675120" y="4025880"/>
            <a:ext cx="15062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frontend/src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TextBox 24"/>
          <p:cNvSpPr/>
          <p:nvPr/>
        </p:nvSpPr>
        <p:spPr>
          <a:xfrm>
            <a:off x="8247960" y="3962520"/>
            <a:ext cx="28778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REST/WebSocket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데이터를 받아 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상세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Alert, Graph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화면 구성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6519600" y="4660560"/>
            <a:ext cx="1277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300" spc="-1" strike="noStrike">
                <a:solidFill>
                  <a:srgbClr val="0a2f4f"/>
                </a:solidFill>
                <a:latin typeface="Malgun Gothic"/>
                <a:ea typeface="Calibri"/>
              </a:rPr>
              <a:t>데이터 흐름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8" name="Rounded Rectangle 26"/>
          <p:cNvSpPr/>
          <p:nvPr/>
        </p:nvSpPr>
        <p:spPr>
          <a:xfrm>
            <a:off x="6519600" y="5010840"/>
            <a:ext cx="838800" cy="40896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>
            <a:solidFill>
              <a:srgbClr val="b8ce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9" name="TextBox 27"/>
          <p:cNvSpPr/>
          <p:nvPr/>
        </p:nvSpPr>
        <p:spPr>
          <a:xfrm>
            <a:off x="6519600" y="5132160"/>
            <a:ext cx="83880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ROS2 Graph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TextBox 28"/>
          <p:cNvSpPr/>
          <p:nvPr/>
        </p:nvSpPr>
        <p:spPr>
          <a:xfrm>
            <a:off x="7434000" y="5029200"/>
            <a:ext cx="162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1" name="Rounded Rectangle 29"/>
          <p:cNvSpPr/>
          <p:nvPr/>
        </p:nvSpPr>
        <p:spPr>
          <a:xfrm>
            <a:off x="7671960" y="5010840"/>
            <a:ext cx="1049040" cy="40896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>
            <a:solidFill>
              <a:srgbClr val="b8ce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2" name="TextBox 30"/>
          <p:cNvSpPr/>
          <p:nvPr/>
        </p:nvSpPr>
        <p:spPr>
          <a:xfrm>
            <a:off x="7671960" y="5132160"/>
            <a:ext cx="10490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rclpy Runtime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3" name="TextBox 31"/>
          <p:cNvSpPr/>
          <p:nvPr/>
        </p:nvSpPr>
        <p:spPr>
          <a:xfrm>
            <a:off x="8796600" y="5029200"/>
            <a:ext cx="162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4" name="Rounded Rectangle 32"/>
          <p:cNvSpPr/>
          <p:nvPr/>
        </p:nvSpPr>
        <p:spPr>
          <a:xfrm>
            <a:off x="9034200" y="5010840"/>
            <a:ext cx="655920" cy="40896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>
            <a:solidFill>
              <a:srgbClr val="b8ce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5" name="TextBox 33"/>
          <p:cNvSpPr/>
          <p:nvPr/>
        </p:nvSpPr>
        <p:spPr>
          <a:xfrm>
            <a:off x="9034200" y="5132160"/>
            <a:ext cx="6559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Cache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TextBox 34"/>
          <p:cNvSpPr/>
          <p:nvPr/>
        </p:nvSpPr>
        <p:spPr>
          <a:xfrm>
            <a:off x="9765720" y="5029200"/>
            <a:ext cx="162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7" name="Rounded Rectangle 35"/>
          <p:cNvSpPr/>
          <p:nvPr/>
        </p:nvSpPr>
        <p:spPr>
          <a:xfrm>
            <a:off x="10003680" y="5010840"/>
            <a:ext cx="500400" cy="40896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>
            <a:solidFill>
              <a:srgbClr val="b8ce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8" name="TextBox 36"/>
          <p:cNvSpPr/>
          <p:nvPr/>
        </p:nvSpPr>
        <p:spPr>
          <a:xfrm>
            <a:off x="10003680" y="5132160"/>
            <a:ext cx="50040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TextBox 37"/>
          <p:cNvSpPr/>
          <p:nvPr/>
        </p:nvSpPr>
        <p:spPr>
          <a:xfrm>
            <a:off x="10579680" y="5029200"/>
            <a:ext cx="162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0" name="Rounded Rectangle 38"/>
          <p:cNvSpPr/>
          <p:nvPr/>
        </p:nvSpPr>
        <p:spPr>
          <a:xfrm>
            <a:off x="10817280" y="5010840"/>
            <a:ext cx="655920" cy="40896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>
            <a:solidFill>
              <a:srgbClr val="b8cee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1" name="TextBox 39"/>
          <p:cNvSpPr/>
          <p:nvPr/>
        </p:nvSpPr>
        <p:spPr>
          <a:xfrm>
            <a:off x="10817280" y="5132160"/>
            <a:ext cx="6559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React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2" name="Rounded Rectangle 40"/>
          <p:cNvSpPr/>
          <p:nvPr/>
        </p:nvSpPr>
        <p:spPr>
          <a:xfrm>
            <a:off x="502920" y="6163200"/>
            <a:ext cx="11153160" cy="38160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>
            <a:solidFill>
              <a:srgbClr val="a9d8d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3" name="TextBox 41"/>
          <p:cNvSpPr/>
          <p:nvPr/>
        </p:nvSpPr>
        <p:spPr>
          <a:xfrm>
            <a:off x="640080" y="6240240"/>
            <a:ext cx="108788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핵심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: backend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ROS2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와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를 담당하고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, frontend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 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결과를 화면과 그래프로 표현합니다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.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1"/>
          <a:stretch/>
        </p:blipFill>
        <p:spPr>
          <a:xfrm>
            <a:off x="900000" y="2160000"/>
            <a:ext cx="4858200" cy="3259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2941920" y="384120"/>
            <a:ext cx="614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Overview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전체 상태와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Alert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를 한눈에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3838680" y="822960"/>
            <a:ext cx="4024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요약 카드는 상태를 넓게 보여주고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Alert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는 조치가 필요한 조건만 선별합니다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Rounded Rectangle 9"/>
          <p:cNvSpPr/>
          <p:nvPr/>
        </p:nvSpPr>
        <p:spPr>
          <a:xfrm>
            <a:off x="77724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· Topic · Service · Action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요약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Rounded Rectangle 10"/>
          <p:cNvSpPr/>
          <p:nvPr/>
        </p:nvSpPr>
        <p:spPr>
          <a:xfrm>
            <a:off x="436788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최근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상태 분포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2" name="Rounded Rectangle 11"/>
          <p:cNvSpPr/>
          <p:nvPr/>
        </p:nvSpPr>
        <p:spPr>
          <a:xfrm>
            <a:off x="795816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Badge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는 별도 기준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3" name="TextBox 12"/>
          <p:cNvSpPr/>
          <p:nvPr/>
        </p:nvSpPr>
        <p:spPr>
          <a:xfrm>
            <a:off x="457200" y="6565320"/>
            <a:ext cx="112410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Overview / Recent Alert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상태 분포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04" name="Picture 1" descr="overview.png"/>
          <p:cNvPicPr/>
          <p:nvPr/>
        </p:nvPicPr>
        <p:blipFill>
          <a:blip r:embed="rId1"/>
          <a:srcRect l="3293" t="0" r="0" b="0"/>
          <a:stretch/>
        </p:blipFill>
        <p:spPr>
          <a:xfrm>
            <a:off x="1080000" y="1170360"/>
            <a:ext cx="10022400" cy="4520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7440" cy="68760"/>
          </a:xfrm>
          <a:prstGeom prst="rect">
            <a:avLst/>
          </a:prstGeom>
          <a:solidFill>
            <a:srgbClr val="009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685800" y="255960"/>
            <a:ext cx="1824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02d4e"/>
                </a:solidFill>
                <a:latin typeface="Aptos"/>
                <a:ea typeface="Calibri"/>
              </a:rPr>
              <a:t>MONITORING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685800" y="548640"/>
            <a:ext cx="10054080" cy="46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r>
              <a:rPr b="1" lang="ko-KR" sz="2450" spc="-1" strike="noStrike">
                <a:solidFill>
                  <a:srgbClr val="002d4e"/>
                </a:solidFill>
                <a:latin typeface="Aptos"/>
                <a:ea typeface="Calibri"/>
              </a:rPr>
              <a:t>는 현재 장애와 최근 해결된 장애를 구분합니다</a:t>
            </a:r>
            <a:endParaRPr b="0" lang="en-US" sz="2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85800" y="1078920"/>
            <a:ext cx="107856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장애가 지속되는 동안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active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표시하고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, 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해결된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Alert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는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60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초간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resolved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남겨 원인 확인 시간을 확보합니다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Rectangle 7"/>
          <p:cNvSpPr/>
          <p:nvPr/>
        </p:nvSpPr>
        <p:spPr>
          <a:xfrm>
            <a:off x="713160" y="1800000"/>
            <a:ext cx="59760" cy="1076040"/>
          </a:xfrm>
          <a:prstGeom prst="rect">
            <a:avLst/>
          </a:prstGeom>
          <a:solidFill>
            <a:srgbClr val="f4b8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1" name="TextBox 8"/>
          <p:cNvSpPr/>
          <p:nvPr/>
        </p:nvSpPr>
        <p:spPr>
          <a:xfrm>
            <a:off x="941760" y="1901880"/>
            <a:ext cx="3836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현재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941760" y="2340720"/>
            <a:ext cx="38361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장애가 남아 있는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warning/error 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집계에 포함되며 즉시 확인해야 합니다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713160" y="3182400"/>
            <a:ext cx="59760" cy="1059120"/>
          </a:xfrm>
          <a:prstGeom prst="rect">
            <a:avLst/>
          </a:prstGeom>
          <a:solidFill>
            <a:srgbClr val="009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839880" y="3240000"/>
            <a:ext cx="3836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이전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TextBox 13"/>
          <p:cNvSpPr/>
          <p:nvPr/>
        </p:nvSpPr>
        <p:spPr>
          <a:xfrm>
            <a:off x="900000" y="3721320"/>
            <a:ext cx="38361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이미 해결된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 집계에서는 제외하고 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초 동안만 남깁니다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6" name="Rectangle 15"/>
          <p:cNvSpPr/>
          <p:nvPr/>
        </p:nvSpPr>
        <p:spPr>
          <a:xfrm>
            <a:off x="713160" y="4680000"/>
            <a:ext cx="59760" cy="1256040"/>
          </a:xfrm>
          <a:prstGeom prst="rect">
            <a:avLst/>
          </a:prstGeom>
          <a:solidFill>
            <a:srgbClr val="006c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7" name="TextBox 16"/>
          <p:cNvSpPr/>
          <p:nvPr/>
        </p:nvSpPr>
        <p:spPr>
          <a:xfrm>
            <a:off x="900000" y="4860000"/>
            <a:ext cx="3836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정책 요약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TextBox 17"/>
          <p:cNvSpPr/>
          <p:nvPr/>
        </p:nvSpPr>
        <p:spPr>
          <a:xfrm>
            <a:off x="1019880" y="5190840"/>
            <a:ext cx="383616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장애가 지속되는 동안 유지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resolved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초 동안 보관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재발 시 기존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Alert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를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로 전환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9" name="TextBox 18"/>
          <p:cNvSpPr/>
          <p:nvPr/>
        </p:nvSpPr>
        <p:spPr>
          <a:xfrm>
            <a:off x="5440680" y="1499760"/>
            <a:ext cx="29217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장애 발생 중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현재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0" name="Picture 19" descr="f9ce5687-c7cb-4d53-9f64-706c61919ae1.png"/>
          <p:cNvPicPr/>
          <p:nvPr/>
        </p:nvPicPr>
        <p:blipFill>
          <a:blip r:embed="rId1"/>
          <a:stretch/>
        </p:blipFill>
        <p:spPr>
          <a:xfrm>
            <a:off x="5440680" y="1764720"/>
            <a:ext cx="6030720" cy="2057400"/>
          </a:xfrm>
          <a:prstGeom prst="rect">
            <a:avLst/>
          </a:prstGeom>
          <a:ln w="0">
            <a:noFill/>
          </a:ln>
        </p:spPr>
      </p:pic>
      <p:sp>
        <p:nvSpPr>
          <p:cNvPr id="221" name="Rectangle 20"/>
          <p:cNvSpPr/>
          <p:nvPr/>
        </p:nvSpPr>
        <p:spPr>
          <a:xfrm>
            <a:off x="5440680" y="1764720"/>
            <a:ext cx="6030720" cy="2057400"/>
          </a:xfrm>
          <a:prstGeom prst="rect">
            <a:avLst/>
          </a:prstGeom>
          <a:noFill/>
          <a:ln>
            <a:solidFill>
              <a:srgbClr val="cdda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2" name="TextBox 21"/>
          <p:cNvSpPr/>
          <p:nvPr/>
        </p:nvSpPr>
        <p:spPr>
          <a:xfrm>
            <a:off x="5440680" y="3875040"/>
            <a:ext cx="29217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해결 후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이전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3" name="Picture 22" descr="b96b9ba0-d3ea-4188-9e0f-1f3b5e065d65.png"/>
          <p:cNvPicPr/>
          <p:nvPr/>
        </p:nvPicPr>
        <p:blipFill>
          <a:blip r:embed="rId2"/>
          <a:stretch/>
        </p:blipFill>
        <p:spPr>
          <a:xfrm>
            <a:off x="5440680" y="4238640"/>
            <a:ext cx="6030720" cy="2057400"/>
          </a:xfrm>
          <a:prstGeom prst="rect">
            <a:avLst/>
          </a:prstGeom>
          <a:ln w="0">
            <a:noFill/>
          </a:ln>
        </p:spPr>
      </p:pic>
      <p:sp>
        <p:nvSpPr>
          <p:cNvPr id="224" name="Rectangle 23"/>
          <p:cNvSpPr/>
          <p:nvPr/>
        </p:nvSpPr>
        <p:spPr>
          <a:xfrm>
            <a:off x="5440680" y="4238640"/>
            <a:ext cx="6030720" cy="2057400"/>
          </a:xfrm>
          <a:prstGeom prst="rect">
            <a:avLst/>
          </a:prstGeom>
          <a:noFill/>
          <a:ln>
            <a:solidFill>
              <a:srgbClr val="cdda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5" name="Rectangle 24"/>
          <p:cNvSpPr/>
          <p:nvPr/>
        </p:nvSpPr>
        <p:spPr>
          <a:xfrm>
            <a:off x="621720" y="6437520"/>
            <a:ext cx="10968480" cy="4680"/>
          </a:xfrm>
          <a:prstGeom prst="rect">
            <a:avLst/>
          </a:prstGeom>
          <a:solidFill>
            <a:srgbClr val="cdda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685800" y="6473880"/>
            <a:ext cx="84996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실제 화면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: Alerts ·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현재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/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이전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· active/resolved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구분</a:t>
            </a:r>
            <a:endParaRPr b="0" lang="en-US" sz="6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7" name="Rectangle 4"/>
          <p:cNvSpPr/>
          <p:nvPr/>
        </p:nvSpPr>
        <p:spPr>
          <a:xfrm>
            <a:off x="720000" y="1800000"/>
            <a:ext cx="3776040" cy="1076040"/>
          </a:xfrm>
          <a:prstGeom prst="rect">
            <a:avLst/>
          </a:prstGeom>
          <a:noFill/>
          <a:ln>
            <a:solidFill>
              <a:srgbClr val="cdda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8" name="Rectangle 13"/>
          <p:cNvSpPr/>
          <p:nvPr/>
        </p:nvSpPr>
        <p:spPr>
          <a:xfrm>
            <a:off x="720000" y="3182400"/>
            <a:ext cx="3776040" cy="1076040"/>
          </a:xfrm>
          <a:prstGeom prst="rect">
            <a:avLst/>
          </a:prstGeom>
          <a:noFill/>
          <a:ln>
            <a:solidFill>
              <a:srgbClr val="cdda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9" name="Rectangle 16"/>
          <p:cNvSpPr/>
          <p:nvPr/>
        </p:nvSpPr>
        <p:spPr>
          <a:xfrm>
            <a:off x="713160" y="4680000"/>
            <a:ext cx="3776040" cy="1256040"/>
          </a:xfrm>
          <a:prstGeom prst="rect">
            <a:avLst/>
          </a:prstGeom>
          <a:noFill/>
          <a:ln>
            <a:solidFill>
              <a:srgbClr val="cdda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1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3" name="TextBox 4"/>
          <p:cNvSpPr/>
          <p:nvPr/>
        </p:nvSpPr>
        <p:spPr>
          <a:xfrm>
            <a:off x="2700000" y="360000"/>
            <a:ext cx="621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Topic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latest · Hz · stale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을 실시간으로 확인합니다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4" name="TextBox 5"/>
          <p:cNvSpPr/>
          <p:nvPr/>
        </p:nvSpPr>
        <p:spPr>
          <a:xfrm>
            <a:off x="3434760" y="822960"/>
            <a:ext cx="4832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지원 타입을 자동 구독하고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callback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최신값과 수신 속도를 갱신합니다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35" name="Picture 7" descr="topic.png"/>
          <p:cNvPicPr/>
          <p:nvPr/>
        </p:nvPicPr>
        <p:blipFill>
          <a:blip r:embed="rId1"/>
          <a:srcRect l="330" t="1035" r="0" b="1853"/>
          <a:stretch/>
        </p:blipFill>
        <p:spPr>
          <a:xfrm>
            <a:off x="536040" y="1620000"/>
            <a:ext cx="11158200" cy="3594240"/>
          </a:xfrm>
          <a:prstGeom prst="rect">
            <a:avLst/>
          </a:prstGeom>
          <a:ln w="0">
            <a:noFill/>
          </a:ln>
        </p:spPr>
      </p:pic>
      <p:sp>
        <p:nvSpPr>
          <p:cNvPr id="236" name="Rounded Rectangle 9"/>
          <p:cNvSpPr/>
          <p:nvPr/>
        </p:nvSpPr>
        <p:spPr>
          <a:xfrm>
            <a:off x="77724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Publisher / Subscriber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수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7" name="Rounded Rectangle 10"/>
          <p:cNvSpPr/>
          <p:nvPr/>
        </p:nvSpPr>
        <p:spPr>
          <a:xfrm>
            <a:off x="436788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Hz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최신 데이터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Rounded Rectangle 11"/>
          <p:cNvSpPr/>
          <p:nvPr/>
        </p:nvSpPr>
        <p:spPr>
          <a:xfrm>
            <a:off x="795816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발행자 대기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 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미수신 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9" name="TextBox 12"/>
          <p:cNvSpPr/>
          <p:nvPr/>
        </p:nvSpPr>
        <p:spPr>
          <a:xfrm>
            <a:off x="457200" y="6565320"/>
            <a:ext cx="112410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Topics table / Hz / latest preview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 패널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3" name="TextBox 4"/>
          <p:cNvSpPr/>
          <p:nvPr/>
        </p:nvSpPr>
        <p:spPr>
          <a:xfrm>
            <a:off x="2734560" y="384120"/>
            <a:ext cx="65620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목록 수집과 실제 호출 가능 여부를 분리합니다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2803680" y="822960"/>
            <a:ext cx="6092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존재 여부를 자동으로 관찰하고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응답 시간과 결과는 요청이 있을 때만 발생하며 사용자가 호출했을 때 기록됩니다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45" name="Picture 7" descr="service.png"/>
          <p:cNvPicPr/>
          <p:nvPr/>
        </p:nvPicPr>
        <p:blipFill>
          <a:blip r:embed="rId1"/>
          <a:stretch/>
        </p:blipFill>
        <p:spPr>
          <a:xfrm>
            <a:off x="502920" y="2175480"/>
            <a:ext cx="11195280" cy="2509920"/>
          </a:xfrm>
          <a:prstGeom prst="rect">
            <a:avLst/>
          </a:prstGeom>
          <a:ln w="0">
            <a:noFill/>
          </a:ln>
        </p:spPr>
      </p:pic>
      <p:sp>
        <p:nvSpPr>
          <p:cNvPr id="246" name="Rounded Rectangle 9"/>
          <p:cNvSpPr/>
          <p:nvPr/>
        </p:nvSpPr>
        <p:spPr>
          <a:xfrm>
            <a:off x="77724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Server / Client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관계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7" name="Rounded Rectangle 10"/>
          <p:cNvSpPr/>
          <p:nvPr/>
        </p:nvSpPr>
        <p:spPr>
          <a:xfrm>
            <a:off x="436788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호출 가능 여부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8" name="Rounded Rectangle 11"/>
          <p:cNvSpPr/>
          <p:nvPr/>
        </p:nvSpPr>
        <p:spPr>
          <a:xfrm>
            <a:off x="795816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마지막 요청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응답과 응답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9" name="TextBox 12"/>
          <p:cNvSpPr/>
          <p:nvPr/>
        </p:nvSpPr>
        <p:spPr>
          <a:xfrm>
            <a:off x="457200" y="6565320"/>
            <a:ext cx="112410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Services table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응답 측정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Service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2718000" y="384120"/>
            <a:ext cx="659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Goal · Feedback · Result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상태를 관찰합니다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3514680" y="822960"/>
            <a:ext cx="4672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모니터링은 새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을 만들지 않고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관찰된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의 진행과 종료 상태를 화면에 보여줍니다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55" name="Picture 7" descr="action.png"/>
          <p:cNvPicPr/>
          <p:nvPr/>
        </p:nvPicPr>
        <p:blipFill>
          <a:blip r:embed="rId1"/>
          <a:stretch/>
        </p:blipFill>
        <p:spPr>
          <a:xfrm>
            <a:off x="502920" y="1355040"/>
            <a:ext cx="11195280" cy="4150800"/>
          </a:xfrm>
          <a:prstGeom prst="rect">
            <a:avLst/>
          </a:prstGeom>
          <a:ln w="0">
            <a:noFill/>
          </a:ln>
        </p:spPr>
      </p:pic>
      <p:sp>
        <p:nvSpPr>
          <p:cNvPr id="256" name="Rounded Rectangle 9"/>
          <p:cNvSpPr/>
          <p:nvPr/>
        </p:nvSpPr>
        <p:spPr>
          <a:xfrm>
            <a:off x="77724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7" name="Rounded Rectangle 10"/>
          <p:cNvSpPr/>
          <p:nvPr/>
        </p:nvSpPr>
        <p:spPr>
          <a:xfrm>
            <a:off x="436788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8" name="Rounded Rectangle 11"/>
          <p:cNvSpPr/>
          <p:nvPr/>
        </p:nvSpPr>
        <p:spPr>
          <a:xfrm>
            <a:off x="795816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Result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실행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9" name="TextBox 12"/>
          <p:cNvSpPr/>
          <p:nvPr/>
        </p:nvSpPr>
        <p:spPr>
          <a:xfrm>
            <a:off x="457200" y="6565320"/>
            <a:ext cx="112410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Actions table / Feedback / Result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관찰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0" y="0"/>
            <a:ext cx="12187080" cy="59040"/>
          </a:xfrm>
          <a:prstGeom prst="rect">
            <a:avLst/>
          </a:prstGeom>
          <a:solidFill>
            <a:srgbClr val="008c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1" name="TextBox 2"/>
          <p:cNvSpPr/>
          <p:nvPr/>
        </p:nvSpPr>
        <p:spPr>
          <a:xfrm>
            <a:off x="685800" y="311040"/>
            <a:ext cx="118368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02b4a"/>
                </a:solidFill>
                <a:latin typeface="Aptos"/>
                <a:ea typeface="Calibri"/>
              </a:rPr>
              <a:t>MONITORING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11251800" y="341640"/>
            <a:ext cx="1260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3" name="TextBox 4"/>
          <p:cNvSpPr/>
          <p:nvPr/>
        </p:nvSpPr>
        <p:spPr>
          <a:xfrm>
            <a:off x="685800" y="594360"/>
            <a:ext cx="106020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2b4a"/>
                </a:solidFill>
                <a:latin typeface="Aptos"/>
                <a:ea typeface="Calibri"/>
              </a:rPr>
              <a:t>Node </a:t>
            </a:r>
            <a:r>
              <a:rPr b="1" lang="ko-KR" sz="2600" spc="-1" strike="noStrike">
                <a:solidFill>
                  <a:srgbClr val="002b4a"/>
                </a:solidFill>
                <a:latin typeface="Aptos"/>
                <a:ea typeface="Calibri"/>
              </a:rPr>
              <a:t>화면은 실행 단위의 통신 참여 관계를 보여줍니다</a:t>
            </a:r>
            <a:endParaRPr b="0" lang="en-US" sz="2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5"/>
          <p:cNvSpPr/>
          <p:nvPr/>
        </p:nvSpPr>
        <p:spPr>
          <a:xfrm>
            <a:off x="685800" y="1051560"/>
            <a:ext cx="106934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Node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하나를 선택하면 발행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구독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Topic,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응답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요청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Service, Action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관계를 함께 확인합니다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65" name="Picture 6" descr="node_table.png"/>
          <p:cNvPicPr/>
          <p:nvPr/>
        </p:nvPicPr>
        <p:blipFill>
          <a:blip r:embed="rId1"/>
          <a:stretch/>
        </p:blipFill>
        <p:spPr>
          <a:xfrm>
            <a:off x="685800" y="1321560"/>
            <a:ext cx="10830600" cy="1373760"/>
          </a:xfrm>
          <a:prstGeom prst="rect">
            <a:avLst/>
          </a:prstGeom>
          <a:ln w="0">
            <a:noFill/>
          </a:ln>
        </p:spPr>
      </p:pic>
      <p:sp>
        <p:nvSpPr>
          <p:cNvPr id="266" name="Rounded Rectangle 7"/>
          <p:cNvSpPr/>
          <p:nvPr/>
        </p:nvSpPr>
        <p:spPr>
          <a:xfrm>
            <a:off x="685800" y="2880360"/>
            <a:ext cx="2143800" cy="287640"/>
          </a:xfrm>
          <a:prstGeom prst="roundRect">
            <a:avLst>
              <a:gd name="adj" fmla="val 16667"/>
            </a:avLst>
          </a:prstGeom>
          <a:solidFill>
            <a:srgbClr val="eaf4f4"/>
          </a:solidFill>
          <a:ln w="10160">
            <a:solidFill>
              <a:srgbClr val="b7d8d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1.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목록</a:t>
            </a: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: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참여 수 요약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7" name="Rounded Rectangle 8"/>
          <p:cNvSpPr/>
          <p:nvPr/>
        </p:nvSpPr>
        <p:spPr>
          <a:xfrm>
            <a:off x="3286080" y="2880000"/>
            <a:ext cx="1412280" cy="2876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160">
            <a:solidFill>
              <a:srgbClr val="bdd7f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2.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상세정보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Rounded Rectangle 9"/>
          <p:cNvSpPr/>
          <p:nvPr/>
        </p:nvSpPr>
        <p:spPr>
          <a:xfrm>
            <a:off x="7362000" y="2880000"/>
            <a:ext cx="1476360" cy="2876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160">
            <a:solidFill>
              <a:srgbClr val="bdd7f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4. Service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9" name="Rounded Rectangle 13"/>
          <p:cNvSpPr/>
          <p:nvPr/>
        </p:nvSpPr>
        <p:spPr>
          <a:xfrm>
            <a:off x="9280080" y="3514320"/>
            <a:ext cx="2235240" cy="2601000"/>
          </a:xfrm>
          <a:prstGeom prst="roundRect">
            <a:avLst>
              <a:gd name="adj" fmla="val 16667"/>
            </a:avLst>
          </a:prstGeom>
          <a:solidFill>
            <a:srgbClr val="eef8f7"/>
          </a:solidFill>
          <a:ln>
            <a:solidFill>
              <a:srgbClr val="b7d8d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핵심 포인트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1.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현재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active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상태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2. Topic·Service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연결 수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3.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상세 패널에서 실제 이름과 타입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br>
              <a:rPr sz="1100"/>
            </a:b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사라진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는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timeout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동안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stale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로 남겨 화면 흔들림을 줄입니다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0" name="Rectangle 14"/>
          <p:cNvSpPr/>
          <p:nvPr/>
        </p:nvSpPr>
        <p:spPr>
          <a:xfrm>
            <a:off x="540000" y="6660000"/>
            <a:ext cx="11059200" cy="3960"/>
          </a:xfrm>
          <a:prstGeom prst="rect">
            <a:avLst/>
          </a:prstGeom>
          <a:solidFill>
            <a:srgbClr val="ca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6000" bIns="-36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1" name="TextBox 15"/>
          <p:cNvSpPr/>
          <p:nvPr/>
        </p:nvSpPr>
        <p:spPr>
          <a:xfrm>
            <a:off x="685800" y="6473880"/>
            <a:ext cx="8681760" cy="1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pic>
        <p:nvPicPr>
          <p:cNvPr id="272" name="" descr=""/>
          <p:cNvPicPr/>
          <p:nvPr/>
        </p:nvPicPr>
        <p:blipFill>
          <a:blip r:embed="rId2"/>
          <a:stretch/>
        </p:blipFill>
        <p:spPr>
          <a:xfrm>
            <a:off x="3083040" y="3413520"/>
            <a:ext cx="1857240" cy="3055680"/>
          </a:xfrm>
          <a:prstGeom prst="rect">
            <a:avLst/>
          </a:prstGeom>
          <a:ln w="0">
            <a:noFill/>
          </a:ln>
        </p:spPr>
      </p:pic>
      <p:sp>
        <p:nvSpPr>
          <p:cNvPr id="273" name="Rounded Rectangle 1"/>
          <p:cNvSpPr/>
          <p:nvPr/>
        </p:nvSpPr>
        <p:spPr>
          <a:xfrm>
            <a:off x="5266080" y="2880000"/>
            <a:ext cx="1412280" cy="2876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160">
            <a:solidFill>
              <a:srgbClr val="bdd7f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3. Topic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4" name="" descr=""/>
          <p:cNvPicPr/>
          <p:nvPr/>
        </p:nvPicPr>
        <p:blipFill>
          <a:blip r:embed="rId3"/>
          <a:stretch/>
        </p:blipFill>
        <p:spPr>
          <a:xfrm>
            <a:off x="5063040" y="3420000"/>
            <a:ext cx="1975320" cy="3049200"/>
          </a:xfrm>
          <a:prstGeom prst="rect">
            <a:avLst/>
          </a:prstGeom>
          <a:ln w="0">
            <a:noFill/>
          </a:ln>
        </p:spPr>
      </p:pic>
      <p:pic>
        <p:nvPicPr>
          <p:cNvPr id="275" name="" descr=""/>
          <p:cNvPicPr/>
          <p:nvPr/>
        </p:nvPicPr>
        <p:blipFill>
          <a:blip r:embed="rId4"/>
          <a:stretch/>
        </p:blipFill>
        <p:spPr>
          <a:xfrm>
            <a:off x="7223040" y="3420000"/>
            <a:ext cx="1773000" cy="3049200"/>
          </a:xfrm>
          <a:prstGeom prst="rect">
            <a:avLst/>
          </a:prstGeom>
          <a:ln w="0">
            <a:noFill/>
          </a:ln>
        </p:spPr>
      </p:pic>
      <p:sp>
        <p:nvSpPr>
          <p:cNvPr id="276" name="Rounded Rectangle 2"/>
          <p:cNvSpPr/>
          <p:nvPr/>
        </p:nvSpPr>
        <p:spPr>
          <a:xfrm>
            <a:off x="720000" y="3420000"/>
            <a:ext cx="2132280" cy="287532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160">
            <a:solidFill>
              <a:srgbClr val="bdd7f5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목록에서 보는 값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발행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구독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응답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요청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Goal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실행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요청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br>
              <a:rPr sz="1100"/>
            </a:b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이름만이 아니라 통신 참여 관계를 함께 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0" name="TextBox 4"/>
          <p:cNvSpPr/>
          <p:nvPr/>
        </p:nvSpPr>
        <p:spPr>
          <a:xfrm>
            <a:off x="2284920" y="384120"/>
            <a:ext cx="7461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Visualization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Node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중심의 통신 관계를 그래프로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1" name="TextBox 5"/>
          <p:cNvSpPr/>
          <p:nvPr/>
        </p:nvSpPr>
        <p:spPr>
          <a:xfrm>
            <a:off x="3578760" y="822960"/>
            <a:ext cx="4544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기존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REST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데이터를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Frontend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에서 조합해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React Flow nodes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와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edges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로 변환합니다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2" name="Rounded Rectangle 9"/>
          <p:cNvSpPr/>
          <p:nvPr/>
        </p:nvSpPr>
        <p:spPr>
          <a:xfrm>
            <a:off x="77724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선택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중심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1-hop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3" name="Rounded Rectangle 10"/>
          <p:cNvSpPr/>
          <p:nvPr/>
        </p:nvSpPr>
        <p:spPr>
          <a:xfrm>
            <a:off x="436788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Topic · Service ·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연결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4" name="Rounded Rectangle 11"/>
          <p:cNvSpPr/>
          <p:nvPr/>
        </p:nvSpPr>
        <p:spPr>
          <a:xfrm>
            <a:off x="795816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전체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Graph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배치 초기화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5" name="TextBox 12"/>
          <p:cNvSpPr/>
          <p:nvPr/>
        </p:nvSpPr>
        <p:spPr>
          <a:xfrm>
            <a:off x="457200" y="6565320"/>
            <a:ext cx="112410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Visualization / React Flow graph / Node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중심 관계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86" name="Picture 13" descr="viz_clean_top_crop.png"/>
          <p:cNvPicPr/>
          <p:nvPr/>
        </p:nvPicPr>
        <p:blipFill>
          <a:blip r:embed="rId1"/>
          <a:srcRect l="1936" t="0" r="3252" b="0"/>
          <a:stretch/>
        </p:blipFill>
        <p:spPr>
          <a:xfrm>
            <a:off x="720360" y="1143000"/>
            <a:ext cx="10613880" cy="4514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609480" y="266760"/>
            <a:ext cx="2089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8" name=""/>
          <p:cNvSpPr/>
          <p:nvPr/>
        </p:nvSpPr>
        <p:spPr>
          <a:xfrm>
            <a:off x="609480" y="552600"/>
            <a:ext cx="102808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자동 모니터링은 관찰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, Interface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사용자 실행입니다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9" name=""/>
          <p:cNvSpPr/>
          <p:nvPr/>
        </p:nvSpPr>
        <p:spPr>
          <a:xfrm>
            <a:off x="609480" y="1047600"/>
            <a:ext cx="1047132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두 영역은 목적과 실행 시점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저장하는 결과가 다릅니다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"/>
          <p:cNvSpPr/>
          <p:nvPr/>
        </p:nvSpPr>
        <p:spPr>
          <a:xfrm>
            <a:off x="11064240" y="292680"/>
            <a:ext cx="500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1" name=""/>
          <p:cNvSpPr/>
          <p:nvPr/>
        </p:nvSpPr>
        <p:spPr>
          <a:xfrm>
            <a:off x="666720" y="1752480"/>
            <a:ext cx="5042160" cy="351828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2" name=""/>
          <p:cNvSpPr/>
          <p:nvPr/>
        </p:nvSpPr>
        <p:spPr>
          <a:xfrm>
            <a:off x="933480" y="2019240"/>
            <a:ext cx="332748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AUTOMATIC MONITORING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3" name=""/>
          <p:cNvSpPr/>
          <p:nvPr/>
        </p:nvSpPr>
        <p:spPr>
          <a:xfrm>
            <a:off x="952560" y="2495520"/>
            <a:ext cx="41850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현재 </a:t>
            </a:r>
            <a:r>
              <a:rPr b="1" lang="en-US" sz="1500" spc="-1" strike="noStrike">
                <a:solidFill>
                  <a:srgbClr val="172b3a"/>
                </a:solidFill>
                <a:latin typeface="Calibri"/>
                <a:ea typeface="Calibri"/>
              </a:rPr>
              <a:t>ROS2 </a:t>
            </a: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시스템을 자동으로 관찰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4" name=""/>
          <p:cNvSpPr/>
          <p:nvPr/>
        </p:nvSpPr>
        <p:spPr>
          <a:xfrm>
            <a:off x="1009800" y="3048120"/>
            <a:ext cx="4089600" cy="15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Graph discovery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수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·latest·Hz·stale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Runtime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새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Call / Goal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자동 실행 안 함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5" name=""/>
          <p:cNvSpPr/>
          <p:nvPr/>
        </p:nvSpPr>
        <p:spPr>
          <a:xfrm>
            <a:off x="6477120" y="1752480"/>
            <a:ext cx="5042160" cy="351828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6" name=""/>
          <p:cNvSpPr/>
          <p:nvPr/>
        </p:nvSpPr>
        <p:spPr>
          <a:xfrm>
            <a:off x="6743880" y="2019240"/>
            <a:ext cx="26607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7" name=""/>
          <p:cNvSpPr/>
          <p:nvPr/>
        </p:nvSpPr>
        <p:spPr>
          <a:xfrm>
            <a:off x="6762600" y="2495520"/>
            <a:ext cx="41850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등록한 타입으로 통신을 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8" name=""/>
          <p:cNvSpPr/>
          <p:nvPr/>
        </p:nvSpPr>
        <p:spPr>
          <a:xfrm>
            <a:off x="6819840" y="3048120"/>
            <a:ext cx="4089600" cy="15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업로드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Build / Apply / import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Publish · Receive · Call · Goal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결과와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"/>
          <p:cNvSpPr/>
          <p:nvPr/>
        </p:nvSpPr>
        <p:spPr>
          <a:xfrm>
            <a:off x="4476600" y="5619600"/>
            <a:ext cx="142272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12304a"/>
                </a:solidFill>
                <a:latin typeface="Calibri"/>
                <a:ea typeface="Calibri"/>
              </a:rPr>
              <a:t>관찰 결과를 보고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0" name=""/>
          <p:cNvSpPr/>
          <p:nvPr/>
        </p:nvSpPr>
        <p:spPr>
          <a:xfrm>
            <a:off x="5810040" y="5752800"/>
            <a:ext cx="571680" cy="360"/>
          </a:xfrm>
          <a:prstGeom prst="line">
            <a:avLst/>
          </a:prstGeom>
          <a:ln w="28575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1" name=""/>
          <p:cNvSpPr/>
          <p:nvPr/>
        </p:nvSpPr>
        <p:spPr>
          <a:xfrm>
            <a:off x="6477120" y="5619600"/>
            <a:ext cx="170856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8b8b"/>
                </a:solidFill>
                <a:latin typeface="Calibri"/>
                <a:ea typeface="Calibri"/>
              </a:rPr>
              <a:t>필요할 때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3" name=""/>
          <p:cNvSpPr/>
          <p:nvPr/>
        </p:nvSpPr>
        <p:spPr>
          <a:xfrm>
            <a:off x="609480" y="6534000"/>
            <a:ext cx="1096668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AGENTS.md §12 · routers/interface_* · interface_lab/management · apply · execution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4" name="Rectangle 5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2593440" y="384120"/>
            <a:ext cx="6766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Interface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직접 작성하거나 업로드로 등록할 수 있습니다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3680280" y="822960"/>
            <a:ext cx="4341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간단한 정의는 화면에서 작성하고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실제 장비 타입은 원본 패키지 단위로 등록합니다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0" name="Rounded Rectangle 9"/>
          <p:cNvSpPr/>
          <p:nvPr/>
        </p:nvSpPr>
        <p:spPr>
          <a:xfrm>
            <a:off x="77724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kind · type name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1" name="Rounded Rectangle 10"/>
          <p:cNvSpPr/>
          <p:nvPr/>
        </p:nvSpPr>
        <p:spPr>
          <a:xfrm>
            <a:off x="436788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/ srv /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정의 작성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Rounded Rectangle 11"/>
          <p:cNvSpPr/>
          <p:nvPr/>
        </p:nvSpPr>
        <p:spPr>
          <a:xfrm>
            <a:off x="795816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문법 검증 후 저장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3" name="TextBox 12"/>
          <p:cNvSpPr/>
          <p:nvPr/>
        </p:nvSpPr>
        <p:spPr>
          <a:xfrm>
            <a:off x="457200" y="6565320"/>
            <a:ext cx="112410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직접 작성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문법 검증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저장 위치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4" name="Rectangle 6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1080000" y="1271520"/>
            <a:ext cx="4320360" cy="4303800"/>
          </a:xfrm>
          <a:prstGeom prst="rect">
            <a:avLst/>
          </a:prstGeom>
          <a:ln w="0">
            <a:noFill/>
          </a:ln>
        </p:spPr>
      </p:pic>
      <p:pic>
        <p:nvPicPr>
          <p:cNvPr id="316" name="" descr=""/>
          <p:cNvPicPr/>
          <p:nvPr/>
        </p:nvPicPr>
        <p:blipFill>
          <a:blip r:embed="rId2"/>
          <a:stretch/>
        </p:blipFill>
        <p:spPr>
          <a:xfrm>
            <a:off x="5760000" y="1260000"/>
            <a:ext cx="5235480" cy="431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18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0" name="TextBox 4"/>
          <p:cNvSpPr/>
          <p:nvPr/>
        </p:nvSpPr>
        <p:spPr>
          <a:xfrm>
            <a:off x="2944800" y="384120"/>
            <a:ext cx="6141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Apply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패키지 빌드와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import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확인까지 포함합니다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1" name="TextBox 5"/>
          <p:cNvSpPr/>
          <p:nvPr/>
        </p:nvSpPr>
        <p:spPr>
          <a:xfrm>
            <a:off x="2958480" y="822960"/>
            <a:ext cx="57852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업로드된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Interface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패키지를 빌드하고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실제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Python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타입을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import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할 수 있는지 확인합니다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322" name="Picture 7" descr="package.png"/>
          <p:cNvPicPr/>
          <p:nvPr/>
        </p:nvPicPr>
        <p:blipFill>
          <a:blip r:embed="rId1"/>
          <a:stretch/>
        </p:blipFill>
        <p:spPr>
          <a:xfrm>
            <a:off x="502920" y="1341360"/>
            <a:ext cx="11195280" cy="4178160"/>
          </a:xfrm>
          <a:prstGeom prst="rect">
            <a:avLst/>
          </a:prstGeom>
          <a:ln w="0">
            <a:noFill/>
          </a:ln>
        </p:spPr>
      </p:pic>
      <p:sp>
        <p:nvSpPr>
          <p:cNvPr id="323" name="Rounded Rectangle 9"/>
          <p:cNvSpPr/>
          <p:nvPr/>
        </p:nvSpPr>
        <p:spPr>
          <a:xfrm>
            <a:off x="77724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패키지 경로와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source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4" name="Rounded Rectangle 10"/>
          <p:cNvSpPr/>
          <p:nvPr/>
        </p:nvSpPr>
        <p:spPr>
          <a:xfrm>
            <a:off x="436788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· srv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타입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import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됨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5" name="Rounded Rectangle 11"/>
          <p:cNvSpPr/>
          <p:nvPr/>
        </p:nvSpPr>
        <p:spPr>
          <a:xfrm>
            <a:off x="7958160" y="587952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실제 장비 타입 확장 가능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457200" y="6565320"/>
            <a:ext cx="112410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Uploaded Interface Packages / rths_interfaces / import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됨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7" name="Rectangle 7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609480" y="266760"/>
            <a:ext cx="2089440" cy="2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9" name=""/>
          <p:cNvSpPr/>
          <p:nvPr/>
        </p:nvSpPr>
        <p:spPr>
          <a:xfrm>
            <a:off x="609480" y="552600"/>
            <a:ext cx="1028088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Topic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같은 타입으로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Publish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와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를 시험합니다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0" name=""/>
          <p:cNvSpPr/>
          <p:nvPr/>
        </p:nvSpPr>
        <p:spPr>
          <a:xfrm>
            <a:off x="609480" y="1047600"/>
            <a:ext cx="1047132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채널 이름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Message full type, payload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입력하고 송수신 결과를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에서 확인합니다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1" name=""/>
          <p:cNvSpPr/>
          <p:nvPr/>
        </p:nvSpPr>
        <p:spPr>
          <a:xfrm>
            <a:off x="11064240" y="292680"/>
            <a:ext cx="50040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2" name=""/>
          <p:cNvSpPr/>
          <p:nvPr/>
        </p:nvSpPr>
        <p:spPr>
          <a:xfrm>
            <a:off x="647640" y="1752480"/>
            <a:ext cx="5175360" cy="351828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33" name=""/>
          <p:cNvSpPr/>
          <p:nvPr/>
        </p:nvSpPr>
        <p:spPr>
          <a:xfrm>
            <a:off x="914400" y="2000160"/>
            <a:ext cx="15177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4" name=""/>
          <p:cNvSpPr/>
          <p:nvPr/>
        </p:nvSpPr>
        <p:spPr>
          <a:xfrm>
            <a:off x="952560" y="2610000"/>
            <a:ext cx="123228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Topic name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5" name=""/>
          <p:cNvSpPr/>
          <p:nvPr/>
        </p:nvSpPr>
        <p:spPr>
          <a:xfrm>
            <a:off x="2266920" y="2610000"/>
            <a:ext cx="304200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데이터를 보낼 채널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6" name=""/>
          <p:cNvSpPr/>
          <p:nvPr/>
        </p:nvSpPr>
        <p:spPr>
          <a:xfrm>
            <a:off x="952560" y="3295800"/>
            <a:ext cx="123228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Full type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7" name=""/>
          <p:cNvSpPr/>
          <p:nvPr/>
        </p:nvSpPr>
        <p:spPr>
          <a:xfrm>
            <a:off x="2266920" y="3295800"/>
            <a:ext cx="304200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사용할 </a:t>
            </a: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 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구조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8" name=""/>
          <p:cNvSpPr/>
          <p:nvPr/>
        </p:nvSpPr>
        <p:spPr>
          <a:xfrm>
            <a:off x="952560" y="3981600"/>
            <a:ext cx="123228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Payload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9" name=""/>
          <p:cNvSpPr/>
          <p:nvPr/>
        </p:nvSpPr>
        <p:spPr>
          <a:xfrm>
            <a:off x="2266920" y="3981600"/>
            <a:ext cx="304200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에 넣을 실제 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0" name=""/>
          <p:cNvSpPr/>
          <p:nvPr/>
        </p:nvSpPr>
        <p:spPr>
          <a:xfrm>
            <a:off x="952560" y="4762440"/>
            <a:ext cx="1422720" cy="3178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525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1" name=""/>
          <p:cNvSpPr/>
          <p:nvPr/>
        </p:nvSpPr>
        <p:spPr>
          <a:xfrm>
            <a:off x="1028880" y="4791240"/>
            <a:ext cx="1270080" cy="26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2" name=""/>
          <p:cNvSpPr/>
          <p:nvPr/>
        </p:nvSpPr>
        <p:spPr>
          <a:xfrm>
            <a:off x="2571840" y="4762440"/>
            <a:ext cx="2851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payload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변환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발행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3" name=""/>
          <p:cNvSpPr/>
          <p:nvPr/>
        </p:nvSpPr>
        <p:spPr>
          <a:xfrm>
            <a:off x="6362640" y="1752480"/>
            <a:ext cx="5175360" cy="351828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4" name=""/>
          <p:cNvSpPr/>
          <p:nvPr/>
        </p:nvSpPr>
        <p:spPr>
          <a:xfrm>
            <a:off x="6629400" y="2000160"/>
            <a:ext cx="151776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5" name=""/>
          <p:cNvSpPr/>
          <p:nvPr/>
        </p:nvSpPr>
        <p:spPr>
          <a:xfrm>
            <a:off x="7677000" y="312408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6" name=""/>
          <p:cNvSpPr/>
          <p:nvPr/>
        </p:nvSpPr>
        <p:spPr>
          <a:xfrm>
            <a:off x="6724800" y="2762280"/>
            <a:ext cx="946440" cy="717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7" name=""/>
          <p:cNvSpPr/>
          <p:nvPr/>
        </p:nvSpPr>
        <p:spPr>
          <a:xfrm>
            <a:off x="6819840" y="2857680"/>
            <a:ext cx="75600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start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8" name=""/>
          <p:cNvSpPr/>
          <p:nvPr/>
        </p:nvSpPr>
        <p:spPr>
          <a:xfrm>
            <a:off x="8839080" y="312408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9" name=""/>
          <p:cNvSpPr/>
          <p:nvPr/>
        </p:nvSpPr>
        <p:spPr>
          <a:xfrm>
            <a:off x="7886880" y="2762280"/>
            <a:ext cx="946440" cy="717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0" name=""/>
          <p:cNvSpPr/>
          <p:nvPr/>
        </p:nvSpPr>
        <p:spPr>
          <a:xfrm>
            <a:off x="7981920" y="2857680"/>
            <a:ext cx="75600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메시지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수신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1" name=""/>
          <p:cNvSpPr/>
          <p:nvPr/>
        </p:nvSpPr>
        <p:spPr>
          <a:xfrm>
            <a:off x="10001160" y="3124080"/>
            <a:ext cx="209520" cy="360"/>
          </a:xfrm>
          <a:prstGeom prst="line">
            <a:avLst/>
          </a:prstGeom>
          <a:ln w="1905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2" name=""/>
          <p:cNvSpPr/>
          <p:nvPr/>
        </p:nvSpPr>
        <p:spPr>
          <a:xfrm>
            <a:off x="9048600" y="2762280"/>
            <a:ext cx="946440" cy="717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3" name=""/>
          <p:cNvSpPr/>
          <p:nvPr/>
        </p:nvSpPr>
        <p:spPr>
          <a:xfrm>
            <a:off x="9144000" y="2857680"/>
            <a:ext cx="75600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history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저장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4" name=""/>
          <p:cNvSpPr/>
          <p:nvPr/>
        </p:nvSpPr>
        <p:spPr>
          <a:xfrm>
            <a:off x="10210680" y="2762280"/>
            <a:ext cx="946440" cy="7178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10306080" y="2857680"/>
            <a:ext cx="75600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stop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6" name=""/>
          <p:cNvSpPr/>
          <p:nvPr/>
        </p:nvSpPr>
        <p:spPr>
          <a:xfrm>
            <a:off x="6781680" y="4095720"/>
            <a:ext cx="4280040" cy="52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사용자가 시작한 구독만 유지하며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, stop 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시 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subscription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을 정리합니다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.</a:t>
            </a:r>
            <a:endParaRPr b="0" lang="en-US" sz="12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7" name=""/>
          <p:cNvSpPr/>
          <p:nvPr/>
        </p:nvSpPr>
        <p:spPr>
          <a:xfrm>
            <a:off x="1295280" y="5619600"/>
            <a:ext cx="9595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입력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 execution router → InterfaceReceiveRuntime → value converter → ROS2 → 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8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525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9" name=""/>
          <p:cNvSpPr/>
          <p:nvPr/>
        </p:nvSpPr>
        <p:spPr>
          <a:xfrm>
            <a:off x="609480" y="6534000"/>
            <a:ext cx="1096668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routers/topic_execution.py · InterfaceReceiveRuntime · value_converter.py · InterfaceLabPage.jsx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0" name="Rectangle 8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1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3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4" name="TextBox 4"/>
          <p:cNvSpPr/>
          <p:nvPr/>
        </p:nvSpPr>
        <p:spPr>
          <a:xfrm>
            <a:off x="2291760" y="384120"/>
            <a:ext cx="7447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 Call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과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 Goal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사용자가 명시적으로 실행합니다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5" name="TextBox 5"/>
          <p:cNvSpPr/>
          <p:nvPr/>
        </p:nvSpPr>
        <p:spPr>
          <a:xfrm>
            <a:off x="3133080" y="822960"/>
            <a:ext cx="54363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full type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 schema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를 만들고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입력값을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객체로 변환해 실행 결과를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 저장합니다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6" name="Rounded Rectangle 9"/>
          <p:cNvSpPr/>
          <p:nvPr/>
        </p:nvSpPr>
        <p:spPr>
          <a:xfrm>
            <a:off x="777240" y="612000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9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Action 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 폼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7" name="Rounded Rectangle 10"/>
          <p:cNvSpPr/>
          <p:nvPr/>
        </p:nvSpPr>
        <p:spPr>
          <a:xfrm>
            <a:off x="4367880" y="612000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007bb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/ Result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 영역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8" name="Rounded Rectangle 11"/>
          <p:cNvSpPr/>
          <p:nvPr/>
        </p:nvSpPr>
        <p:spPr>
          <a:xfrm>
            <a:off x="7958160" y="6120000"/>
            <a:ext cx="3420000" cy="2865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>
            <a:solidFill>
              <a:srgbClr val="f0aa3c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history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로 실행 결과 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9" name="TextBox 12"/>
          <p:cNvSpPr/>
          <p:nvPr/>
        </p:nvSpPr>
        <p:spPr>
          <a:xfrm>
            <a:off x="457200" y="6565320"/>
            <a:ext cx="112410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Lab Action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실행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Goal schema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0" name="Rectangle 9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148480" cy="485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/>
          <p:nvPr/>
        </p:nvSpPr>
        <p:spPr>
          <a:xfrm>
            <a:off x="502920" y="255960"/>
            <a:ext cx="200628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3" name="TextBox 2"/>
          <p:cNvSpPr/>
          <p:nvPr/>
        </p:nvSpPr>
        <p:spPr>
          <a:xfrm>
            <a:off x="11206080" y="31500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4" name="TextBox 3"/>
          <p:cNvSpPr/>
          <p:nvPr/>
        </p:nvSpPr>
        <p:spPr>
          <a:xfrm>
            <a:off x="502920" y="567000"/>
            <a:ext cx="98701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1 ·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실제 장비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패키지 의존성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5" name="TextBox 4"/>
          <p:cNvSpPr/>
          <p:nvPr/>
        </p:nvSpPr>
        <p:spPr>
          <a:xfrm>
            <a:off x="502920" y="1005840"/>
            <a:ext cx="10235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타입 정의뿐 아니라 원본 패키지 구조와 의존성까지 있어야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build · import ·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통신이 가능했습니다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6" name="Rounded Rectangle 5"/>
          <p:cNvSpPr/>
          <p:nvPr/>
        </p:nvSpPr>
        <p:spPr>
          <a:xfrm>
            <a:off x="502920" y="1463040"/>
            <a:ext cx="2920680" cy="9090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7" name="TextBox 6"/>
          <p:cNvSpPr/>
          <p:nvPr/>
        </p:nvSpPr>
        <p:spPr>
          <a:xfrm>
            <a:off x="631080" y="1554480"/>
            <a:ext cx="2664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8" name="TextBox 7"/>
          <p:cNvSpPr/>
          <p:nvPr/>
        </p:nvSpPr>
        <p:spPr>
          <a:xfrm>
            <a:off x="631080" y="1847160"/>
            <a:ext cx="26647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실제 장비의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받았지만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대시보드 환경에는 해당 패키지가 없어 정확한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타입을 불러올 수 없었습니다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9" name="Rounded Rectangle 8"/>
          <p:cNvSpPr/>
          <p:nvPr/>
        </p:nvSpPr>
        <p:spPr>
          <a:xfrm>
            <a:off x="502920" y="2514600"/>
            <a:ext cx="2920680" cy="1137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0" name="TextBox 9"/>
          <p:cNvSpPr/>
          <p:nvPr/>
        </p:nvSpPr>
        <p:spPr>
          <a:xfrm>
            <a:off x="631080" y="2606040"/>
            <a:ext cx="2664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1" name="TextBox 10"/>
          <p:cNvSpPr/>
          <p:nvPr/>
        </p:nvSpPr>
        <p:spPr>
          <a:xfrm>
            <a:off x="631080" y="2898720"/>
            <a:ext cx="266472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사용자 정의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타입 이름만으로 사용할 수 없습니다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 msg/srv/action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정의와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빌드 설정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원본 패키지명이 함께 필요했습니다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2" name="Rounded Rectangle 11"/>
          <p:cNvSpPr/>
          <p:nvPr/>
        </p:nvSpPr>
        <p:spPr>
          <a:xfrm>
            <a:off x="502920" y="3794760"/>
            <a:ext cx="2920680" cy="1060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3" name="TextBox 12"/>
          <p:cNvSpPr/>
          <p:nvPr/>
        </p:nvSpPr>
        <p:spPr>
          <a:xfrm>
            <a:off x="631080" y="3886200"/>
            <a:ext cx="2664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631080" y="4178880"/>
            <a:ext cx="266472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장비별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ZIP/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폴더 단위로 업로드하고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build/apply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import-check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거쳐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Backend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가 실제 타입을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하도록 구성했습니다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5" name="Rounded Rectangle 14"/>
          <p:cNvSpPr/>
          <p:nvPr/>
        </p:nvSpPr>
        <p:spPr>
          <a:xfrm>
            <a:off x="494280" y="5040000"/>
            <a:ext cx="2920680" cy="860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6" name="TextBox 15"/>
          <p:cNvSpPr/>
          <p:nvPr/>
        </p:nvSpPr>
        <p:spPr>
          <a:xfrm>
            <a:off x="631080" y="5114880"/>
            <a:ext cx="2664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7" name="TextBox 16"/>
          <p:cNvSpPr/>
          <p:nvPr/>
        </p:nvSpPr>
        <p:spPr>
          <a:xfrm>
            <a:off x="631080" y="5321880"/>
            <a:ext cx="2664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타입 인식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Feedback/Result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해석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장비별 패키지 확장이 가능해졌습니다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3794760" y="4316040"/>
            <a:ext cx="73555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실제 화면</a:t>
            </a:r>
            <a:r>
              <a:rPr b="0" lang="en-US" sz="950" spc="-1" strike="noStrike">
                <a:solidFill>
                  <a:srgbClr val="475569"/>
                </a:solidFill>
                <a:latin typeface="Aptos"/>
                <a:ea typeface="Calibri"/>
              </a:rPr>
              <a:t>: Uploaded Interface Packages / rths_interfaces / msg·srv import</a:t>
            </a: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됨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3931920" y="4864680"/>
            <a:ext cx="817560" cy="524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3977640" y="4985280"/>
            <a:ext cx="7261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패키지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업로드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1" name="Rounded Rectangle 21"/>
          <p:cNvSpPr/>
          <p:nvPr/>
        </p:nvSpPr>
        <p:spPr>
          <a:xfrm>
            <a:off x="5074920" y="4864680"/>
            <a:ext cx="817560" cy="524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2" name="TextBox 22"/>
          <p:cNvSpPr/>
          <p:nvPr/>
        </p:nvSpPr>
        <p:spPr>
          <a:xfrm>
            <a:off x="5120640" y="4985280"/>
            <a:ext cx="7261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colcon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build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3" name="Rounded Rectangle 23"/>
          <p:cNvSpPr/>
          <p:nvPr/>
        </p:nvSpPr>
        <p:spPr>
          <a:xfrm>
            <a:off x="6217920" y="4864680"/>
            <a:ext cx="817560" cy="524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6263640" y="4985280"/>
            <a:ext cx="7261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install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반영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5" name="Rounded Rectangle 25"/>
          <p:cNvSpPr/>
          <p:nvPr/>
        </p:nvSpPr>
        <p:spPr>
          <a:xfrm>
            <a:off x="7360920" y="4864680"/>
            <a:ext cx="817560" cy="524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6" name="TextBox 26"/>
          <p:cNvSpPr/>
          <p:nvPr/>
        </p:nvSpPr>
        <p:spPr>
          <a:xfrm>
            <a:off x="7406640" y="4985280"/>
            <a:ext cx="7261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확인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7" name="Rounded Rectangle 27"/>
          <p:cNvSpPr/>
          <p:nvPr/>
        </p:nvSpPr>
        <p:spPr>
          <a:xfrm>
            <a:off x="8503920" y="4864680"/>
            <a:ext cx="817560" cy="524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8549640" y="4985280"/>
            <a:ext cx="7261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가능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399" name="Connector 29"/>
          <p:cNvCxnSpPr/>
          <p:nvPr/>
        </p:nvCxnSpPr>
        <p:spPr>
          <a:xfrm>
            <a:off x="4772880" y="5129640"/>
            <a:ext cx="261720" cy="54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0" name="Connector 30"/>
          <p:cNvCxnSpPr/>
          <p:nvPr/>
        </p:nvCxnSpPr>
        <p:spPr>
          <a:xfrm>
            <a:off x="5915880" y="5129640"/>
            <a:ext cx="261720" cy="54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1" name="Connector 31"/>
          <p:cNvCxnSpPr/>
          <p:nvPr/>
        </p:nvCxnSpPr>
        <p:spPr>
          <a:xfrm>
            <a:off x="7058880" y="5129640"/>
            <a:ext cx="261720" cy="54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2" name="Connector 32"/>
          <p:cNvCxnSpPr/>
          <p:nvPr/>
        </p:nvCxnSpPr>
        <p:spPr>
          <a:xfrm>
            <a:off x="8201880" y="5129640"/>
            <a:ext cx="261720" cy="54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03" name="TextBox 33"/>
          <p:cNvSpPr/>
          <p:nvPr/>
        </p:nvSpPr>
        <p:spPr>
          <a:xfrm>
            <a:off x="3794760" y="5632560"/>
            <a:ext cx="73098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핵심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: .msg/.srv/.action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은 타입 정의이고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package.xml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는 의존성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·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빌드 방법을 담습니다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04" name="" descr=""/>
          <p:cNvPicPr/>
          <p:nvPr/>
        </p:nvPicPr>
        <p:blipFill>
          <a:blip r:embed="rId1"/>
          <a:stretch/>
        </p:blipFill>
        <p:spPr>
          <a:xfrm>
            <a:off x="3703320" y="1440000"/>
            <a:ext cx="6191640" cy="2694960"/>
          </a:xfrm>
          <a:prstGeom prst="rect">
            <a:avLst/>
          </a:prstGeom>
          <a:ln w="0">
            <a:noFill/>
          </a:ln>
        </p:spPr>
      </p:pic>
      <p:sp>
        <p:nvSpPr>
          <p:cNvPr id="405" name="Rectangle 10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502920" y="255960"/>
            <a:ext cx="200628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1206080" y="31500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8" name="TextBox 3"/>
          <p:cNvSpPr/>
          <p:nvPr/>
        </p:nvSpPr>
        <p:spPr>
          <a:xfrm>
            <a:off x="502920" y="567000"/>
            <a:ext cx="98701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2 · FastAPI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ROS2 spin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실행 충돌 방지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9" name="TextBox 4"/>
          <p:cNvSpPr/>
          <p:nvPr/>
        </p:nvSpPr>
        <p:spPr>
          <a:xfrm>
            <a:off x="502920" y="1005840"/>
            <a:ext cx="10235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웹 서버 요청 처리와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ROS2 callback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처리를 동시에 유지하기 위해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spin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을 별도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thread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로 분리했습니다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0" name="Rounded Rectangle 5"/>
          <p:cNvSpPr/>
          <p:nvPr/>
        </p:nvSpPr>
        <p:spPr>
          <a:xfrm>
            <a:off x="502920" y="1417320"/>
            <a:ext cx="3057840" cy="10465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1" name="TextBox 6"/>
          <p:cNvSpPr/>
          <p:nvPr/>
        </p:nvSpPr>
        <p:spPr>
          <a:xfrm>
            <a:off x="631080" y="1508760"/>
            <a:ext cx="28018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31080" y="1801440"/>
            <a:ext cx="28018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REST/WebSocket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요청을 계속 처리해야 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ROS2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spin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으로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timer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callback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을 계속 처리해야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3" name="Rounded Rectangle 8"/>
          <p:cNvSpPr/>
          <p:nvPr/>
        </p:nvSpPr>
        <p:spPr>
          <a:xfrm>
            <a:off x="502920" y="2548800"/>
            <a:ext cx="3057840" cy="10461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4" name="TextBox 9"/>
          <p:cNvSpPr/>
          <p:nvPr/>
        </p:nvSpPr>
        <p:spPr>
          <a:xfrm>
            <a:off x="631080" y="2560320"/>
            <a:ext cx="28018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5" name="TextBox 10"/>
          <p:cNvSpPr/>
          <p:nvPr/>
        </p:nvSpPr>
        <p:spPr>
          <a:xfrm>
            <a:off x="631080" y="2853000"/>
            <a:ext cx="28018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두 작업은 모두 계속 실행되는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blocking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성격이 있어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같은 실행 흐름에서 순서대로 실행하면 한쪽이 다른 쪽을 막을 수 있었습니다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502920" y="3657600"/>
            <a:ext cx="3057840" cy="10173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7" name="TextBox 12"/>
          <p:cNvSpPr/>
          <p:nvPr/>
        </p:nvSpPr>
        <p:spPr>
          <a:xfrm>
            <a:off x="631080" y="3749040"/>
            <a:ext cx="28018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8" name="TextBox 13"/>
          <p:cNvSpPr/>
          <p:nvPr/>
        </p:nvSpPr>
        <p:spPr>
          <a:xfrm>
            <a:off x="631080" y="4041720"/>
            <a:ext cx="28018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 lifespan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RosMonitor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시작하고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rclpy.spin()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daemon thread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실행하도록 분리했습니다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502920" y="4813560"/>
            <a:ext cx="3057840" cy="941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cbd5e1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0" name="TextBox 15"/>
          <p:cNvSpPr/>
          <p:nvPr/>
        </p:nvSpPr>
        <p:spPr>
          <a:xfrm>
            <a:off x="613080" y="4860000"/>
            <a:ext cx="28018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1" name="TextBox 16"/>
          <p:cNvSpPr/>
          <p:nvPr/>
        </p:nvSpPr>
        <p:spPr>
          <a:xfrm>
            <a:off x="631080" y="5067000"/>
            <a:ext cx="28018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웹 요청 처리와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메시지 수신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·Graph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갱신을 동시에 유지하고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서버 종료 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자원도 함께 정리했습니다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2" name="TextBox 17"/>
          <p:cNvSpPr/>
          <p:nvPr/>
        </p:nvSpPr>
        <p:spPr>
          <a:xfrm>
            <a:off x="3886200" y="1408320"/>
            <a:ext cx="11833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ef4444"/>
                </a:solidFill>
                <a:latin typeface="Aptos"/>
                <a:ea typeface="Calibri"/>
              </a:rPr>
              <a:t>BEFORE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3" name="Rounded Rectangle 18"/>
          <p:cNvSpPr/>
          <p:nvPr/>
        </p:nvSpPr>
        <p:spPr>
          <a:xfrm>
            <a:off x="3886200" y="1719000"/>
            <a:ext cx="2052000" cy="397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ef444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4" name="TextBox 19"/>
          <p:cNvSpPr/>
          <p:nvPr/>
        </p:nvSpPr>
        <p:spPr>
          <a:xfrm>
            <a:off x="3931920" y="1847880"/>
            <a:ext cx="19605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5" name="Rounded Rectangle 20"/>
          <p:cNvSpPr/>
          <p:nvPr/>
        </p:nvSpPr>
        <p:spPr>
          <a:xfrm>
            <a:off x="3886200" y="2331720"/>
            <a:ext cx="2052000" cy="6530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ef444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6" name="TextBox 21"/>
          <p:cNvSpPr/>
          <p:nvPr/>
        </p:nvSpPr>
        <p:spPr>
          <a:xfrm>
            <a:off x="3931920" y="2516400"/>
            <a:ext cx="19605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 </a:t>
            </a: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또는 </a:t>
            </a: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7" name="Rounded Rectangle 22"/>
          <p:cNvSpPr/>
          <p:nvPr/>
        </p:nvSpPr>
        <p:spPr>
          <a:xfrm>
            <a:off x="3886200" y="3273480"/>
            <a:ext cx="2052000" cy="6530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ef444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8" name="TextBox 23"/>
          <p:cNvSpPr/>
          <p:nvPr/>
        </p:nvSpPr>
        <p:spPr>
          <a:xfrm>
            <a:off x="3931920" y="3458160"/>
            <a:ext cx="19605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한쪽이 계속 대기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다른 작업 실행 지연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29" name="Connector 24"/>
          <p:cNvCxnSpPr/>
          <p:nvPr/>
        </p:nvCxnSpPr>
        <p:spPr>
          <a:xfrm>
            <a:off x="4919400" y="2139480"/>
            <a:ext cx="5400" cy="16992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cxnSp>
        <p:nvCxnSpPr>
          <p:cNvPr id="430" name="Connector 25"/>
          <p:cNvCxnSpPr/>
          <p:nvPr/>
        </p:nvCxnSpPr>
        <p:spPr>
          <a:xfrm>
            <a:off x="4919400" y="3008160"/>
            <a:ext cx="5400" cy="24336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sp>
        <p:nvSpPr>
          <p:cNvPr id="431" name="TextBox 26"/>
          <p:cNvSpPr/>
          <p:nvPr/>
        </p:nvSpPr>
        <p:spPr>
          <a:xfrm>
            <a:off x="4507920" y="4041720"/>
            <a:ext cx="12747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ef4444"/>
                </a:solidFill>
                <a:latin typeface="Aptos"/>
                <a:ea typeface="Calibri"/>
              </a:rPr>
              <a:t>blocking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2" name="TextBox 27"/>
          <p:cNvSpPr/>
          <p:nvPr/>
        </p:nvSpPr>
        <p:spPr>
          <a:xfrm>
            <a:off x="6766560" y="1408320"/>
            <a:ext cx="11833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0ea5a4"/>
                </a:solidFill>
                <a:latin typeface="Aptos"/>
                <a:ea typeface="Calibri"/>
              </a:rPr>
              <a:t>AFTER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3" name="Rounded Rectangle 28"/>
          <p:cNvSpPr/>
          <p:nvPr/>
        </p:nvSpPr>
        <p:spPr>
          <a:xfrm>
            <a:off x="6766560" y="1719000"/>
            <a:ext cx="2052000" cy="397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4" name="TextBox 29"/>
          <p:cNvSpPr/>
          <p:nvPr/>
        </p:nvSpPr>
        <p:spPr>
          <a:xfrm>
            <a:off x="6812280" y="1847880"/>
            <a:ext cx="19605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5" name="Rounded Rectangle 30"/>
          <p:cNvSpPr/>
          <p:nvPr/>
        </p:nvSpPr>
        <p:spPr>
          <a:xfrm>
            <a:off x="6766560" y="2331720"/>
            <a:ext cx="2052000" cy="6530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6" name="TextBox 31"/>
          <p:cNvSpPr/>
          <p:nvPr/>
        </p:nvSpPr>
        <p:spPr>
          <a:xfrm>
            <a:off x="6812280" y="2516400"/>
            <a:ext cx="19605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REST / WebSocket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7" name="Rounded Rectangle 32"/>
          <p:cNvSpPr/>
          <p:nvPr/>
        </p:nvSpPr>
        <p:spPr>
          <a:xfrm>
            <a:off x="9144000" y="1719000"/>
            <a:ext cx="2052000" cy="397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8" name="TextBox 33"/>
          <p:cNvSpPr/>
          <p:nvPr/>
        </p:nvSpPr>
        <p:spPr>
          <a:xfrm>
            <a:off x="9189720" y="1847880"/>
            <a:ext cx="19605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ROS2 Spin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9" name="Rounded Rectangle 34"/>
          <p:cNvSpPr/>
          <p:nvPr/>
        </p:nvSpPr>
        <p:spPr>
          <a:xfrm>
            <a:off x="9144000" y="2331720"/>
            <a:ext cx="2052000" cy="6530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>
            <a:solidFill>
              <a:srgbClr val="0ea5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40" name="TextBox 35"/>
          <p:cNvSpPr/>
          <p:nvPr/>
        </p:nvSpPr>
        <p:spPr>
          <a:xfrm>
            <a:off x="9189720" y="2516400"/>
            <a:ext cx="19605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timer / callback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41" name="Connector 36"/>
          <p:cNvCxnSpPr/>
          <p:nvPr/>
        </p:nvCxnSpPr>
        <p:spPr>
          <a:xfrm>
            <a:off x="8869680" y="2679120"/>
            <a:ext cx="279720" cy="54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42" name="TextBox 37"/>
          <p:cNvSpPr/>
          <p:nvPr/>
        </p:nvSpPr>
        <p:spPr>
          <a:xfrm>
            <a:off x="8092440" y="3154680"/>
            <a:ext cx="1777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ko-KR" sz="1200" spc="-1" strike="noStrike">
                <a:solidFill>
                  <a:srgbClr val="0ea5a4"/>
                </a:solidFill>
                <a:latin typeface="Aptos"/>
                <a:ea typeface="Calibri"/>
              </a:rPr>
              <a:t>동시에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43" name="Picture 38" descr="1e56b5ef-0fa1-412f-bdbb-d92b084fb9b7.png"/>
          <p:cNvPicPr/>
          <p:nvPr/>
        </p:nvPicPr>
        <p:blipFill>
          <a:blip r:embed="rId1"/>
          <a:stretch/>
        </p:blipFill>
        <p:spPr>
          <a:xfrm>
            <a:off x="3840480" y="4498920"/>
            <a:ext cx="3149280" cy="1551960"/>
          </a:xfrm>
          <a:prstGeom prst="rect">
            <a:avLst/>
          </a:prstGeom>
          <a:ln w="0">
            <a:noFill/>
          </a:ln>
        </p:spPr>
      </p:pic>
      <p:pic>
        <p:nvPicPr>
          <p:cNvPr id="444" name="Picture 39" descr="569d6930-8348-4474-95f2-d05bb2fe0853.png"/>
          <p:cNvPicPr/>
          <p:nvPr/>
        </p:nvPicPr>
        <p:blipFill>
          <a:blip r:embed="rId2"/>
          <a:stretch/>
        </p:blipFill>
        <p:spPr>
          <a:xfrm>
            <a:off x="7498080" y="4498920"/>
            <a:ext cx="2737800" cy="1960920"/>
          </a:xfrm>
          <a:prstGeom prst="rect">
            <a:avLst/>
          </a:prstGeom>
          <a:ln w="0">
            <a:noFill/>
          </a:ln>
        </p:spPr>
      </p:pic>
      <p:sp>
        <p:nvSpPr>
          <p:cNvPr id="445" name="TextBox 40"/>
          <p:cNvSpPr/>
          <p:nvPr/>
        </p:nvSpPr>
        <p:spPr>
          <a:xfrm>
            <a:off x="4680000" y="6620760"/>
            <a:ext cx="4700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코드 근거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: lifespan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에서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start/stop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연결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· Thread(target=self._spin, daemon=True)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spin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분리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6" name="Rectangle 11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Box 1"/>
          <p:cNvSpPr/>
          <p:nvPr/>
        </p:nvSpPr>
        <p:spPr>
          <a:xfrm>
            <a:off x="502920" y="292680"/>
            <a:ext cx="18273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237089"/>
                </a:solidFill>
                <a:latin typeface="Malgun Gothic"/>
                <a:ea typeface="Calibri"/>
              </a:rPr>
              <a:t>DEMO VIDEO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8" name="TextBox 2"/>
          <p:cNvSpPr/>
          <p:nvPr/>
        </p:nvSpPr>
        <p:spPr>
          <a:xfrm>
            <a:off x="10972800" y="292680"/>
            <a:ext cx="4557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20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9" name="Rectangle 3"/>
          <p:cNvSpPr/>
          <p:nvPr/>
        </p:nvSpPr>
        <p:spPr>
          <a:xfrm>
            <a:off x="502920" y="631080"/>
            <a:ext cx="620280" cy="30600"/>
          </a:xfrm>
          <a:prstGeom prst="rect">
            <a:avLst/>
          </a:prstGeom>
          <a:solidFill>
            <a:srgbClr val="23a4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0" name="TextBox 4"/>
          <p:cNvSpPr/>
          <p:nvPr/>
        </p:nvSpPr>
        <p:spPr>
          <a:xfrm>
            <a:off x="502920" y="749880"/>
            <a:ext cx="49363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28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 영상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1" name="TextBox 5"/>
          <p:cNvSpPr/>
          <p:nvPr/>
        </p:nvSpPr>
        <p:spPr>
          <a:xfrm>
            <a:off x="502920" y="1170360"/>
            <a:ext cx="76795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실제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UI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기능 검수 영상으로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,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자동 모니터링과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Interface Lab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실행 흐름을 확인합니다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2" name="Right Triangle 13"/>
          <p:cNvSpPr/>
          <p:nvPr/>
        </p:nvSpPr>
        <p:spPr>
          <a:xfrm>
            <a:off x="3675960" y="3246120"/>
            <a:ext cx="318600" cy="455760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3" name="TextBox 14"/>
          <p:cNvSpPr/>
          <p:nvPr/>
        </p:nvSpPr>
        <p:spPr>
          <a:xfrm>
            <a:off x="987480" y="5230440"/>
            <a:ext cx="566784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54" name="Rounded Rectangle 15"/>
          <p:cNvSpPr/>
          <p:nvPr/>
        </p:nvSpPr>
        <p:spPr>
          <a:xfrm>
            <a:off x="7296840" y="1691640"/>
            <a:ext cx="4314600" cy="388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7dd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5" name="TextBox 16"/>
          <p:cNvSpPr/>
          <p:nvPr/>
        </p:nvSpPr>
        <p:spPr>
          <a:xfrm>
            <a:off x="7589520" y="1938600"/>
            <a:ext cx="34732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6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시연에서 확인할 흐름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6" name="TextBox 17"/>
          <p:cNvSpPr/>
          <p:nvPr/>
        </p:nvSpPr>
        <p:spPr>
          <a:xfrm>
            <a:off x="7589520" y="2221920"/>
            <a:ext cx="3610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화면을 따라가며 “관찰 → 실행 → 경고 확인”을 순서대로 보여줍니다</a:t>
            </a:r>
            <a:r>
              <a:rPr b="0" lang="en-US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7" name="Rounded Rectangle 18"/>
          <p:cNvSpPr/>
          <p:nvPr/>
        </p:nvSpPr>
        <p:spPr>
          <a:xfrm>
            <a:off x="7571160" y="2670120"/>
            <a:ext cx="419040" cy="4190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160">
            <a:solidFill>
              <a:srgbClr val="e6f7f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8" name="TextBox 19"/>
          <p:cNvSpPr/>
          <p:nvPr/>
        </p:nvSpPr>
        <p:spPr>
          <a:xfrm>
            <a:off x="7571160" y="2788560"/>
            <a:ext cx="419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9" name="TextBox 20"/>
          <p:cNvSpPr/>
          <p:nvPr/>
        </p:nvSpPr>
        <p:spPr>
          <a:xfrm>
            <a:off x="8119800" y="2660760"/>
            <a:ext cx="821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관찰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8119800" y="2898720"/>
            <a:ext cx="2833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Overview · Topic · Service · Action · Node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상태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1" name="Rounded Rectangle 22"/>
          <p:cNvSpPr/>
          <p:nvPr/>
        </p:nvSpPr>
        <p:spPr>
          <a:xfrm>
            <a:off x="7571160" y="3447360"/>
            <a:ext cx="419040" cy="4190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160">
            <a:solidFill>
              <a:srgbClr val="e6f7f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2" name="TextBox 23"/>
          <p:cNvSpPr/>
          <p:nvPr/>
        </p:nvSpPr>
        <p:spPr>
          <a:xfrm>
            <a:off x="7571160" y="3565800"/>
            <a:ext cx="419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3" name="TextBox 24"/>
          <p:cNvSpPr/>
          <p:nvPr/>
        </p:nvSpPr>
        <p:spPr>
          <a:xfrm>
            <a:off x="8119800" y="3438000"/>
            <a:ext cx="821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실행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4" name="TextBox 25"/>
          <p:cNvSpPr/>
          <p:nvPr/>
        </p:nvSpPr>
        <p:spPr>
          <a:xfrm>
            <a:off x="8119800" y="3675960"/>
            <a:ext cx="28332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Interface Lab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에서 </a:t>
            </a: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Publish · Receive · Call · Goal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실행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5" name="Rounded Rectangle 26"/>
          <p:cNvSpPr/>
          <p:nvPr/>
        </p:nvSpPr>
        <p:spPr>
          <a:xfrm>
            <a:off x="7571160" y="4224600"/>
            <a:ext cx="419040" cy="4190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160">
            <a:solidFill>
              <a:srgbClr val="e6f7f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6" name="TextBox 27"/>
          <p:cNvSpPr/>
          <p:nvPr/>
        </p:nvSpPr>
        <p:spPr>
          <a:xfrm>
            <a:off x="7571160" y="4343040"/>
            <a:ext cx="419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7" name="TextBox 28"/>
          <p:cNvSpPr/>
          <p:nvPr/>
        </p:nvSpPr>
        <p:spPr>
          <a:xfrm>
            <a:off x="8119800" y="4215240"/>
            <a:ext cx="8215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검증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8" name="TextBox 29"/>
          <p:cNvSpPr/>
          <p:nvPr/>
        </p:nvSpPr>
        <p:spPr>
          <a:xfrm>
            <a:off x="8119800" y="4453200"/>
            <a:ext cx="28332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Alert, Visualization, history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로 결과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9" name="Rounded Rectangle 30"/>
          <p:cNvSpPr/>
          <p:nvPr/>
        </p:nvSpPr>
        <p:spPr>
          <a:xfrm>
            <a:off x="594360" y="5742360"/>
            <a:ext cx="11017080" cy="474120"/>
          </a:xfrm>
          <a:prstGeom prst="roundRect">
            <a:avLst>
              <a:gd name="adj" fmla="val 10000"/>
            </a:avLst>
          </a:prstGeom>
          <a:solidFill>
            <a:srgbClr val="e7f6f6"/>
          </a:solidFill>
          <a:ln w="10160">
            <a:solidFill>
              <a:srgbClr val="e7f6f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0" name="TextBox 31"/>
          <p:cNvSpPr/>
          <p:nvPr/>
        </p:nvSpPr>
        <p:spPr>
          <a:xfrm>
            <a:off x="822960" y="5857920"/>
            <a:ext cx="1051416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핵심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: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시연 영상은 실제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UI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에서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ROS2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통신 상태를 확인하고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,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등록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Interface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로 직접 통신을 실행하는 과정을 보여줍니다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.</a:t>
            </a:r>
            <a:endParaRPr b="0" lang="en-US" sz="11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71" name="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720000" y="1800000"/>
            <a:ext cx="6299280" cy="3543840"/>
          </a:xfrm>
          <a:prstGeom prst="rect">
            <a:avLst/>
          </a:prstGeom>
          <a:ln w="0">
            <a:noFill/>
          </a:ln>
        </p:spPr>
      </p:pic>
      <p:sp>
        <p:nvSpPr>
          <p:cNvPr id="472" name="Rectangle 12"/>
          <p:cNvSpPr/>
          <p:nvPr/>
        </p:nvSpPr>
        <p:spPr>
          <a:xfrm>
            <a:off x="0" y="0"/>
            <a:ext cx="12186000" cy="66960"/>
          </a:xfrm>
          <a:prstGeom prst="rect">
            <a:avLst/>
          </a:prstGeom>
          <a:solidFill>
            <a:srgbClr val="00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0" y="0"/>
            <a:ext cx="12189240" cy="61200"/>
          </a:xfrm>
          <a:prstGeom prst="rect">
            <a:avLst/>
          </a:prstGeom>
          <a:solidFill>
            <a:srgbClr val="009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9080" bIns="1908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4" name="TextBox 2"/>
          <p:cNvSpPr/>
          <p:nvPr/>
        </p:nvSpPr>
        <p:spPr>
          <a:xfrm>
            <a:off x="640080" y="298800"/>
            <a:ext cx="1825920" cy="11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750" spc="-1" strike="noStrike">
                <a:solidFill>
                  <a:srgbClr val="082d4b"/>
                </a:solidFill>
                <a:latin typeface="Malgun Gothic"/>
                <a:ea typeface="Calibri"/>
              </a:rPr>
              <a:t>NEXT STEP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5" name="TextBox 3"/>
          <p:cNvSpPr/>
          <p:nvPr/>
        </p:nvSpPr>
        <p:spPr>
          <a:xfrm>
            <a:off x="11163960" y="281160"/>
            <a:ext cx="1645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21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6" name="TextBox 4"/>
          <p:cNvSpPr/>
          <p:nvPr/>
        </p:nvSpPr>
        <p:spPr>
          <a:xfrm>
            <a:off x="3154680" y="519120"/>
            <a:ext cx="603216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 </a:t>
            </a:r>
            <a:r>
              <a:rPr b="1" lang="ko-KR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확장 개발</a:t>
            </a:r>
            <a:endParaRPr b="0" lang="en-US" sz="2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7" name="TextBox 5"/>
          <p:cNvSpPr/>
          <p:nvPr/>
        </p:nvSpPr>
        <p:spPr>
          <a:xfrm>
            <a:off x="1828800" y="1044000"/>
            <a:ext cx="859248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현재 구현된 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Monitoring / Interface Lab</a:t>
            </a: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을 기반으로 현장 장비화와 지능형 진단까지 확장합니다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8" name="Rounded Rectangle 6"/>
          <p:cNvSpPr/>
          <p:nvPr/>
        </p:nvSpPr>
        <p:spPr>
          <a:xfrm>
            <a:off x="777240" y="1417320"/>
            <a:ext cx="5026320" cy="1350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3d7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9" name="Rectangle 7"/>
          <p:cNvSpPr/>
          <p:nvPr/>
        </p:nvSpPr>
        <p:spPr>
          <a:xfrm>
            <a:off x="777240" y="1417320"/>
            <a:ext cx="61200" cy="1350360"/>
          </a:xfrm>
          <a:prstGeom prst="rect">
            <a:avLst/>
          </a:prstGeom>
          <a:solidFill>
            <a:srgbClr val="0096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0" name="TextBox 8"/>
          <p:cNvSpPr/>
          <p:nvPr/>
        </p:nvSpPr>
        <p:spPr>
          <a:xfrm>
            <a:off x="1005840" y="1617840"/>
            <a:ext cx="4477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1.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현장형 엣지 모니터링 장비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1" name="TextBox 9"/>
          <p:cNvSpPr/>
          <p:nvPr/>
        </p:nvSpPr>
        <p:spPr>
          <a:xfrm>
            <a:off x="1005840" y="1920240"/>
            <a:ext cx="44319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Jetson Nano·Raspberry Pi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와 터치 디스플레이에 대시보드를 탑재해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현장에서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ROS2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연결 상태와 통신 이상을 바로 확인하는 독립형 진단 장비로 확장합니다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2" name="Rounded Rectangle 10"/>
          <p:cNvSpPr/>
          <p:nvPr/>
        </p:nvSpPr>
        <p:spPr>
          <a:xfrm>
            <a:off x="5989320" y="1417320"/>
            <a:ext cx="5026320" cy="1350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3d7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3" name="Rectangle 11"/>
          <p:cNvSpPr/>
          <p:nvPr/>
        </p:nvSpPr>
        <p:spPr>
          <a:xfrm>
            <a:off x="5989320" y="1417320"/>
            <a:ext cx="61200" cy="1350360"/>
          </a:xfrm>
          <a:prstGeom prst="rect">
            <a:avLst/>
          </a:prstGeom>
          <a:solidFill>
            <a:srgbClr val="7759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4" name="TextBox 12"/>
          <p:cNvSpPr/>
          <p:nvPr/>
        </p:nvSpPr>
        <p:spPr>
          <a:xfrm>
            <a:off x="6217920" y="1617840"/>
            <a:ext cx="4477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2. LLM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기반 장애 원인 추정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5" name="TextBox 13"/>
          <p:cNvSpPr/>
          <p:nvPr/>
        </p:nvSpPr>
        <p:spPr>
          <a:xfrm>
            <a:off x="6217920" y="1920240"/>
            <a:ext cx="44319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로그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Alert, Node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Service Timeout, Action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실패 결과를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LLM API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또는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Local LLM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과 연결해 원인 후보와 우선 점검 항목을 제안합니다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6" name="Rounded Rectangle 14"/>
          <p:cNvSpPr/>
          <p:nvPr/>
        </p:nvSpPr>
        <p:spPr>
          <a:xfrm>
            <a:off x="777240" y="3246120"/>
            <a:ext cx="5026320" cy="1350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3d7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7" name="Rectangle 15"/>
          <p:cNvSpPr/>
          <p:nvPr/>
        </p:nvSpPr>
        <p:spPr>
          <a:xfrm>
            <a:off x="777240" y="3246120"/>
            <a:ext cx="61200" cy="13503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8" name="TextBox 16"/>
          <p:cNvSpPr/>
          <p:nvPr/>
        </p:nvSpPr>
        <p:spPr>
          <a:xfrm>
            <a:off x="1005840" y="3446640"/>
            <a:ext cx="4477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3.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주요 통신 자동 선별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9" name="TextBox 17"/>
          <p:cNvSpPr/>
          <p:nvPr/>
        </p:nvSpPr>
        <p:spPr>
          <a:xfrm>
            <a:off x="1005840" y="3749040"/>
            <a:ext cx="44319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YAML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필터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Graph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관계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발생 빈도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의존도를 함께 분석해 우선 확인해야 할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Topic·Service·Action·Node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를 자동 선별합니다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0" name="Rounded Rectangle 18"/>
          <p:cNvSpPr/>
          <p:nvPr/>
        </p:nvSpPr>
        <p:spPr>
          <a:xfrm>
            <a:off x="5989320" y="3246120"/>
            <a:ext cx="5026320" cy="1350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c3d7e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1" name="Rectangle 19"/>
          <p:cNvSpPr/>
          <p:nvPr/>
        </p:nvSpPr>
        <p:spPr>
          <a:xfrm>
            <a:off x="5989320" y="3246120"/>
            <a:ext cx="61200" cy="1350360"/>
          </a:xfrm>
          <a:prstGeom prst="rect">
            <a:avLst/>
          </a:prstGeom>
          <a:solidFill>
            <a:srgbClr val="eb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2" name="TextBox 20"/>
          <p:cNvSpPr/>
          <p:nvPr/>
        </p:nvSpPr>
        <p:spPr>
          <a:xfrm>
            <a:off x="6217920" y="3446640"/>
            <a:ext cx="4477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4.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장비별 진단 프로파일 제공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3" name="TextBox 21"/>
          <p:cNvSpPr/>
          <p:nvPr/>
        </p:nvSpPr>
        <p:spPr>
          <a:xfrm>
            <a:off x="6217920" y="3749040"/>
            <a:ext cx="44319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로봇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·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센서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·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제어기 별 필수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Interface,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정상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Hz, Timeout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기준을 프로파일로 저장해 장비 연결 시 맞춤 점검 화면을 불러옵니다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4" name="Rounded Rectangle 22"/>
          <p:cNvSpPr/>
          <p:nvPr/>
        </p:nvSpPr>
        <p:spPr>
          <a:xfrm>
            <a:off x="777240" y="5559480"/>
            <a:ext cx="10512720" cy="618840"/>
          </a:xfrm>
          <a:prstGeom prst="roundRect">
            <a:avLst>
              <a:gd name="adj" fmla="val 12000"/>
            </a:avLst>
          </a:prstGeom>
          <a:solidFill>
            <a:srgbClr val="e5f8f6"/>
          </a:solidFill>
          <a:ln w="10160">
            <a:solidFill>
              <a:srgbClr val="78cdc3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5" name="TextBox 23"/>
          <p:cNvSpPr/>
          <p:nvPr/>
        </p:nvSpPr>
        <p:spPr>
          <a:xfrm>
            <a:off x="960120" y="5775120"/>
            <a:ext cx="101469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최종 목표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: ROS2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통신을 보여주는 대시보드를 넘어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,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현장에서 상태 확인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장애 분석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우선순위 판단까지 지원하는 지능형 진단 플랫폼으로 확장합니다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1106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2026-07-22T06:46:56Z</dcterms:created>
  <dc:creator>Walnut Exporter</dc:creator>
  <dc:description/>
  <dc:language>ko-KR</dc:language>
  <cp:lastModifiedBy/>
  <cp:lastPrinted>2026-07-29T15:54:40Z</cp:lastPrinted>
  <dcterms:modified xsi:type="dcterms:W3CDTF">2026-07-29T17:42:26Z</dcterms:modified>
  <cp:revision>55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